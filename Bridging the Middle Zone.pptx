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the part of a potential energy surface that hot molecules visit and our models handle worst: between bonded and separated. Plan: what goes on there (crossings, ionic structures, spin recoupling) and why it needs a multistate, diabatic-like description; the line of work from Truhlar and co-workers on diabatic states and learned matrices, ending in CDNN (learn a small matrix and diagonalise it), including how the network works; our own earlier single-surface ML work on hot Criegee intermediates and where it fell short; then the idea added here, building that matrix from physics (fragment states, valence-bond structures, charged and excited fragments) so the network only learns corrections. Tested on H3, H2O and a first look at CH2OO. Everything shown is reproducible with the diabml code base and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Energized species: chemically activated adducts (e.g. Criegee intermediates born from ozonolysis carry large excess energy), photoexcited molecules, products of radical-radical recombination. Their trajectories spend long stretches where bonds are partially formed. Equilibrium regions are easy to sample and fit; the separated limit is known exactly from fragment calculations. The middle zone, roughly 1.3 to 3 times an equilibrium bond length, is where electronic structure changes character: closed-shell to biradical, covalent to ionic, singlet-coupled to triplet-coupled. That is where a model must be most careful and where data are thinnest. The schematic is a three-structure model (Morse bound state, repulsive covalent state, Born-Mayer ion pair with -14.4/r Coulomb attraction) with couplings that decay exponentially; the adiabatic curves are its eigenvalues.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map of the work this talk builds on, all from Truhlar and co-workers (Minnesota). Mead and Truhlar (1982) showed that strictly diabatic states, with vanishing derivative coupling, do not exist in general for polyatomics; practical work uses quasidiabatic states that are smooth and keep their chemical character. The configuration-uniformity methods (fourfold way; DQ-Phi of Hoyer, Parker, Gagliardi and Truhlar 2016; the N/D method of Varga, Parker and Truhlar 2018) construct such states from multireference wavefunctions. Shu and Truhlar (2020) introduced diabatization by deep neural network (DDNN): a network outputs a diabatic matrix whose eigenvalues fit adiabatic energies, with diabatic restraints from prior physical knowledge; later papers added permutational restraints and permutation-invariant inputs (PM-DDNN) and applied this to many-state ozone and O + O2 surfaces. A parallel line developed dynamics methods that need only adiabatic energies and gradients (curvature-driven coherent switching with decay of mixing, Ehrenfest variants). CDNN (2025) drops the diabatic restraints: any matrix whose eigenvalues match (a compatible potential energy matrix) is enough for those dynamics methods. Our step: put physics back into the structure of the matrix itself, not into restraints, by building it from fragment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previous effort (Belinta Simiyu and Jonathan M. Smith, ACS Fall 2025 poster; slides and poster online at laserchemist.github.io/MD_MLPES/talk; MD_MLPES repository) built machine-learned single-surface potentials for CH2OO and methyl vinyl ketone oxide (MVKO). It worked near equilibrium: a kernel ridge surface for MVKO from 904 B3LYP/6-31G* frames (normal-mode displacements plus PSI4 MD at 300, 600 and 1000 K) reached 0.27 kcal/mol RMSE with analytic forces about 900 times faster than DFT; ML-MD ran at 0.5 fs from 300 to 2000 K; CASSCF delta-ML corrections near the four conformer minima were accurate to 0.06-0.65 kcal/mol in leave-one-out tests; harmonic dipole-derivative IR of MVKO matched the Chung and Lee (2021) step-scan FTIR bands within 5-20 cm-1, and CH2OO bands appeared at 803 and 1110 cm-1. It failed where this talk is aimed. At distorted geometries the single-reference DFT reference itself was off by 9 to 21 kcal/mol against NEVPT2. Adding adaptive 1000-2000 K frames gave imaginary modes; kernel models became too stiff (5-12 of the 30 harmonic frequencies above 5000 cm-1; sGDML up to 38,342 cm-1) and the sGDML trajectory dissociated, so it was retired; an equivariant MACE model removed the stiff modes but had 11 kcal/mol energy RMSE on the mixed set and one imaginary mode. Dipole autocorrelation IR was dominated by torsions, and the 2000 K spectrum did not reproduce experiment. The lesson: a single adiabatic surface fitted to single-reference data cannot represent the multistate character the molecule reaches when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Avoided crossing: for a diatomic, states of the same symmetry cannot cross (von Neumann-Wigner); the adiabatic states exchange character over a region whose width scales with the coupling, and the nonadiabatic coupling peaks there (Landau-Zener for the dynamics). Ionic-covalent crossings are the classic harpoon picture: with dE the energy of the ion pair above the covalent asymptote (IE of the donor minus EA of the acceptor), the Coulomb curve crosses at r* = 14.40/dE in Angstrom. Spin recoupling: breaking a singlet bond produces two doublet radicals whose spins must recouple; multireference character grows, and closed-shell single-reference methods fail qualitatively. In polyatomics, states of the same symmetry can cross along seams of conical intersections.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Adiabatic states diagonalise the electronic Hamiltonian at each geometry. Their nonadiabatic coupling vectors scale like 1/(E_j - E_i) and are singular at conical intersections, and the surfaces have cusps there. A diabatic representation trades this for a smooth Hamiltonian matrix whose off-diagonal elements are the couplings. Strictly diabatic states (zero derivative coupling) do not exist in general for more than a two-state, one-coordinate problem (Mead and Truhlar, J. Chem. Phys. 77, 6090, 1982), so in practice we use quasi-diabatic states: smooth, chemically interpretable, small residual coupling. Classic routes: configuration uniformity (the fourfold way and DQ-Phi of Truhlar and co-workers), property-based (dipole or charge), block diagonalisation. The right panel's orange curve is the ionic weight of the adiabatic ground state in this two-state model: it shows the character change that an adiabatic fit has to reproduce through a sharp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modes, each measured on H3 against FCI. (1) Descriptor: a SOAP-like Gaussian radial basis with a smooth cutoff, trained on equilibrium plus dissociated geometries only, turns a half-broken bond into channels it never saw; kernel ridge regression puts a spurious 104 kcal/mol well at the collinear saddle, whose exact barrier is +10.6 kcal/mol above H + H2 at this level. Monotone overlap or Morse-type descriptors interpolate this region well (1-6 kcal/mol). (2) Topology: fitting the two adiabatic states with independent outputs leaves roughly 300 meV of artificial gap at the conical intersection (Shu et al. 2025, Fig. 1b, reproduced here). (3) Symmetry: an unconstrained matrix model of the three distances changes by hundreds of meV to about 1 eV when two identical atoms are swapped, on geometries outside its training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calls Omega the compatible potential energy matrix (CPEM): any real symmetric matrix function with continuous derivatives whose eigenvalues are the adiabatic energies. A diabatic potential energy matrix is the special case smooth enough that its derivative couplings can be neglected; a CPEM need not be. The cost (their eq. 5) is the mean squared eigenvalue error plus an L2 penalty on the weights. They compare tridiagonal, pentadiagonal and dense CPEMs: all fit equally well (LiH MUEs 25-27 meV; O3 6-state MUEs 19.3-19.9 meV over 11,249 XMS-CASPT2 geometries), but the discovered matrices differ a lot, confirming that many matrices are compatible with the same energies. For H3 they also add a topology-attention term that rewards sign changes of the off-diagonal element (CTAN), nudging the CPEM toward diabatic behaviour. Practical motivation: curvature-driven surface hopping and related methods need only adiabatic energies and gradients, not NACs.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computer scientists: this is a plain multilayer perceptron regression model with an unusual output transformation. Inputs are internuclear distances (they are already invariant to rotation and translation; the paper notes permutationally invariant polynomials or equivariant graphs as alternatives). Hidden widths 256-128-64 are the paper's H3 choice (LiH 100-100, O3 1024-512-256-128-64). GELU (Hendrycks and Gimpel 2016) is used because the potential must be smooth: a ReLU network gives piecewise-linear energies and discontinuous forces, which molecular dynamics cannot tolerate. The output layer is linear with n(n+1)/2 units for a dense matrix; these fill the upper triangle of a symmetric matrix. The eigenvalue solver has no parameters; it is a fixed nonlinear map from matrices to sorted eigenvalues. Parameter count for 3-256-128-64-3: 1024 + 32896 + 8256 + 195 = 42,371. Training in the paper: Adam, 300 random restarts, keep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works numerically: for a symmetric matrix with eigenpairs (lambda_k, v_k), d lambda_k = v_k^T dOmega v_k. Autograd uses exactly this for eigvalsh. Gradients of eigenvectors involve sums over j of v_j v_j^T / (lambda_k - lambda_j), which blow up at degeneracies; training on eigenvalues only avoids them. At an exact degeneracy the individual eigenvalue gradients depend on an arbitrary basis of the degenerate subspace, but their sum is well defined and data rarely sit exactly on a seam. In diabml the 2x2 case uses the closed form (m +/- sqrt(d^2 + Omega_12^2 + eps)) with eps = 1e-12, which is smooth everywhere. Optimiser: Adam with a cosine learning-rate schedule; several random restarts; the restart and epoch with the lowest validation error are kept (early stopping by checkpoint). The L2 term is the paper's alpha_2 smoothness penalty. Data per geometry: n energies,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inductive bias of CDNN. A network that outputs E0 and E1 directly is a smooth function; near a conical intersection the true surfaces behave like |x|, which a smooth function can only approximate by rounding the tip, leaving a small artificial gap (or, if pushed, a double crossing). A smooth matrix whose eigenvalues are taken does not have this problem: the non-smoothness is supplied by the square root in the eigenvalue formula. Counting: the set of real symmetric 2x2 matrices with equal eigenvalues has codimension 2, so in a space of N internal coordinates degeneracies of states of the same symmetry form (N-2)-dimensional seams: points in 2D cuts like the paper's H3 example, lines in 3D. For a diatomic (one coordinate) same-symmetry states generically avoid each other: the noncrossing rule. The network still has to learn where both conditions hold simultaneously; it gets the local |x|-shaped topology of the conical intersection for free, not its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slides/make_figures.py (h3_results.json): mean over two random splits at each training size. Relabelling error = mean absolute change of both energies under the five non-trivial permutations of (r12, r13, r23), on test geometries. Equilateral gap = mean E1 - E0 over nine D3h geometries of the global set, where FCI gives exactly zero. Training recipe shared by all models: inputs standardised; Adam with a cosine learning-rate schedule; 3000 steps; two random restarts; checkpoint with the lowest validation MAE kept. Framed models get one extra trick that matters a lot: the last layer of every correction network is initialised to zero, so at step 0 the model is exactly the physics prior and gradient descent learns a residual (the same idea as residual networks and as delta-learning in quantum chemistry). Augmentation multiplies the training set by the group order (6 for three identical atoms; it grows factorially with more identical atoms, which is why construction scales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added to CDNN here. The frame decides which structures span the matrix (how many, and what they are), how its elements behave under symmetry, and its dissociation limits; small networks learn named corrections (slots) inside it. Historical lineage: valence-bond theory, London 1929; LEPS (Sato 1955); diatomics-in-molecules (Ellison 1963), which builds the polyatomic Hamiltonian from diatomic fragment Hamiltonians; empirical valence bond (Warshel and Weiss 1980) and its machine-learned variants. Closely related ML work: Yin, Braams, Fu and Zhang (JCTC 2021) used a valence-bond model to derive how quasidiabatic matrix elements of H3+ transform, and fed symmetry-adapted networks; Allen and Csanyi (JCP 2024) predict EVB parameters from reaction SMILES. Envelope choice matters (see CH2OO): use something that decays like orbital overlap, and network inputs that saturate at long range, so the network cannot extrapolate wildly beyond its data. In diabml a frame is a class with prepare() and assemble(); FramedModel attaches a zero-initialised MLP to each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undergraduate's route into the next slide. In 1927 Heitler and London explained the H2 bond: two electrons on two protons give a low-energy singlet (spins paired, the bond) and a repulsive triplet (spins parallel, no bond). They wrote the two energies as Q + J and Q - J, where Q is the classical electrostatic energy of the two atoms' charge clouds and J the exchange energy, a purely quantum term that appears because electrons are indistinguishable and can swap places. In 1929 London asked what happens when a third H atom approaches: H + H2 to H2 + H. With three electrons only one pair can bond at a time, so the system is described by two bonding pictures, H(a)-H(b) with H(c) loose, and H(a) loose with H(b)-H(c), which mix. Treating each pair of atoms as if it were an H2 molecule gives the formula on the slide (the London equation). Two checks students can do: (1) with atom c far away, J_bc = J_ac = 0 and the square root is |J_ab|, so E = Q_ab + J_ab (J is negative for a bond), the H2 energy; (2) at the symmetric halfway point, J_ab = J_bc, each bond is only half-formed and the energy is higher than at the start: the activation barrier. Eyring and Polanyi (1931) used this formula with partly empirical Q and J to draw the first potential energy surface for a chemical reaction, which led to transition-state theory. The square root is the lower eigenvalue of a 2 x 2 matrix of the two bonding pictures: the subject of the next slide and the reason this 1929 idea is a physics frame for a learned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London equation (London 1929; Eyring and Polanyi 1931) is the lower eigenvalue of this 2x2 matrix in the basis of the two covalent valence-bond structures of three one-electron atoms; the upper eigenvalue is a prediction for the first excited doublet. a and b are the components of the E representation of D3h formed from the three exchange terms, which is why the degeneracy at D3h is exact and why the eigenvalues are permutation invariant (permutations rotate or reflect the (a, b) vector, preserving its length). LEPS (Sato 1955) adds a parameter that mixes singlet and triplet curves. A detail we found while building the frame: classic LEPS applies the Sato parameter everywhere, which keeps the ground-state H2 + H limit exact but scales the triplet curve by (1-d)/(1+d), so the excited state's H2 + H limit is wrong. In diabml the learned Sato function is multiplied by a third-atom proximity factor, so both limits stay exact; a pytest checks this with random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random splits per size; bars show the range. Window: every H-H distance at least 0.6 Angstrom and ground state within 5.4 eV of three free atoms (499 FCI geometries; 60 held out for validation). Framed CDNN ground state 1.73, 1.11, 1.0 kcal/mol at 25, 100, 200 points; excited state 6.2, 5.4, 5.0. Plain CDNN 4.9 at 100 and 3.7 at 200; with permutation augmentation 2.0 and 2.1 at 200. The excited-state plateau is diagnostic, not a failure of learning: the worst points are compressed collinear geometries where S1 lies 3.5 to 7 eV above three atoms and is dominated by configurations outside the two covalent structures (ionic H+H-H-type and Rydberg-like character). The frame cannot represent them without more structures, the same lesson water teaches next. For comparison with the earlier exploratory work at the same level: the 6-parameter LEPS Sato(r) model reached 1.8 kcal/mol for the ground state from 20 points and 1.0 from 80; the framed CDNN matches that and adds the excited state and an exact intersection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plain-language version of the next slide. The ladder keeps the nuclei the same and adds electrons one at a time, so each step switches on one new piece of physics. Rung 1, H3(2+): a single electron spread over three protons; the only physics is hopping (resonance), and sharing the electron lowers the energy, the simplest kind of chemical bond. Rung 2, H3+: two electrons, which repel each other (what chemists call electron correlation) and pair their spins into a three-centre two-electron bond, the bonding in the H3+ ion found in interstellar space. Rung 3, H3: three electrons; spins must pair, so only one ordinary bond can exist at a time, which is exactly the London picture of the previous slides. The experiment: learn the hopping and repulsion parameters on rungs 1 and 2 (plus H2+ and H2), then predict H3 with no H3 data. It came out 12.6 kcal/mol off, and adding more lower-rung data made it worse, because three-electron spin pairing depends on combinations of those parameters that one- and two-electron systems never test. Using whole fragment states instead, the exact H2 bonded (singlet) and non-bonded (triplet) energies, already contains all of that physics and gave 5.5 kcal/mol with no H3 data. For heavier molecules the ladder turns into a practical list: compute the neutral fragments, their cations and anions (for ionic structures like the CH2OO zwitterion, which separates to CH2O+ and O-) and their excited and spin states (O(1D) versus O(3P), triplet CH2O for the biradical). Those numbers fix where each structure sits when the molecule comes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experiment: one orthogonal site orbital per H, an extended Hubbard / DIM-like Hamiltonian whose two-centre functions (hopping, site energies, inter-site Coulomb, exchange, bond-charge terms) are linear combinations of Slater overlaps, with exact asymptotes. Rungs: H2+ and H3(2+) (one electron: hopping), H2 singlet and triplet (two electrons on two centres), H3+ (two electrons on three centres), then H3 (three electrons) predicted with no H3 data. Each rung fits to a few kcal/mol, yet H3 comes out at 12.6 kcal/mol, and adding more lower-rung states (H3+ triplet, H3(2+) excited) made it worse (25.1): the three-electron spin recoupling depends on combinations of terms that one- and two-electron data cannot separate. The functional form itself is fine: one parameter set fitted to all rungs plus H3 gives 2.9. London, built from exact H2 singlet and triplet energies with orbital relaxation and correlation already inside them, reaches 5.5 with no H3 data. Lesson: transfer fragment-state energies, not orbital integrals. Recast for heavier atoms: compute the ladder of charged and excited fragment states (cations, anions, triplets, excited terms) because those are the structures and asymptotes a frame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Covalent diatomics-in-molecules (Ellison 1963 applied DIM to water first): the basis is all O(2p^4) determinants times the spins of the two H atoms (60 states, 9 total singlets). Each OH state projector is built from three quantum numbers: O term (3P, 1D, 1S), |Lambda| along the bond and the O-H pair spin; H_DIM = H_OHa + H_OHb + H_HH - H_O - 2 H_H. It reproduces H + OH exactly and dissociation to O + 2H, but for every angle above about 60 degrees it equals bond additivity: with only O 2p orbitals, the two-hole configurations give an X2Pi bond along any in-plane direction. Earlier DIM work on water reached the same practical conclusion: O-H+ ionic structures and multicentre charge corrections are required. Learning: mixing OH states of different O terms (a fragment-level correction) barely helps, because the missing physics is outside the covalent space. A dense 9 x 9 correction inside the DIM frame, switched off when either H leaves, gets 1.5 kcal/mol from 80 points; kernel ridge on the same overlap features needs the same data to reach 5.1 and is at 32 with 40 points. The planned fix is an ionic DIM frame: O- + H+ structures, with OH- and H2+ fragment curves supplying their energies.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fragment-channel frame (diabml.frames.ChannelFrame) lists structures by the fragment states they dissociate to. For planar CH2OO breaking its O-O bond on singlet A' surfaces: O(1D) has three A' components (all degenerate at infinity: the three lowest asymptotes in our CASSCF data agree within 0.01 eV); the biradical channel is CH2O in its lowest triplet plus O(3P), singlet-coupled (the fourth state, +1.17 eV at 8 Angstrom); and the zwitterion H2C=O+-O- correlates diabatically with CH2O+ + O-. Its asymptote uses the ladder quantities: IE(CH2O) 10.88 eV, EA(O) 1.461 eV, O 1D-3P 1.967 eV (experimental values shown; diabml.refs.ladder computes IE and EA by delta-CCSD(T)/aug-cc-pVTZ; the term splitting is multireference and taken from experiment). Coulomb crossing radius r* = 14.40/7.45 = 1.93 Angstrom. The frame guarantees each diagonal element approaches its asymptote plus tail, and couplings vanish, for any weights. Charge-separation diabatisation of CH2OO (Samanta, Beames, Lester and Subotnik 2014) is the natural check on whether the learned ionic structure means what its label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space (8 electrons in 6 orbitals): the three pi orbitals of C-O-O, the O-O sigma and sigma-star, and the in-plane lone pair of the terminal O, enough to describe O-O cleavage to CH2O + O(1D) and the biradical channel. State-averaged over four roots, singlets enforced, Cs symmetry. Grid: r(O-O) 1.20 to 8.0 Angstrom (20 values) times angle C-O-O 65 to 155 degrees (6 values), CH2O held rigid. The scan driver visits geometries in nearest-neighbour order and starts each calculation from the projected orbitals of the closest finished point; all 120 converged with a consistent active space. Diagnostics per state from its own density: Mulliken charge on the terminal O (charge separation, a zwitterion proxy) and effective unpaired electrons sum min(n, 2-n) over natural occupations (biradical character). The jumps in S2 and S3 at short range are root reorderings. Quantitative CH2OO energetics need dynamic correlation (XMS-CASPT2, MRCI) and relaxed geometries; the binding here is far too weak, which is acceptable for testing whether a model handles the multistate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realistic data situation: trajectories or sampling rarely reach full dissociation, so the long-range part of the surface is underrepresented. Both models get the same data: geometries with r(O-O) up to 2.3 Angstrom at all six C-O-O angles, 80 percent for training and 20 percent for validation, three random draws. The frame knows the asymptotes (from the large-r CASSCF states and the ladder), the Coulomb tail of the ion pair, and that all corrections and couplings must die off; the network learns only the short-range shape. A lesson from building it: the first version used a smooth switch that stayed near 1 out to 3 Angstrom, and the network extrapolated freely between 2.3 Angstrom and the switch. Replacing it with an orbital-overlap envelope and network inputs that saturate at long range (overlaps of r rather than r itself) fixed it: the same descriptor lesson as the first exploratory notebook. When the training data cover the full range (random split over all 120 points) the framed model reaches 1.6-4.2 kcal/mol test RMSE.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hypothesis, not a result. The framed model (trained on a random 90-point split, all r) has diagonal elements that follow the adiabatic states closely: the ionic structure carries the ground state at short range and crosses the covalent structures near 2.2 Angstrom, where the computed ground-state charge on the terminal O is also vanishing (slide 21). That is chemically sensible: the zwitterionic resonance form dominates the Criegee intermediate's ground state near equilibrium. But the off-diagonal couplings came out small, so the model's ground state is close to 100 percent ionic at equilibrium, while the CASSCF charge (-0.27 e) and 0.6 unpaired electrons say it is a mixture. This is exactly the CDNN point: many compatible matrices give the same eigenvalues, and energies alone do not select the diabatic one. The fix is information beyond energies: a restraint linking the ionic population of each eigenvector to the computed charge separation (in the spirit of Shu and Truhlar's DDNN diabatic restraints, and Samanta et al.'s charge-separation diabatisation of CH2OO). diabml already stores per-state charges and unpaired-electron counts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of the code base (Python; NumPy, SciPy, PyTorch, Matplotlib; PySCF only to make new reference data). refs: FCI for small systems, frozen-core FCI with symmetry labelling for OH states, an SA-CASSCF scan driver with orbital continuity and per-state charge and unpaired-electron diagnostics, and ladder fragment calculations (delta-CCSD(T) IE and EA). RefSet: coordinates, multistate energies, diagnostics and metadata in one .npz, so notebooks need no quantum chemistry installed. frames: the Frame interface plus LondonFrame, DIMWaterFrame and ChannelFrame. models: CDNN as in the paper, the independent-surface control, FramedModel (zero-initialised slot networks), kernel ridge, one shared training loop with restarts and validation checkpointing, and permutation augmentation. Notebooks: 01 H3 (London frame vs CDNN, symmetry metrics, interactive cut explorer), 02 H2O (DIM frame, learning curves), 03 CH2OO (state character, ladder anchors, interpolation and extrapolation tests, learned structures). A pytest suite (11 tests) checks the frames' guarantees with randomly initialised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Priorities, roughly in order of cost. (1) Ionic DIM for water is the decisive test of the claim that the frame's structures, not more data, are what water was missing; it needs OH- states and the H2+ curve at the same level, the electron ladder in fragment form. (2) Diabatic restraints: add a loss term tying the ionic population of eigenvectors to computed charge separation (the per-state diagnostics already stored by the CASSCF driver), the DDNN idea of Shu and Truhlar (2020). (3) CH2OO in more coordinates; the channel frame only needs the O-O distance for its envelope, so other coordinates enter as network inputs. (4) O3: the paper's 11,249-geometry six-state XMS-CASPT2 data set is the natural benchmark for a fragment frame built from O2 states plus O(3P/1D). (5) Dynamics: curvature-driven coherent switching and trajectory surface hopping (Shu et al. 2022) need adiabatic energies and gradients only; a matrix model supplies both, with correct crossing topology; this also returns to the hot-Criegee MD and IR goals of the earlier work. (6) Scaling argument: the cost is set by local evaluation of matrix elements (roughly linear in atoms) and by diagonalising a small or block-sparse matrix of chemically relevant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CDNN (Shu et al. 2025) solves the topology problem of fitting coupled surfaces: a smooth learned matrix, diagonalised, has the right conical intersections and avoided crossings, and needs only energies. A physics frame solves what a generic network cannot guarantee: which structures span the matrix, how its elements transform, and its limits; zero-initialised corrections then learn only what the physics misses. H3: ground-state accuracy near 1 kcal/mol from tens of points with exact symmetry. H2O: a covalent frame is not enough; a learned correction inside it reaches 1.5 kcal/mol from 80 points, and the missing ionic structures say what to add. CH2OO: a minimal frame from fragment and ladder data turns extrapolation errors of hundreds of kcal/mol into a few. The open problem is making the learned matrix diabatic, which needs information beyond energies.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of work summarised on slide 3. For students the 2022 J. Phys. Chem. A review is the most accessible entry to diabatic states and why they matter for photochemistry; Mead and Truhlar 1982 is the classic argument that strictly diabatic states do not exist in general. Author lists are as given in the CDNN paper's reference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valence-bond and surface-crossing physics on the left; machine-learning context on the right. Behler-Parrinello is the origin of atom-centred neural-network potentials; NequIP and MACE are the current equivariant message-passing standard for single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Criegee background: Welz et al. made the first direct kinetic measurements of CH2OO; Beames et al. measured its strong UV absorption, which dissociates the O-O bond; Samanta et al. built quasi-diabatic states for that photodissociation by maximising charge separation, the natural comparison for the learned zwitterion structure here; Lester and Klippenstein review how energized Criegee intermediates decay to OH. Chung and Lee provide the MVKO infrared spectrum used to test the earlier ML surfaces. All reference calculations in this talk used PySCF.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0"/>
        </a:solidFill>
      </p:bgPr>
    </p:bg>
    <p:spTree>
      <p:nvGrpSpPr>
        <p:cNvPr id="1" name=""/>
        <p:cNvGrpSpPr/>
        <p:nvPr/>
      </p:nvGrpSpPr>
      <p:grpSpPr>
        <a:xfrm>
          <a:off x="0" y="0"/>
          <a:ext cx="0" cy="0"/>
          <a:chOff x="0" y="0"/>
          <a:chExt cx="0" cy="0"/>
        </a:xfrm>
      </p:grpSpPr>
      <p:sp>
        <p:nvSpPr>
          <p:cNvPr id="2" name="Title Placeholder 1"/>
          <p:cNvSpPr/>
          <p:nvPr>
            <p:ph type="title"/>
          </p:nvPr>
        </p:nvSpPr>
        <p:spPr>
          <a:xfrm>
            <a:off x="457200" y="467320"/>
            <a:ext cx="11277600" cy="377180"/>
          </a:xfrm>
          <a:prstGeom prst="rect">
            <a:avLst/>
          </a:prstGeom>
          <a:noFill/>
          <a:ln/>
        </p:spPr>
        <p:txBody>
          <a:bodyPr wrap="square" lIns="0" tIns="0" rIns="0" bIns="0" rtlCol="0" anchor="t"/>
          <a:lstStyle>
            <a:lvl1pPr algn="l" indent="0" marL="0">
              <a:lnSpc>
                <a:spcPct val="115000"/>
              </a:lnSpc>
              <a:buNone/>
              <a:defRPr lang="en-US" sz="2700" dirty="0">
                <a:solidFill>
                  <a:srgbClr val="2E2A36"/>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700" dirty="0"/>
          </a:p>
        </p:txBody>
      </p:sp>
      <p:sp>
        <p:nvSpPr>
          <p:cNvPr id="3" name="Text Placeholder 2"/>
          <p:cNvSpPr/>
          <p:nvPr>
            <p:ph idx="101" type="body"/>
          </p:nvPr>
        </p:nvSpPr>
        <p:spPr>
          <a:xfrm>
            <a:off x="457200" y="1149300"/>
            <a:ext cx="10922000" cy="4895900"/>
          </a:xfrm>
          <a:prstGeom prst="rect">
            <a:avLst/>
          </a:prstGeom>
          <a:noFill/>
          <a:ln/>
        </p:spPr>
        <p:txBody>
          <a:bodyPr wrap="square" lIns="0" tIns="0" rIns="0" bIns="0" rtlCol="0" anchor="t"/>
          <a:lstStyle>
            <a:lvl1pPr algn="l" indent="0" marL="0">
              <a:lnSpc>
                <a:spcPct val="140000"/>
              </a:lnSpc>
              <a:buNone/>
              <a:defRPr lang="en-US" sz="1600" dirty="0">
                <a:solidFill>
                  <a:srgbClr val="2E2A36"/>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F0"/>
        </a:solidFill>
      </p:bgPr>
    </p:bg>
    <p:spTree>
      <p:nvGrpSpPr>
        <p:cNvPr id="1" name=""/>
        <p:cNvGrpSpPr/>
        <p:nvPr/>
      </p:nvGrpSpPr>
      <p:grpSpPr>
        <a:xfrm>
          <a:off x="0" y="0"/>
          <a:ext cx="0" cy="0"/>
          <a:chOff x="0" y="0"/>
          <a:chExt cx="0" cy="0"/>
        </a:xfrm>
      </p:grpSpPr>
      <p:sp>
        <p:nvSpPr>
          <p:cNvPr id="2" name="Title Placeholder 1"/>
          <p:cNvSpPr/>
          <p:nvPr>
            <p:ph type="title"/>
          </p:nvPr>
        </p:nvSpPr>
        <p:spPr>
          <a:xfrm>
            <a:off x="457200" y="467320"/>
            <a:ext cx="11277600" cy="377180"/>
          </a:xfrm>
          <a:prstGeom prst="rect">
            <a:avLst/>
          </a:prstGeom>
          <a:noFill/>
          <a:ln/>
        </p:spPr>
        <p:txBody>
          <a:bodyPr wrap="square" lIns="0" tIns="0" rIns="0" bIns="0" rtlCol="0" anchor="t"/>
          <a:lstStyle>
            <a:lvl1pPr algn="l" indent="0" marL="0">
              <a:lnSpc>
                <a:spcPct val="115000"/>
              </a:lnSpc>
              <a:buNone/>
              <a:defRPr lang="en-US" sz="2700" dirty="0">
                <a:solidFill>
                  <a:srgbClr val="2E2A36"/>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700" dirty="0"/>
          </a:p>
        </p:txBody>
      </p:sp>
      <p:sp>
        <p:nvSpPr>
          <p:cNvPr id="3" name="Text Placeholder 2"/>
          <p:cNvSpPr/>
          <p:nvPr>
            <p:ph idx="101" type="body"/>
          </p:nvPr>
        </p:nvSpPr>
        <p:spPr>
          <a:xfrm>
            <a:off x="457200" y="1149300"/>
            <a:ext cx="10922000" cy="4895900"/>
          </a:xfrm>
          <a:prstGeom prst="rect">
            <a:avLst/>
          </a:prstGeom>
          <a:noFill/>
          <a:ln/>
        </p:spPr>
        <p:txBody>
          <a:bodyPr wrap="square" lIns="0" tIns="0" rIns="0" bIns="0" rtlCol="0" anchor="t"/>
          <a:lstStyle>
            <a:lvl1pPr algn="l" indent="0" marL="0">
              <a:lnSpc>
                <a:spcPct val="140000"/>
              </a:lnSpc>
              <a:buNone/>
              <a:defRPr lang="en-US" sz="1600" dirty="0">
                <a:solidFill>
                  <a:srgbClr val="2E2A36"/>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laserchemist.github.io/MD_MLPES/talk/" TargetMode="External"/><Relationship Id="rId4" Type="http://schemas.openxmlformats.org/officeDocument/2006/relationships/hyperlink" Target="https://laserchemist.github.io/MD_MLPES/talk/assets/acs2025_poster.jpg" TargetMode="External"/><Relationship Id="rId5" Type="http://schemas.openxmlformats.org/officeDocument/2006/relationships/hyperlink" Target="https://laserchemist.github.io/MD_MLPES/talk/assets/Simiyu_Smith_ACS_Fall2025_poster.pdf" TargetMode="External"/><Relationship Id="rId1" Type="http://schemas.openxmlformats.org/officeDocument/2006/relationships/image" Target="../media/image-4-1.png"/><Relationship Id="rId2" Type="http://schemas.openxmlformats.org/officeDocument/2006/relationships/image" Target="../media/image-4-2.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laserchemist.github.io/MD_MLPES/talk/"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3321546"/>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3302496"/>
            <a:ext cx="12192000" cy="0"/>
          </a:xfrm>
          <a:prstGeom prst="line">
            <a:avLst/>
          </a:prstGeom>
          <a:noFill/>
          <a:ln w="38100">
            <a:solidFill>
              <a:srgbClr val="C8873A"/>
            </a:solidFill>
            <a:prstDash val="solid"/>
          </a:ln>
        </p:spPr>
      </p:sp>
      <p:sp>
        <p:nvSpPr>
          <p:cNvPr id="4" name="Text 2"/>
          <p:cNvSpPr/>
          <p:nvPr/>
        </p:nvSpPr>
        <p:spPr>
          <a:xfrm>
            <a:off x="609600" y="533400"/>
            <a:ext cx="11301984"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9B872"/>
                </a:solidFill>
                <a:latin typeface="Source Sans 3" pitchFamily="34" charset="0"/>
                <a:ea typeface="Source Sans 3" pitchFamily="34" charset="-122"/>
                <a:cs typeface="Source Sans 3" pitchFamily="34" charset="-120"/>
              </a:rPr>
              <a:t>COUPLED POTENTIAL ENERGY SURFACES · MACHINE LEARNING</a:t>
            </a:r>
            <a:endParaRPr lang="en-US" sz="1300" dirty="0"/>
          </a:p>
        </p:txBody>
      </p:sp>
      <p:sp>
        <p:nvSpPr>
          <p:cNvPr id="5" name="Text 3"/>
          <p:cNvSpPr/>
          <p:nvPr>
            <p:ph type="title"/>
          </p:nvPr>
        </p:nvSpPr>
        <p:spPr>
          <a:xfrm>
            <a:off x="609600" y="878830"/>
            <a:ext cx="11301984" cy="161786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FFFFF"/>
                </a:solidFill>
                <a:latin typeface="Source Serif 4" pitchFamily="18" charset="0"/>
                <a:ea typeface="Source Serif 4" pitchFamily="18" charset="-122"/>
                <a:cs typeface="Source Serif 4" pitchFamily="18" charset="-120"/>
              </a:rPr>
              <a:t>Bridging the middle zone: physics-framed matrices for coupled states of energized molecules</a:t>
            </a:r>
            <a:endParaRPr lang="en-US" sz="3800" dirty="0"/>
          </a:p>
        </p:txBody>
      </p:sp>
      <p:sp>
        <p:nvSpPr>
          <p:cNvPr id="6" name="Text 4"/>
          <p:cNvSpPr/>
          <p:nvPr/>
        </p:nvSpPr>
        <p:spPr>
          <a:xfrm>
            <a:off x="609600" y="2585591"/>
            <a:ext cx="11301984"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DCD3E8"/>
                </a:solidFill>
                <a:latin typeface="Source Sans 3" pitchFamily="34" charset="0"/>
                <a:ea typeface="Source Sans 3" pitchFamily="34" charset="-122"/>
                <a:cs typeface="Source Sans 3" pitchFamily="34" charset="-120"/>
              </a:rPr>
              <a:t>From H₃ and water toward the Criegee intermediate CH₂OO</a:t>
            </a:r>
            <a:endParaRPr lang="en-US" sz="1700" dirty="0"/>
          </a:p>
        </p:txBody>
      </p:sp>
      <p:sp>
        <p:nvSpPr>
          <p:cNvPr id="7" name="Text 5"/>
          <p:cNvSpPr/>
          <p:nvPr/>
        </p:nvSpPr>
        <p:spPr>
          <a:xfrm>
            <a:off x="609600" y="3626346"/>
            <a:ext cx="11301984" cy="295523"/>
          </a:xfrm>
          <a:prstGeom prst="rect">
            <a:avLst/>
          </a:prstGeom>
          <a:noFill/>
          <a:ln/>
        </p:spPr>
        <p:txBody>
          <a:bodyPr wrap="square" lIns="0" tIns="0" rIns="0" bIns="0" rtlCol="0" anchor="t">
            <a:normAutofit/>
          </a:bodyPr>
          <a:lstStyle/>
          <a:p>
            <a:pPr algn="l" indent="0" marL="0">
              <a:lnSpc>
                <a:spcPts val="2174"/>
              </a:lnSpc>
              <a:buNone/>
            </a:pPr>
            <a:r>
              <a:rPr lang="en-US" sz="1553" b="1" dirty="0">
                <a:solidFill>
                  <a:srgbClr val="2E2A36"/>
                </a:solidFill>
                <a:latin typeface="Source Sans 3" pitchFamily="34" charset="0"/>
                <a:ea typeface="Source Sans 3" pitchFamily="34" charset="-122"/>
                <a:cs typeface="Source Sans 3" pitchFamily="34" charset="-120"/>
              </a:rPr>
              <a:t>Jonathan M. Smith</a:t>
            </a:r>
            <a:r>
              <a:rPr lang="en-US" sz="1553" dirty="0">
                <a:solidFill>
                  <a:srgbClr val="2E2A36"/>
                </a:solidFill>
                <a:latin typeface="Source Sans 3" pitchFamily="34" charset="0"/>
                <a:ea typeface="Source Sans 3" pitchFamily="34" charset="-122"/>
                <a:cs typeface="Source Sans 3" pitchFamily="34" charset="-120"/>
              </a:rPr>
              <a:t>, Temple University</a:t>
            </a:r>
            <a:endParaRPr lang="en-US" sz="1553" dirty="0"/>
          </a:p>
        </p:txBody>
      </p:sp>
      <p:sp>
        <p:nvSpPr>
          <p:cNvPr id="8" name="Shape 6"/>
          <p:cNvSpPr/>
          <p:nvPr/>
        </p:nvSpPr>
        <p:spPr>
          <a:xfrm>
            <a:off x="612775" y="4102844"/>
            <a:ext cx="1491109" cy="697161"/>
          </a:xfrm>
          <a:prstGeom prst="roundRect">
            <a:avLst>
              <a:gd name="adj" fmla="val 5010"/>
            </a:avLst>
          </a:prstGeom>
          <a:solidFill>
            <a:srgbClr val="FBFAF7"/>
          </a:solidFill>
          <a:ln w="6350">
            <a:solidFill>
              <a:srgbClr val="DAD3C8"/>
            </a:solidFill>
            <a:prstDash val="solid"/>
          </a:ln>
        </p:spPr>
      </p:sp>
      <p:sp>
        <p:nvSpPr>
          <p:cNvPr id="9" name="Text 7"/>
          <p:cNvSpPr/>
          <p:nvPr/>
        </p:nvSpPr>
        <p:spPr>
          <a:xfrm>
            <a:off x="755650" y="4207619"/>
            <a:ext cx="12561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F1F"/>
                </a:solidFill>
                <a:latin typeface="Source Sans 3" pitchFamily="34" charset="0"/>
                <a:ea typeface="Source Sans 3" pitchFamily="34" charset="-122"/>
                <a:cs typeface="Source Sans 3" pitchFamily="34" charset="-120"/>
              </a:rPr>
              <a:t>SYSTEMS</a:t>
            </a:r>
            <a:endParaRPr lang="en-US" sz="1200" dirty="0"/>
          </a:p>
        </p:txBody>
      </p:sp>
      <p:sp>
        <p:nvSpPr>
          <p:cNvPr id="10" name="Text 8"/>
          <p:cNvSpPr/>
          <p:nvPr/>
        </p:nvSpPr>
        <p:spPr>
          <a:xfrm>
            <a:off x="755650" y="4446339"/>
            <a:ext cx="134505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H₃ · H₂O · CH₂OO</a:t>
            </a:r>
            <a:endParaRPr lang="en-US" sz="1400" dirty="0"/>
          </a:p>
        </p:txBody>
      </p:sp>
      <p:sp>
        <p:nvSpPr>
          <p:cNvPr id="11" name="Shape 9"/>
          <p:cNvSpPr/>
          <p:nvPr/>
        </p:nvSpPr>
        <p:spPr>
          <a:xfrm>
            <a:off x="2237234" y="4102844"/>
            <a:ext cx="1598811" cy="697161"/>
          </a:xfrm>
          <a:prstGeom prst="roundRect">
            <a:avLst>
              <a:gd name="adj" fmla="val 5010"/>
            </a:avLst>
          </a:prstGeom>
          <a:solidFill>
            <a:srgbClr val="FBFAF7"/>
          </a:solidFill>
          <a:ln w="6350">
            <a:solidFill>
              <a:srgbClr val="DAD3C8"/>
            </a:solidFill>
            <a:prstDash val="solid"/>
          </a:ln>
        </p:spPr>
      </p:sp>
      <p:sp>
        <p:nvSpPr>
          <p:cNvPr id="12" name="Text 10"/>
          <p:cNvSpPr/>
          <p:nvPr/>
        </p:nvSpPr>
        <p:spPr>
          <a:xfrm>
            <a:off x="2380109" y="4207619"/>
            <a:ext cx="145276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F1F"/>
                </a:solidFill>
                <a:latin typeface="Source Sans 3" pitchFamily="34" charset="0"/>
                <a:ea typeface="Source Sans 3" pitchFamily="34" charset="-122"/>
                <a:cs typeface="Source Sans 3" pitchFamily="34" charset="-120"/>
              </a:rPr>
              <a:t>REFERENCE DATA</a:t>
            </a:r>
            <a:endParaRPr lang="en-US" sz="1200" dirty="0"/>
          </a:p>
        </p:txBody>
      </p:sp>
      <p:sp>
        <p:nvSpPr>
          <p:cNvPr id="13" name="Text 11"/>
          <p:cNvSpPr/>
          <p:nvPr/>
        </p:nvSpPr>
        <p:spPr>
          <a:xfrm>
            <a:off x="2380109" y="4446339"/>
            <a:ext cx="136386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FCI · SA-CASSCF</a:t>
            </a:r>
            <a:endParaRPr lang="en-US" sz="1400" dirty="0"/>
          </a:p>
        </p:txBody>
      </p:sp>
      <p:sp>
        <p:nvSpPr>
          <p:cNvPr id="14" name="Shape 12"/>
          <p:cNvSpPr/>
          <p:nvPr/>
        </p:nvSpPr>
        <p:spPr>
          <a:xfrm>
            <a:off x="3969395" y="4102844"/>
            <a:ext cx="2164407" cy="697161"/>
          </a:xfrm>
          <a:prstGeom prst="roundRect">
            <a:avLst>
              <a:gd name="adj" fmla="val 5010"/>
            </a:avLst>
          </a:prstGeom>
          <a:solidFill>
            <a:srgbClr val="FBFAF7"/>
          </a:solidFill>
          <a:ln w="6350">
            <a:solidFill>
              <a:srgbClr val="DAD3C8"/>
            </a:solidFill>
            <a:prstDash val="solid"/>
          </a:ln>
        </p:spPr>
      </p:sp>
      <p:sp>
        <p:nvSpPr>
          <p:cNvPr id="15" name="Text 13"/>
          <p:cNvSpPr/>
          <p:nvPr/>
        </p:nvSpPr>
        <p:spPr>
          <a:xfrm>
            <a:off x="4112270" y="4207619"/>
            <a:ext cx="193501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5F1F"/>
                </a:solidFill>
                <a:latin typeface="Source Sans 3" pitchFamily="34" charset="0"/>
                <a:ea typeface="Source Sans 3" pitchFamily="34" charset="-122"/>
                <a:cs typeface="Source Sans 3" pitchFamily="34" charset="-120"/>
              </a:rPr>
              <a:t>CODE</a:t>
            </a:r>
            <a:endParaRPr lang="en-US" sz="1200" dirty="0"/>
          </a:p>
        </p:txBody>
      </p:sp>
      <p:sp>
        <p:nvSpPr>
          <p:cNvPr id="16" name="Text 14"/>
          <p:cNvSpPr/>
          <p:nvPr/>
        </p:nvSpPr>
        <p:spPr>
          <a:xfrm>
            <a:off x="4112270" y="4446339"/>
            <a:ext cx="20183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diabml (Python, PyTorch)</a:t>
            </a:r>
            <a:endParaRPr lang="en-US" sz="1400" dirty="0"/>
          </a:p>
        </p:txBody>
      </p:sp>
      <p:sp>
        <p:nvSpPr>
          <p:cNvPr id="17" name="Shape 15"/>
          <p:cNvSpPr/>
          <p:nvPr/>
        </p:nvSpPr>
        <p:spPr>
          <a:xfrm>
            <a:off x="609600" y="4900017"/>
            <a:ext cx="10972800" cy="0"/>
          </a:xfrm>
          <a:prstGeom prst="line">
            <a:avLst/>
          </a:prstGeom>
          <a:noFill/>
          <a:ln w="6350">
            <a:solidFill>
              <a:srgbClr val="DAD3C8"/>
            </a:solidFill>
            <a:prstDash val="solid"/>
          </a:ln>
        </p:spPr>
      </p:sp>
      <p:sp>
        <p:nvSpPr>
          <p:cNvPr id="18" name="Text 16"/>
          <p:cNvSpPr/>
          <p:nvPr/>
        </p:nvSpPr>
        <p:spPr>
          <a:xfrm>
            <a:off x="609600" y="5068292"/>
            <a:ext cx="11301984" cy="203795"/>
          </a:xfrm>
          <a:prstGeom prst="rect">
            <a:avLst/>
          </a:prstGeom>
          <a:noFill/>
          <a:ln/>
        </p:spPr>
        <p:txBody>
          <a:bodyPr wrap="square" lIns="0" tIns="0" rIns="0" bIns="0" rtlCol="0" anchor="t">
            <a:normAutofit/>
          </a:bodyPr>
          <a:lstStyle/>
          <a:p>
            <a:pPr algn="l" indent="0" marL="0">
              <a:lnSpc>
                <a:spcPts val="1423"/>
              </a:lnSpc>
              <a:buNone/>
            </a:pPr>
            <a:r>
              <a:rPr lang="en-US" sz="1016" b="1" spc="150" kern="0" dirty="0">
                <a:solidFill>
                  <a:srgbClr val="4A3868"/>
                </a:solidFill>
                <a:latin typeface="Source Sans 3" pitchFamily="34" charset="0"/>
                <a:ea typeface="Source Sans 3" pitchFamily="34" charset="-122"/>
                <a:cs typeface="Source Sans 3" pitchFamily="34" charset="-120"/>
              </a:rPr>
              <a:t>ABSTRACT</a:t>
            </a:r>
            <a:endParaRPr lang="en-US" sz="1016" dirty="0"/>
          </a:p>
        </p:txBody>
      </p:sp>
      <p:sp>
        <p:nvSpPr>
          <p:cNvPr id="19" name="Text 17"/>
          <p:cNvSpPr/>
          <p:nvPr/>
        </p:nvSpPr>
        <p:spPr>
          <a:xfrm>
            <a:off x="609600" y="5322888"/>
            <a:ext cx="11301984" cy="1103313"/>
          </a:xfrm>
          <a:prstGeom prst="rect">
            <a:avLst/>
          </a:prstGeom>
          <a:noFill/>
          <a:ln/>
        </p:spPr>
        <p:txBody>
          <a:bodyPr wrap="square" lIns="0" tIns="0" rIns="0" bIns="0" rtlCol="0" anchor="t">
            <a:normAutofit/>
          </a:bodyPr>
          <a:lstStyle/>
          <a:p>
            <a:pPr algn="l" indent="0" marL="0">
              <a:lnSpc>
                <a:spcPts val="1776"/>
              </a:lnSpc>
              <a:buNone/>
            </a:pPr>
            <a:r>
              <a:rPr lang="en-US" sz="1225" dirty="0">
                <a:solidFill>
                  <a:srgbClr val="55505E"/>
                </a:solidFill>
                <a:latin typeface="Source Sans 3" pitchFamily="34" charset="0"/>
                <a:ea typeface="Source Sans 3" pitchFamily="34" charset="-122"/>
                <a:cs typeface="Source Sans 3" pitchFamily="34" charset="-120"/>
              </a:rPr>
              <a:t>Energized molecules spend much of their time between bonded and separated, where avoided crossings, ion-pair structures and spin recoupling make a single learned surface inadequate. We combine compatibilization by deep neural network, learning a small Hamiltonian-like matrix whose eigenvalues reproduce ab initio energies, with physics frames built from fragment states: valence-bond structures, diatomics-in-molecules, and charged and excited fragment asymptotes from an electron ladder. The frame fixes symmetry and dissociation limits for any network weights; zero-initialised networks learn only corrections. Tests: H₃, water, and the O–O coordinate of CH₂OO.</a:t>
            </a:r>
            <a:endParaRPr lang="en-US" sz="12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INTRODUCTION · THE PROBLEM</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Energized molecules sample the middle zone</a:t>
            </a:r>
            <a:endParaRPr lang="en-US" sz="2700" dirty="0"/>
          </a:p>
        </p:txBody>
      </p:sp>
      <p:pic>
        <p:nvPicPr>
          <p:cNvPr id="6" name="Image 0" descr="Schematic potential energy curves of three coupled states, with shaded regions labelled bonded, the middle zone and separated">    </p:cNvPr>
          <p:cNvPicPr>
            <a:picLocks noChangeAspect="1"/>
          </p:cNvPicPr>
          <p:nvPr/>
        </p:nvPicPr>
        <p:blipFill>
          <a:blip r:embed="rId1"/>
          <a:srcRect l="-22" r="-22" t="0" b="0"/>
          <a:stretch/>
        </p:blipFill>
        <p:spPr>
          <a:xfrm>
            <a:off x="457200" y="1327100"/>
            <a:ext cx="6350000" cy="3346450"/>
          </a:xfrm>
          <a:prstGeom prst="rect">
            <a:avLst/>
          </a:prstGeom>
        </p:spPr>
      </p:pic>
      <p:sp>
        <p:nvSpPr>
          <p:cNvPr id="7" name="Text 4"/>
          <p:cNvSpPr/>
          <p:nvPr/>
        </p:nvSpPr>
        <p:spPr>
          <a:xfrm>
            <a:off x="7152132" y="1327100"/>
            <a:ext cx="4714875" cy="2478584"/>
          </a:xfrm>
          <a:prstGeom prst="rect">
            <a:avLst/>
          </a:prstGeom>
          <a:noFill/>
          <a:ln/>
        </p:spPr>
        <p:txBody>
          <a:bodyPr wrap="square" lIns="0" tIns="0" rIns="0" bIns="0" rtlCol="0" anchor="t">
            <a:normAutofit/>
          </a:bodyPr>
          <a:lstStyle/>
          <a:p>
            <a:pPr algn="l" marL="175768" indent="-175768">
              <a:lnSpc>
                <a:spcPts val="1932"/>
              </a:lnSpc>
              <a:buSzPct val="100000"/>
              <a:buChar char="•"/>
            </a:pPr>
            <a:r>
              <a:rPr lang="en-US" sz="1400" b="1" dirty="0">
                <a:solidFill>
                  <a:srgbClr val="4A3868"/>
                </a:solidFill>
                <a:latin typeface="Source Sans 3" pitchFamily="34" charset="0"/>
                <a:ea typeface="Source Sans 3" pitchFamily="34" charset="-122"/>
                <a:cs typeface="Source Sans 3" pitchFamily="34" charset="-120"/>
              </a:rPr>
              <a:t>Excess energy:</a:t>
            </a:r>
            <a:r>
              <a:rPr lang="en-US" sz="1400" dirty="0">
                <a:solidFill>
                  <a:srgbClr val="2E2A36"/>
                </a:solidFill>
                <a:latin typeface="Source Sans 3" pitchFamily="34" charset="0"/>
                <a:ea typeface="Source Sans 3" pitchFamily="34" charset="-122"/>
                <a:cs typeface="Source Sans 3" pitchFamily="34" charset="-120"/>
              </a:rPr>
              <a:t> chemical activation (ozonolysis), photoexcitation, radical–radical recombination.</a:t>
            </a:r>
            <a:endParaRPr lang="en-US" sz="1400" dirty="0"/>
          </a:p>
          <a:p>
            <a:pPr algn="l" marL="175768" indent="-175768">
              <a:lnSpc>
                <a:spcPts val="1932"/>
              </a:lnSpc>
              <a:buSzPct val="100000"/>
              <a:buChar char="•"/>
            </a:pPr>
            <a:r>
              <a:rPr lang="en-US" sz="1400" b="1" dirty="0">
                <a:solidFill>
                  <a:srgbClr val="4A3868"/>
                </a:solidFill>
                <a:latin typeface="Source Sans 3" pitchFamily="34" charset="0"/>
                <a:ea typeface="Source Sans 3" pitchFamily="34" charset="-122"/>
                <a:cs typeface="Source Sans 3" pitchFamily="34" charset="-120"/>
              </a:rPr>
              <a:t>Where trajectories go:</a:t>
            </a:r>
            <a:r>
              <a:rPr lang="en-US" sz="1400" dirty="0">
                <a:solidFill>
                  <a:srgbClr val="2E2A36"/>
                </a:solidFill>
                <a:latin typeface="Source Sans 3" pitchFamily="34" charset="0"/>
                <a:ea typeface="Source Sans 3" pitchFamily="34" charset="-122"/>
                <a:cs typeface="Source Sans 3" pitchFamily="34" charset="-120"/>
              </a:rPr>
              <a:t> long excursions between bonded and separated, roughly 1.3–3 × rₑ.</a:t>
            </a:r>
            <a:endParaRPr lang="en-US" sz="1400" dirty="0"/>
          </a:p>
          <a:p>
            <a:pPr algn="l" marL="175768" indent="-175768">
              <a:lnSpc>
                <a:spcPts val="1932"/>
              </a:lnSpc>
              <a:buSzPct val="100000"/>
              <a:buChar char="•"/>
            </a:pPr>
            <a:r>
              <a:rPr lang="en-US" sz="1400" b="1" dirty="0">
                <a:solidFill>
                  <a:srgbClr val="4A3868"/>
                </a:solidFill>
                <a:latin typeface="Source Sans 3" pitchFamily="34" charset="0"/>
                <a:ea typeface="Source Sans 3" pitchFamily="34" charset="-122"/>
                <a:cs typeface="Source Sans 3" pitchFamily="34" charset="-120"/>
              </a:rPr>
              <a:t>What changes there:</a:t>
            </a:r>
            <a:r>
              <a:rPr lang="en-US" sz="1400" dirty="0">
                <a:solidFill>
                  <a:srgbClr val="2E2A36"/>
                </a:solidFill>
                <a:latin typeface="Source Sans 3" pitchFamily="34" charset="0"/>
                <a:ea typeface="Source Sans 3" pitchFamily="34" charset="-122"/>
                <a:cs typeface="Source Sans 3" pitchFamily="34" charset="-120"/>
              </a:rPr>
              <a:t> several states lie within a few tenths of an eV; character switches between covalent, ionic and biradical.</a:t>
            </a:r>
            <a:endParaRPr lang="en-US" sz="1400" dirty="0"/>
          </a:p>
          <a:p>
            <a:pPr algn="l" marL="175768" indent="-175768">
              <a:lnSpc>
                <a:spcPts val="1932"/>
              </a:lnSpc>
              <a:buSzPct val="100000"/>
              <a:buChar char="•"/>
            </a:pPr>
            <a:r>
              <a:rPr lang="en-US" sz="1400" b="1" dirty="0">
                <a:solidFill>
                  <a:srgbClr val="4A3868"/>
                </a:solidFill>
                <a:latin typeface="Source Sans 3" pitchFamily="34" charset="0"/>
                <a:ea typeface="Source Sans 3" pitchFamily="34" charset="-122"/>
                <a:cs typeface="Source Sans 3" pitchFamily="34" charset="-120"/>
              </a:rPr>
              <a:t>Data:</a:t>
            </a:r>
            <a:r>
              <a:rPr lang="en-US" sz="1400" dirty="0">
                <a:solidFill>
                  <a:srgbClr val="2E2A36"/>
                </a:solidFill>
                <a:latin typeface="Source Sans 3" pitchFamily="34" charset="0"/>
                <a:ea typeface="Source Sans 3" pitchFamily="34" charset="-122"/>
                <a:cs typeface="Source Sans 3" pitchFamily="34" charset="-120"/>
              </a:rPr>
              <a:t> equilibrium and asymptotes are easy to sample; the middle zone is where data are thinnest and models least constrained.</a:t>
            </a:r>
            <a:endParaRPr lang="en-US" sz="1400" dirty="0"/>
          </a:p>
        </p:txBody>
      </p:sp>
      <p:sp>
        <p:nvSpPr>
          <p:cNvPr id="8" name="Text 5"/>
          <p:cNvSpPr/>
          <p:nvPr/>
        </p:nvSpPr>
        <p:spPr>
          <a:xfrm>
            <a:off x="457200" y="6207820"/>
            <a:ext cx="1020318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Schematic three-structure model: Morse bound state, repulsive covalent state, Born–Mayer ion pair with −14.40/r attraction; adiabatic curves are its eigenvalues</a:t>
            </a:r>
            <a:endParaRPr lang="en-US" sz="1200" dirty="0"/>
          </a:p>
        </p:txBody>
      </p:sp>
      <p:sp>
        <p:nvSpPr>
          <p:cNvPr id="9" name="Text 6"/>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BACKGROUND · PRIOR WORK</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Diabatic states and learned matrices: the Truhlar line of work</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9900" y="1339800"/>
          <a:ext cx="11264900" cy="3088084"/>
        </p:xfrm>
        <a:graphic>
          <a:graphicData uri="http://schemas.openxmlformats.org/drawingml/2006/table">
            <a:tbl>
              <a:tblPr/>
              <a:tblGrid>
                <a:gridCol w="1239139"/>
                <a:gridCol w="5294503"/>
                <a:gridCol w="4731258"/>
              </a:tblGrid>
              <a:tr h="332680">
                <a:tc>
                  <a:txBody>
                    <a:bodyPr/>
                    <a:lstStyle/>
                    <a:p>
                      <a:pPr indent="0" marL="0">
                        <a:lnSpc>
                          <a:spcPts val="1680"/>
                        </a:lnSpc>
                        <a:buNone/>
                      </a:pPr>
                      <a:r>
                        <a:rPr lang="en-US" sz="1200" b="1" dirty="0">
                          <a:solidFill>
                            <a:srgbClr val="4A3868"/>
                          </a:solidFill>
                          <a:latin typeface="Source Sans 3" pitchFamily="34" charset="0"/>
                          <a:ea typeface="Source Sans 3" pitchFamily="34" charset="-122"/>
                          <a:cs typeface="Source Sans 3" pitchFamily="34" charset="-120"/>
                        </a:rPr>
                        <a:t>Year</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680"/>
                        </a:lnSpc>
                        <a:buNone/>
                      </a:pPr>
                      <a:r>
                        <a:rPr lang="en-US" sz="1200" b="1" dirty="0">
                          <a:solidFill>
                            <a:srgbClr val="4A3868"/>
                          </a:solidFill>
                          <a:latin typeface="Source Sans 3" pitchFamily="34" charset="0"/>
                          <a:ea typeface="Source Sans 3" pitchFamily="34" charset="-122"/>
                          <a:cs typeface="Source Sans 3" pitchFamily="34" charset="-120"/>
                        </a:rPr>
                        <a:t>Contribution</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680"/>
                        </a:lnSpc>
                        <a:buNone/>
                      </a:pPr>
                      <a:r>
                        <a:rPr lang="en-US" sz="1200" b="1" dirty="0">
                          <a:solidFill>
                            <a:srgbClr val="4A3868"/>
                          </a:solidFill>
                          <a:latin typeface="Source Sans 3" pitchFamily="34" charset="0"/>
                          <a:ea typeface="Source Sans 3" pitchFamily="34" charset="-122"/>
                          <a:cs typeface="Source Sans 3" pitchFamily="34" charset="-120"/>
                        </a:rPr>
                        <a:t>Key reference</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r>
              <a:tr h="332680">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1982</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Strictly diabatic states do not exist in general; work with quasidiabatic states</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Mead &amp; Truhlar, JCP 77, 6090</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32680">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2016–18</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Configuration-uniformity diabatization: DQΦ, then the N/D method</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Hoyer et al., JCP 144, 194101; Varga et al., PCCP 20, 26643</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6001">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2020–23</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Diabatization by deep neural network (DDNN); permutation restraints; PM-DDNN</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Shu &amp; Truhlar, JCTC 16, 6456; Shu et al., JCTC 17, 1106; Akher et al., JPCA 127, 5287</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32680">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2022</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Review: diabatic states of molecules</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Shu et al., JPCA 126, 992</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2022–23</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Many-state ozone surfaces: 14 ³A′ O₃; six ⁵A′ O + O₂</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Varga et al., Electron. Struct. 4, 047002; Akher et al., JCTC 19, 4389</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546001">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2022–24</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Dynamics from adiabatic energies and gradients: curvature-driven surface hopping, Ehrenfest</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Shu et al., JCTC 18, 1320; Shu &amp; Truhlar, JCTC 20, 4396</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2025</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CDNN: learn any compatible matrix from energies alone; LiH, H₃, six O₃ states</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2E2A36"/>
                          </a:solidFill>
                          <a:latin typeface="Source Sans 3" pitchFamily="34" charset="0"/>
                          <a:ea typeface="Source Sans 3" pitchFamily="34" charset="-122"/>
                          <a:cs typeface="Source Sans 3" pitchFamily="34" charset="-120"/>
                        </a:rPr>
                        <a:t>Shu, Varga, Zhang, Meng, Parameswaran, Zhou &amp; Truhlar, JCTC 21, 3342</a:t>
                      </a:r>
                      <a:endParaRPr lang="en-US" sz="1200" dirty="0">
                        <a:latin typeface="Source Sans 3" charset="0"/>
                        <a:ea typeface="Source Sans 3" charset="0"/>
                        <a:cs typeface="Source Sans 3"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bl>
          </a:graphicData>
        </a:graphic>
      </p:graphicFrame>
      <p:sp>
        <p:nvSpPr>
          <p:cNvPr id="7" name="Text 4"/>
          <p:cNvSpPr/>
          <p:nvPr/>
        </p:nvSpPr>
        <p:spPr>
          <a:xfrm>
            <a:off x="457200" y="4592985"/>
            <a:ext cx="11277600" cy="989161"/>
          </a:xfrm>
          <a:prstGeom prst="roundRect">
            <a:avLst>
              <a:gd name="adj" fmla="val 2568"/>
            </a:avLst>
          </a:prstGeom>
          <a:solidFill>
            <a:srgbClr val="EFEBF3"/>
          </a:solidFill>
          <a:ln/>
        </p:spPr>
        <p:txBody>
          <a:bodyPr wrap="square" lIns="233861" tIns="132261" rIns="0" bIns="106861"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Where this work builds.</a:t>
            </a:r>
            <a:r>
              <a:rPr lang="en-US" sz="1350" dirty="0">
                <a:solidFill>
                  <a:srgbClr val="2E2A36"/>
                </a:solidFill>
                <a:latin typeface="Source Sans 3" pitchFamily="34" charset="0"/>
                <a:ea typeface="Source Sans 3" pitchFamily="34" charset="-122"/>
                <a:cs typeface="Source Sans 3" pitchFamily="34" charset="-120"/>
              </a:rPr>
              <a:t> CDNN leaves the structure of the matrix to the network. Here the matrix is assembled from fragment states (valence-bond structures, diatomics-in-molecules, charged and excited asymptotes), so symmetry and dissociation limits hold for any weights and the network learns only corrections.</a:t>
            </a:r>
            <a:endParaRPr lang="en-US" sz="1350" dirty="0"/>
          </a:p>
        </p:txBody>
      </p:sp>
      <p:sp>
        <p:nvSpPr>
          <p:cNvPr id="8" name="Shape 5"/>
          <p:cNvSpPr/>
          <p:nvPr/>
        </p:nvSpPr>
        <p:spPr>
          <a:xfrm>
            <a:off x="457200" y="4592985"/>
            <a:ext cx="11277600" cy="989161"/>
          </a:xfrm>
          <a:custGeom>
            <a:avLst/>
            <a:gdLst/>
            <a:ahLst/>
            <a:cxnLst/>
            <a:rect l="l" t="t" r="r" b="b"/>
            <a:pathLst>
              <a:path w="11277600" h="989161">
                <a:moveTo>
                  <a:pt x="38100" y="989161"/>
                </a:moveTo>
                <a:lnTo>
                  <a:pt x="25400" y="989161"/>
                </a:lnTo>
                <a:arcTo hR="25400" wR="25400" stAng="5400000" swAng="5400000"/>
                <a:lnTo>
                  <a:pt x="0" y="25400"/>
                </a:lnTo>
                <a:arcTo hR="25400" wR="25400" stAng="10800000" swAng="5400000"/>
                <a:lnTo>
                  <a:pt x="38100" y="0"/>
                </a:lnTo>
                <a:lnTo>
                  <a:pt x="38100" y="989161"/>
                </a:lnTo>
                <a:close/>
              </a:path>
            </a:pathLst>
          </a:custGeom>
          <a:solidFill>
            <a:srgbClr val="C8873A"/>
          </a:solidFill>
          <a:ln/>
        </p:spPr>
      </p:sp>
      <p:sp>
        <p:nvSpPr>
          <p:cNvPr id="9" name="Text 6"/>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BACKGROUND · OUR PREVIOUS WORK</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Earlier ML surfaces for hot Criegee intermediates</a:t>
            </a:r>
            <a:endParaRPr lang="en-US" sz="2700" dirty="0"/>
          </a:p>
        </p:txBody>
      </p:sp>
      <p:sp>
        <p:nvSpPr>
          <p:cNvPr id="6" name="Text 4"/>
          <p:cNvSpPr/>
          <p:nvPr/>
        </p:nvSpPr>
        <p:spPr>
          <a:xfrm>
            <a:off x="457200" y="1263600"/>
            <a:ext cx="5729478"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1A7F5A"/>
                </a:solidFill>
                <a:latin typeface="Source Sans 3" pitchFamily="34" charset="0"/>
                <a:ea typeface="Source Sans 3" pitchFamily="34" charset="-122"/>
                <a:cs typeface="Source Sans 3" pitchFamily="34" charset="-120"/>
              </a:rPr>
              <a:t>WHAT WORKED</a:t>
            </a:r>
            <a:endParaRPr lang="en-US" sz="1400" dirty="0"/>
          </a:p>
        </p:txBody>
      </p:sp>
      <p:sp>
        <p:nvSpPr>
          <p:cNvPr id="7" name="Text 5"/>
          <p:cNvSpPr/>
          <p:nvPr/>
        </p:nvSpPr>
        <p:spPr>
          <a:xfrm>
            <a:off x="517906" y="1540421"/>
            <a:ext cx="5662295" cy="1076871"/>
          </a:xfrm>
          <a:prstGeom prst="rect">
            <a:avLst/>
          </a:prstGeom>
          <a:noFill/>
          <a:ln/>
        </p:spPr>
        <p:txBody>
          <a:bodyPr wrap="square" lIns="0" tIns="0" rIns="0" bIns="0" rtlCol="0" anchor="t">
            <a:normAutofit/>
          </a:bodyPr>
          <a:lstStyle/>
          <a:p>
            <a:pPr algn="l" marL="155194" indent="-155194">
              <a:lnSpc>
                <a:spcPts val="1656"/>
              </a:lnSpc>
              <a:buSzPct val="100000"/>
              <a:buChar char="•"/>
            </a:pPr>
            <a:r>
              <a:rPr lang="en-US" sz="1200" dirty="0">
                <a:solidFill>
                  <a:srgbClr val="2E2A36"/>
                </a:solidFill>
                <a:latin typeface="Source Sans 3" pitchFamily="34" charset="0"/>
                <a:ea typeface="Source Sans 3" pitchFamily="34" charset="-122"/>
                <a:cs typeface="Source Sans 3" pitchFamily="34" charset="-120"/>
              </a:rPr>
              <a:t>MVKO S₀ surface (KRR) from 904 B3LYP/6-31G* frames: 0.27 kcal/mol RMSE; analytic forces, 903× faster than DFT</a:t>
            </a:r>
            <a:endParaRPr lang="en-US" sz="1200" dirty="0"/>
          </a:p>
          <a:p>
            <a:pPr algn="l" marL="155194" indent="-155194">
              <a:lnSpc>
                <a:spcPts val="1656"/>
              </a:lnSpc>
              <a:buSzPct val="100000"/>
              <a:buChar char="•"/>
            </a:pPr>
            <a:r>
              <a:rPr lang="en-US" sz="1200" dirty="0">
                <a:solidFill>
                  <a:srgbClr val="2E2A36"/>
                </a:solidFill>
                <a:latin typeface="Source Sans 3" pitchFamily="34" charset="0"/>
                <a:ea typeface="Source Sans 3" pitchFamily="34" charset="-122"/>
                <a:cs typeface="Source Sans 3" pitchFamily="34" charset="-120"/>
              </a:rPr>
              <a:t>ML molecular dynamics at 0.5 fs, 300–2000 K; CASSCF Δ-ML corrections near equilibrium (LOO 0.06–0.65 kcal/mol)</a:t>
            </a:r>
            <a:endParaRPr lang="en-US" sz="1200" dirty="0"/>
          </a:p>
          <a:p>
            <a:pPr algn="l" marL="155194" indent="-155194">
              <a:lnSpc>
                <a:spcPts val="1656"/>
              </a:lnSpc>
              <a:buSzPct val="100000"/>
              <a:buChar char="•"/>
            </a:pPr>
            <a:r>
              <a:rPr lang="en-US" sz="1200" dirty="0">
                <a:solidFill>
                  <a:srgbClr val="2E2A36"/>
                </a:solidFill>
                <a:latin typeface="Source Sans 3" pitchFamily="34" charset="0"/>
                <a:ea typeface="Source Sans 3" pitchFamily="34" charset="-122"/>
                <a:cs typeface="Source Sans 3" pitchFamily="34" charset="-120"/>
              </a:rPr>
              <a:t>Harmonic IR of MVKO within 5–20 cm⁻¹ of the Chung &amp; Lee bands</a:t>
            </a:r>
            <a:endParaRPr lang="en-US" sz="1200" dirty="0"/>
          </a:p>
        </p:txBody>
      </p:sp>
      <p:sp>
        <p:nvSpPr>
          <p:cNvPr id="8" name="Text 6"/>
          <p:cNvSpPr/>
          <p:nvPr/>
        </p:nvSpPr>
        <p:spPr>
          <a:xfrm>
            <a:off x="457200" y="2655391"/>
            <a:ext cx="5729478"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A23A2A"/>
                </a:solidFill>
                <a:latin typeface="Source Sans 3" pitchFamily="34" charset="0"/>
                <a:ea typeface="Source Sans 3" pitchFamily="34" charset="-122"/>
                <a:cs typeface="Source Sans 3" pitchFamily="34" charset="-120"/>
              </a:rPr>
              <a:t>WHERE IT FELL SHORT</a:t>
            </a:r>
            <a:endParaRPr lang="en-US" sz="1400" dirty="0"/>
          </a:p>
        </p:txBody>
      </p:sp>
      <p:sp>
        <p:nvSpPr>
          <p:cNvPr id="9" name="Text 7"/>
          <p:cNvSpPr/>
          <p:nvPr/>
        </p:nvSpPr>
        <p:spPr>
          <a:xfrm>
            <a:off x="517906" y="2932212"/>
            <a:ext cx="5662295" cy="1076871"/>
          </a:xfrm>
          <a:prstGeom prst="rect">
            <a:avLst/>
          </a:prstGeom>
          <a:noFill/>
          <a:ln/>
        </p:spPr>
        <p:txBody>
          <a:bodyPr wrap="square" lIns="0" tIns="0" rIns="0" bIns="0" rtlCol="0" anchor="t">
            <a:normAutofit/>
          </a:bodyPr>
          <a:lstStyle/>
          <a:p>
            <a:pPr algn="l" marL="155194" indent="-155194">
              <a:lnSpc>
                <a:spcPts val="1656"/>
              </a:lnSpc>
              <a:buSzPct val="100000"/>
              <a:buChar char="•"/>
            </a:pPr>
            <a:r>
              <a:rPr lang="en-US" sz="1200" dirty="0">
                <a:solidFill>
                  <a:srgbClr val="2E2A36"/>
                </a:solidFill>
                <a:latin typeface="Source Sans 3" pitchFamily="34" charset="0"/>
                <a:ea typeface="Source Sans 3" pitchFamily="34" charset="-122"/>
                <a:cs typeface="Source Sans 3" pitchFamily="34" charset="-120"/>
              </a:rPr>
              <a:t>Distorted geometries: single-reference DFT off by 9–21 kcal/mol against NEVPT2</a:t>
            </a:r>
            <a:endParaRPr lang="en-US" sz="1200" dirty="0"/>
          </a:p>
          <a:p>
            <a:pPr algn="l" marL="155194" indent="-155194">
              <a:lnSpc>
                <a:spcPts val="1656"/>
              </a:lnSpc>
              <a:buSzPct val="100000"/>
              <a:buChar char="•"/>
            </a:pPr>
            <a:r>
              <a:rPr lang="en-US" sz="1200" dirty="0">
                <a:solidFill>
                  <a:srgbClr val="2E2A36"/>
                </a:solidFill>
                <a:latin typeface="Source Sans 3" pitchFamily="34" charset="0"/>
                <a:ea typeface="Source Sans 3" pitchFamily="34" charset="-122"/>
                <a:cs typeface="Source Sans 3" pitchFamily="34" charset="-120"/>
              </a:rPr>
              <a:t>Hot (1000–2000 K) frames: kernel surfaces too stiff (5–12 of 30 modes above 5000 cm⁻¹), imaginary modes; sGDML trajectory dissociated; MACE 11 kcal/mol RMSE</a:t>
            </a:r>
            <a:endParaRPr lang="en-US" sz="1200" dirty="0"/>
          </a:p>
          <a:p>
            <a:pPr algn="l" marL="155194" indent="-155194">
              <a:lnSpc>
                <a:spcPts val="1656"/>
              </a:lnSpc>
              <a:buSzPct val="100000"/>
              <a:buChar char="•"/>
            </a:pPr>
            <a:r>
              <a:rPr lang="en-US" sz="1200" dirty="0">
                <a:solidFill>
                  <a:srgbClr val="2E2A36"/>
                </a:solidFill>
                <a:latin typeface="Source Sans 3" pitchFamily="34" charset="0"/>
                <a:ea typeface="Source Sans 3" pitchFamily="34" charset="-122"/>
                <a:cs typeface="Source Sans 3" pitchFamily="34" charset="-120"/>
              </a:rPr>
              <a:t>Dipole-ACF IR dominated by torsions; the 2000 K spectrum does not match experiment</a:t>
            </a:r>
            <a:endParaRPr lang="en-US" sz="1200" dirty="0"/>
          </a:p>
        </p:txBody>
      </p:sp>
      <p:pic>
        <p:nvPicPr>
          <p:cNvPr id="10" name="Image 0" descr="Harmonic frequencies of the 30 MVKO modes: the reference has none above 3400 per cm, kernel ridge puts 12 above 5000, MACE has one imaginary mode">    </p:cNvPr>
          <p:cNvPicPr>
            <a:picLocks noChangeAspect="1"/>
          </p:cNvPicPr>
          <p:nvPr/>
        </p:nvPicPr>
        <p:blipFill>
          <a:blip r:embed="rId1"/>
          <a:srcRect l="0" r="0" t="-75" b="-75"/>
          <a:stretch/>
        </p:blipFill>
        <p:spPr>
          <a:xfrm>
            <a:off x="6273800" y="1263600"/>
            <a:ext cx="5461000" cy="1695450"/>
          </a:xfrm>
          <a:prstGeom prst="rect">
            <a:avLst/>
          </a:prstGeom>
        </p:spPr>
      </p:pic>
      <p:pic>
        <p:nvPicPr>
          <p:cNvPr id="11" name="Image 1" descr="MVKO fingerprint IR from 850 to 1500 per cm: experiment by Chung and Lee against simulated spectra at 300 K and 2000 K, which miss several bands">    </p:cNvPr>
          <p:cNvPicPr>
            <a:picLocks noChangeAspect="1"/>
          </p:cNvPicPr>
          <p:nvPr/>
        </p:nvPicPr>
        <p:blipFill>
          <a:blip r:embed="rId2"/>
          <a:srcRect l="-17" r="-17" t="0" b="0"/>
          <a:stretch/>
        </p:blipFill>
        <p:spPr>
          <a:xfrm>
            <a:off x="6273800" y="3047950"/>
            <a:ext cx="5461000" cy="2286000"/>
          </a:xfrm>
          <a:prstGeom prst="rect">
            <a:avLst/>
          </a:prstGeom>
        </p:spPr>
      </p:pic>
      <p:sp>
        <p:nvSpPr>
          <p:cNvPr id="12" name="Shape 8"/>
          <p:cNvSpPr/>
          <p:nvPr/>
        </p:nvSpPr>
        <p:spPr>
          <a:xfrm>
            <a:off x="457200" y="5448250"/>
            <a:ext cx="11277600" cy="662781"/>
          </a:xfrm>
          <a:prstGeom prst="roundRect">
            <a:avLst>
              <a:gd name="adj" fmla="val 3832"/>
            </a:avLst>
          </a:prstGeom>
          <a:solidFill>
            <a:srgbClr val="EFEBF3"/>
          </a:solidFill>
          <a:ln/>
        </p:spPr>
      </p:sp>
      <p:sp>
        <p:nvSpPr>
          <p:cNvPr id="13" name="Shape 9"/>
          <p:cNvSpPr/>
          <p:nvPr/>
        </p:nvSpPr>
        <p:spPr>
          <a:xfrm>
            <a:off x="457200" y="5448250"/>
            <a:ext cx="11277600" cy="662781"/>
          </a:xfrm>
          <a:custGeom>
            <a:avLst/>
            <a:gdLst/>
            <a:ahLst/>
            <a:cxnLst/>
            <a:rect l="l" t="t" r="r" b="b"/>
            <a:pathLst>
              <a:path w="11277600" h="662781">
                <a:moveTo>
                  <a:pt x="38100" y="662781"/>
                </a:moveTo>
                <a:lnTo>
                  <a:pt x="25400" y="662781"/>
                </a:lnTo>
                <a:arcTo hR="25400" wR="25400" stAng="5400000" swAng="5400000"/>
                <a:lnTo>
                  <a:pt x="0" y="25400"/>
                </a:lnTo>
                <a:arcTo hR="25400" wR="25400" stAng="10800000" swAng="5400000"/>
                <a:lnTo>
                  <a:pt x="38100" y="0"/>
                </a:lnTo>
                <a:lnTo>
                  <a:pt x="38100" y="662781"/>
                </a:lnTo>
                <a:close/>
              </a:path>
            </a:pathLst>
          </a:custGeom>
          <a:solidFill>
            <a:srgbClr val="C8873A"/>
          </a:solidFill>
          <a:ln/>
        </p:spPr>
      </p:sp>
      <p:sp>
        <p:nvSpPr>
          <p:cNvPr id="14" name="Text 10"/>
          <p:cNvSpPr/>
          <p:nvPr/>
        </p:nvSpPr>
        <p:spPr>
          <a:xfrm>
            <a:off x="685800" y="5537150"/>
            <a:ext cx="11184255"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One single-reference surface cannot carry the multistate, multireference character of hot, distorted geometries: the middle zone is where these models failed.</a:t>
            </a:r>
            <a:endParaRPr lang="en-US" sz="1300" dirty="0"/>
          </a:p>
        </p:txBody>
      </p:sp>
      <p:sp>
        <p:nvSpPr>
          <p:cNvPr id="15" name="Text 11"/>
          <p:cNvSpPr/>
          <p:nvPr/>
        </p:nvSpPr>
        <p:spPr>
          <a:xfrm>
            <a:off x="685800" y="5803057"/>
            <a:ext cx="11184255" cy="244475"/>
          </a:xfrm>
          <a:prstGeom prst="rect">
            <a:avLst/>
          </a:prstGeom>
          <a:noFill/>
          <a:ln/>
        </p:spPr>
        <p:txBody>
          <a:bodyPr wrap="square" lIns="0" tIns="0" rIns="0" bIns="0" rtlCol="0" anchor="t">
            <a:normAutofit/>
          </a:bodyPr>
          <a:lstStyle/>
          <a:p>
            <a:pPr algn="l" indent="0" marL="0">
              <a:lnSpc>
                <a:spcPts val="1725"/>
              </a:lnSpc>
              <a:buNone/>
            </a:pPr>
            <a:r>
              <a:rPr lang="en-US" sz="1250" b="1" dirty="0">
                <a:solidFill>
                  <a:srgbClr val="4A3868"/>
                </a:solidFill>
                <a:latin typeface="Source Sans 3" pitchFamily="34" charset="0"/>
                <a:ea typeface="Source Sans 3" pitchFamily="34" charset="-122"/>
                <a:cs typeface="Source Sans 3" pitchFamily="34" charset="-120"/>
              </a:rPr>
              <a:t>Online:</a:t>
            </a:r>
            <a:r>
              <a:rPr lang="en-US" sz="1250" dirty="0">
                <a:solidFill>
                  <a:srgbClr val="2E2A36"/>
                </a:solidFill>
                <a:latin typeface="Source Sans 3" pitchFamily="34" charset="0"/>
                <a:ea typeface="Source Sans 3" pitchFamily="34" charset="-122"/>
                <a:cs typeface="Source Sans 3" pitchFamily="34" charset="-120"/>
              </a:rPr>
              <a:t> </a:t>
            </a:r>
            <a:r>
              <a:rPr lang="en-US" sz="1250" u="sng" dirty="0">
                <a:solidFill>
                  <a:srgbClr val="7A3F12"/>
                </a:solidFill>
                <a:latin typeface="Source Sans 3" pitchFamily="34" charset="0"/>
                <a:ea typeface="Source Sans 3" pitchFamily="34" charset="-122"/>
                <a:cs typeface="Source Sans 3" pitchFamily="34" charset="-120"/>
                <a:hlinkClick r:id="rId3" invalidUrl="" action="" tgtFrame="" tooltip="" history="1" highlightClick="0" endSnd="0">
                  <a:extLst>
                    <a:ext uri="{A12FA001-AC4F-418D-AE19-62706E023703}">
                      <ahyp:hlinkClr xmlns:ahyp="http://schemas.microsoft.com/office/drawing/2018/hyperlinkcolor" val="tx"/>
                    </a:ext>
                  </a:extLst>
                </a:hlinkClick>
              </a:rPr>
              <a:t>talk slides</a:t>
            </a:r>
            <a:r>
              <a:rPr lang="en-US" sz="1250" dirty="0">
                <a:solidFill>
                  <a:srgbClr val="2E2A36"/>
                </a:solidFill>
                <a:latin typeface="Source Sans 3" pitchFamily="34" charset="0"/>
                <a:ea typeface="Source Sans 3" pitchFamily="34" charset="-122"/>
                <a:cs typeface="Source Sans 3" pitchFamily="34" charset="-120"/>
              </a:rPr>
              <a:t> · </a:t>
            </a:r>
            <a:r>
              <a:rPr lang="en-US" sz="1250" u="sng" dirty="0">
                <a:solidFill>
                  <a:srgbClr val="7A3F12"/>
                </a:solidFill>
                <a:latin typeface="Source Sans 3" pitchFamily="34" charset="0"/>
                <a:ea typeface="Source Sans 3" pitchFamily="34" charset="-122"/>
                <a:cs typeface="Source Sans 3" pitchFamily="34" charset="-120"/>
                <a:hlinkClick r:id="rId4" invalidUrl="" action="" tgtFrame="" tooltip="" history="1" highlightClick="0" endSnd="0">
                  <a:extLst>
                    <a:ext uri="{A12FA001-AC4F-418D-AE19-62706E023703}">
                      <ahyp:hlinkClr xmlns:ahyp="http://schemas.microsoft.com/office/drawing/2018/hyperlinkcolor" val="tx"/>
                    </a:ext>
                  </a:extLst>
                </a:hlinkClick>
              </a:rPr>
              <a:t>poster image</a:t>
            </a:r>
            <a:r>
              <a:rPr lang="en-US" sz="1250" dirty="0">
                <a:solidFill>
                  <a:srgbClr val="2E2A36"/>
                </a:solidFill>
                <a:latin typeface="Source Sans 3" pitchFamily="34" charset="0"/>
                <a:ea typeface="Source Sans 3" pitchFamily="34" charset="-122"/>
                <a:cs typeface="Source Sans 3" pitchFamily="34" charset="-120"/>
              </a:rPr>
              <a:t> · </a:t>
            </a:r>
            <a:r>
              <a:rPr lang="en-US" sz="1250" u="sng" dirty="0">
                <a:solidFill>
                  <a:srgbClr val="7A3F12"/>
                </a:solidFill>
                <a:latin typeface="Source Sans 3" pitchFamily="34" charset="0"/>
                <a:ea typeface="Source Sans 3" pitchFamily="34" charset="-122"/>
                <a:cs typeface="Source Sans 3" pitchFamily="34" charset="-120"/>
                <a:hlinkClick r:id="rId5" invalidUrl="" action="" tgtFrame="" tooltip="" history="1" highlightClick="0" endSnd="0">
                  <a:extLst>
                    <a:ext uri="{A12FA001-AC4F-418D-AE19-62706E023703}">
                      <ahyp:hlinkClr xmlns:ahyp="http://schemas.microsoft.com/office/drawing/2018/hyperlinkcolor" val="tx"/>
                    </a:ext>
                  </a:extLst>
                </a:hlinkClick>
              </a:rPr>
              <a:t>poster PDF</a:t>
            </a:r>
            <a:r>
              <a:rPr lang="en-US" sz="1250" dirty="0">
                <a:solidFill>
                  <a:srgbClr val="2E2A36"/>
                </a:solidFill>
                <a:latin typeface="Source Sans 3" pitchFamily="34" charset="0"/>
                <a:ea typeface="Source Sans 3" pitchFamily="34" charset="-122"/>
                <a:cs typeface="Source Sans 3" pitchFamily="34" charset="-120"/>
              </a:rPr>
              <a:t> · laserchemist.github.io/MD_MLPES/talk</a:t>
            </a:r>
            <a:endParaRPr lang="en-US" sz="1250" dirty="0"/>
          </a:p>
        </p:txBody>
      </p:sp>
      <p:sp>
        <p:nvSpPr>
          <p:cNvPr id="16" name="Text 12"/>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Belinta Simiyu &amp; Jonathan M. Smith, ACS Fall 2025 poster (MD_MLPES); experiment: Chung &amp; Lee, Commun. Chem. 4, 8 (2021)</a:t>
            </a:r>
            <a:endParaRPr lang="en-US" sz="1200" dirty="0"/>
          </a:p>
        </p:txBody>
      </p:sp>
      <p:sp>
        <p:nvSpPr>
          <p:cNvPr id="17" name="Text 13"/>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INTRODUCTION · THE PROBLEM</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Three things happen in the middle zone</a:t>
            </a:r>
            <a:endParaRPr lang="en-US" sz="2700" dirty="0"/>
          </a:p>
        </p:txBody>
      </p:sp>
      <p:sp>
        <p:nvSpPr>
          <p:cNvPr id="6" name="Shape 4"/>
          <p:cNvSpPr/>
          <p:nvPr/>
        </p:nvSpPr>
        <p:spPr>
          <a:xfrm>
            <a:off x="460375" y="1330275"/>
            <a:ext cx="3634284" cy="2020838"/>
          </a:xfrm>
          <a:prstGeom prst="roundRect">
            <a:avLst>
              <a:gd name="adj" fmla="val 1728"/>
            </a:avLst>
          </a:prstGeom>
          <a:solidFill>
            <a:srgbClr val="FBFAF7"/>
          </a:solidFill>
          <a:ln w="6350">
            <a:solidFill>
              <a:srgbClr val="DAD3C8"/>
            </a:solidFill>
            <a:prstDash val="solid"/>
          </a:ln>
        </p:spPr>
      </p:sp>
      <p:sp>
        <p:nvSpPr>
          <p:cNvPr id="7" name="Text 5"/>
          <p:cNvSpPr/>
          <p:nvPr/>
        </p:nvSpPr>
        <p:spPr>
          <a:xfrm>
            <a:off x="654050" y="1498550"/>
            <a:ext cx="3344342"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E2A36"/>
                </a:solidFill>
                <a:latin typeface="Source Serif 4" pitchFamily="18" charset="0"/>
                <a:ea typeface="Source Serif 4" pitchFamily="18" charset="-122"/>
                <a:cs typeface="Source Serif 4" pitchFamily="18" charset="-120"/>
              </a:rPr>
              <a:t>Avoided crossings</a:t>
            </a:r>
            <a:endParaRPr lang="en-US" sz="1900" dirty="0"/>
          </a:p>
        </p:txBody>
      </p:sp>
      <p:sp>
        <p:nvSpPr>
          <p:cNvPr id="8" name="Text 6"/>
          <p:cNvSpPr/>
          <p:nvPr/>
        </p:nvSpPr>
        <p:spPr>
          <a:xfrm>
            <a:off x="654050" y="1889671"/>
            <a:ext cx="3344342" cy="761355"/>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E2A36"/>
                </a:solidFill>
                <a:latin typeface="Source Sans 3" pitchFamily="34" charset="0"/>
                <a:ea typeface="Source Sans 3" pitchFamily="34" charset="-122"/>
                <a:cs typeface="Source Sans 3" pitchFamily="34" charset="-120"/>
              </a:rPr>
              <a:t>Two states approach and exchange character. The surfaces stay apart but bend sharply, and the derivative coupling peaks.</a:t>
            </a:r>
            <a:endParaRPr lang="en-US" sz="1400" dirty="0"/>
          </a:p>
        </p:txBody>
      </p:sp>
      <p:sp>
        <p:nvSpPr>
          <p:cNvPr id="9" name="Text 7"/>
          <p:cNvSpPr/>
          <p:nvPr/>
        </p:nvSpPr>
        <p:spPr>
          <a:xfrm>
            <a:off x="654050" y="2727226"/>
            <a:ext cx="3344342" cy="481012"/>
          </a:xfrm>
          <a:prstGeom prst="rect">
            <a:avLst/>
          </a:prstGeom>
          <a:noFill/>
          <a:ln/>
        </p:spPr>
        <p:txBody>
          <a:bodyPr wrap="square" lIns="0" tIns="0" rIns="0" bIns="0" rtlCol="0" anchor="t">
            <a:normAutofit/>
          </a:bodyPr>
          <a:lstStyle/>
          <a:p>
            <a:pPr algn="l" indent="0" marL="0">
              <a:lnSpc>
                <a:spcPts val="1794"/>
              </a:lnSpc>
              <a:buNone/>
            </a:pPr>
            <a:r>
              <a:rPr lang="en-US" sz="1300" i="1" dirty="0">
                <a:solidFill>
                  <a:srgbClr val="55505E"/>
                </a:solidFill>
                <a:latin typeface="Source Sans 3" pitchFamily="34" charset="0"/>
                <a:ea typeface="Source Sans 3" pitchFamily="34" charset="-122"/>
                <a:cs typeface="Source Sans 3" pitchFamily="34" charset="-120"/>
              </a:rPr>
              <a:t>Any bond that can break to more than one set of products.</a:t>
            </a:r>
            <a:endParaRPr lang="en-US" sz="1300" dirty="0"/>
          </a:p>
        </p:txBody>
      </p:sp>
      <p:sp>
        <p:nvSpPr>
          <p:cNvPr id="10" name="Shape 8"/>
          <p:cNvSpPr/>
          <p:nvPr/>
        </p:nvSpPr>
        <p:spPr>
          <a:xfrm>
            <a:off x="4278809" y="1330275"/>
            <a:ext cx="3634333" cy="2020838"/>
          </a:xfrm>
          <a:prstGeom prst="roundRect">
            <a:avLst>
              <a:gd name="adj" fmla="val 1728"/>
            </a:avLst>
          </a:prstGeom>
          <a:solidFill>
            <a:srgbClr val="FBFAF7"/>
          </a:solidFill>
          <a:ln w="6350">
            <a:solidFill>
              <a:srgbClr val="DAD3C8"/>
            </a:solidFill>
            <a:prstDash val="solid"/>
          </a:ln>
        </p:spPr>
      </p:sp>
      <p:sp>
        <p:nvSpPr>
          <p:cNvPr id="11" name="Text 9"/>
          <p:cNvSpPr/>
          <p:nvPr/>
        </p:nvSpPr>
        <p:spPr>
          <a:xfrm>
            <a:off x="4472484" y="1498550"/>
            <a:ext cx="3344393"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E2A36"/>
                </a:solidFill>
                <a:latin typeface="Source Serif 4" pitchFamily="18" charset="0"/>
                <a:ea typeface="Source Serif 4" pitchFamily="18" charset="-122"/>
                <a:cs typeface="Source Serif 4" pitchFamily="18" charset="-120"/>
              </a:rPr>
              <a:t>Ionic structures</a:t>
            </a:r>
            <a:endParaRPr lang="en-US" sz="1900" dirty="0"/>
          </a:p>
        </p:txBody>
      </p:sp>
      <p:sp>
        <p:nvSpPr>
          <p:cNvPr id="12" name="Text 10"/>
          <p:cNvSpPr/>
          <p:nvPr/>
        </p:nvSpPr>
        <p:spPr>
          <a:xfrm>
            <a:off x="4472484" y="1889671"/>
            <a:ext cx="3344393" cy="516037"/>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E2A36"/>
                </a:solidFill>
                <a:latin typeface="Source Sans 3" pitchFamily="34" charset="0"/>
                <a:ea typeface="Source Sans 3" pitchFamily="34" charset="-122"/>
                <a:cs typeface="Source Sans 3" pitchFamily="34" charset="-120"/>
              </a:rPr>
              <a:t>An ion pair A⁺B⁻ falls as −14.40 eV·Å / r and crosses covalent states near r* ≈ 14.40 / ΔE.</a:t>
            </a:r>
            <a:endParaRPr lang="en-US" sz="1400" dirty="0"/>
          </a:p>
        </p:txBody>
      </p:sp>
      <p:sp>
        <p:nvSpPr>
          <p:cNvPr id="13" name="Text 11"/>
          <p:cNvSpPr/>
          <p:nvPr/>
        </p:nvSpPr>
        <p:spPr>
          <a:xfrm>
            <a:off x="4472484" y="2481907"/>
            <a:ext cx="3344393" cy="481012"/>
          </a:xfrm>
          <a:prstGeom prst="rect">
            <a:avLst/>
          </a:prstGeom>
          <a:noFill/>
          <a:ln/>
        </p:spPr>
        <p:txBody>
          <a:bodyPr wrap="square" lIns="0" tIns="0" rIns="0" bIns="0" rtlCol="0" anchor="t">
            <a:normAutofit/>
          </a:bodyPr>
          <a:lstStyle/>
          <a:p>
            <a:pPr algn="l" indent="0" marL="0">
              <a:lnSpc>
                <a:spcPts val="1794"/>
              </a:lnSpc>
              <a:buNone/>
            </a:pPr>
            <a:r>
              <a:rPr lang="en-US" sz="1300" i="1" dirty="0">
                <a:solidFill>
                  <a:srgbClr val="55505E"/>
                </a:solidFill>
                <a:latin typeface="Source Sans 3" pitchFamily="34" charset="0"/>
                <a:ea typeface="Source Sans 3" pitchFamily="34" charset="-122"/>
                <a:cs typeface="Source Sans 3" pitchFamily="34" charset="-120"/>
              </a:rPr>
              <a:t>The zwitterion H₂C=O⁺–O⁻ in CH₂OO; O⁻H⁺ character in water.</a:t>
            </a:r>
            <a:endParaRPr lang="en-US" sz="1300" dirty="0"/>
          </a:p>
        </p:txBody>
      </p:sp>
      <p:sp>
        <p:nvSpPr>
          <p:cNvPr id="14" name="Shape 12"/>
          <p:cNvSpPr/>
          <p:nvPr/>
        </p:nvSpPr>
        <p:spPr>
          <a:xfrm>
            <a:off x="8097292" y="1330275"/>
            <a:ext cx="3634333" cy="2020838"/>
          </a:xfrm>
          <a:prstGeom prst="roundRect">
            <a:avLst>
              <a:gd name="adj" fmla="val 1728"/>
            </a:avLst>
          </a:prstGeom>
          <a:solidFill>
            <a:srgbClr val="FBFAF7"/>
          </a:solidFill>
          <a:ln w="6350">
            <a:solidFill>
              <a:srgbClr val="DAD3C8"/>
            </a:solidFill>
            <a:prstDash val="solid"/>
          </a:ln>
        </p:spPr>
      </p:sp>
      <p:sp>
        <p:nvSpPr>
          <p:cNvPr id="15" name="Text 13"/>
          <p:cNvSpPr/>
          <p:nvPr/>
        </p:nvSpPr>
        <p:spPr>
          <a:xfrm>
            <a:off x="8290967" y="1498550"/>
            <a:ext cx="3344393"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E2A36"/>
                </a:solidFill>
                <a:latin typeface="Source Serif 4" pitchFamily="18" charset="0"/>
                <a:ea typeface="Source Serif 4" pitchFamily="18" charset="-122"/>
                <a:cs typeface="Source Serif 4" pitchFamily="18" charset="-120"/>
              </a:rPr>
              <a:t>Spin recoupling</a:t>
            </a:r>
            <a:endParaRPr lang="en-US" sz="1900" dirty="0"/>
          </a:p>
        </p:txBody>
      </p:sp>
      <p:sp>
        <p:nvSpPr>
          <p:cNvPr id="16" name="Text 14"/>
          <p:cNvSpPr/>
          <p:nvPr/>
        </p:nvSpPr>
        <p:spPr>
          <a:xfrm>
            <a:off x="8290967" y="1889671"/>
            <a:ext cx="3344393" cy="761355"/>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E2A36"/>
                </a:solidFill>
                <a:latin typeface="Source Sans 3" pitchFamily="34" charset="0"/>
                <a:ea typeface="Source Sans 3" pitchFamily="34" charset="-122"/>
                <a:cs typeface="Source Sans 3" pitchFamily="34" charset="-120"/>
              </a:rPr>
              <a:t>Paired electrons unpair: a singlet bond becomes a biradical, and singlet and triplet fragment channels compete.</a:t>
            </a:r>
            <a:endParaRPr lang="en-US" sz="1400" dirty="0"/>
          </a:p>
        </p:txBody>
      </p:sp>
      <p:sp>
        <p:nvSpPr>
          <p:cNvPr id="17" name="Text 15"/>
          <p:cNvSpPr/>
          <p:nvPr/>
        </p:nvSpPr>
        <p:spPr>
          <a:xfrm>
            <a:off x="8290967" y="2727226"/>
            <a:ext cx="3344393" cy="481012"/>
          </a:xfrm>
          <a:prstGeom prst="rect">
            <a:avLst/>
          </a:prstGeom>
          <a:noFill/>
          <a:ln/>
        </p:spPr>
        <p:txBody>
          <a:bodyPr wrap="square" lIns="0" tIns="0" rIns="0" bIns="0" rtlCol="0" anchor="t">
            <a:normAutofit/>
          </a:bodyPr>
          <a:lstStyle/>
          <a:p>
            <a:pPr algn="l" indent="0" marL="0">
              <a:lnSpc>
                <a:spcPts val="1794"/>
              </a:lnSpc>
              <a:buNone/>
            </a:pPr>
            <a:r>
              <a:rPr lang="en-US" sz="1300" i="1" dirty="0">
                <a:solidFill>
                  <a:srgbClr val="55505E"/>
                </a:solidFill>
                <a:latin typeface="Source Sans 3" pitchFamily="34" charset="0"/>
                <a:ea typeface="Source Sans 3" pitchFamily="34" charset="-122"/>
                <a:cs typeface="Source Sans 3" pitchFamily="34" charset="-120"/>
              </a:rPr>
              <a:t>O(¹D) versus O(³P) products; one-, two- and three-electron H₃.</a:t>
            </a:r>
            <a:endParaRPr lang="en-US" sz="1300" dirty="0"/>
          </a:p>
        </p:txBody>
      </p:sp>
      <p:sp>
        <p:nvSpPr>
          <p:cNvPr id="18" name="Text 16"/>
          <p:cNvSpPr/>
          <p:nvPr/>
        </p:nvSpPr>
        <p:spPr>
          <a:xfrm>
            <a:off x="457200" y="3582888"/>
            <a:ext cx="11277600" cy="524718"/>
          </a:xfrm>
          <a:prstGeom prst="roundRect">
            <a:avLst>
              <a:gd name="adj" fmla="val 4841"/>
            </a:avLst>
          </a:prstGeom>
          <a:solidFill>
            <a:srgbClr val="EFEBF3"/>
          </a:solidFill>
          <a:ln/>
        </p:spPr>
        <p:txBody>
          <a:bodyPr wrap="square" lIns="233861" tIns="132261" rIns="0" bIns="106861" rtlCol="0" anchor="t">
            <a:normAutofit/>
          </a:bodyPr>
          <a:lstStyle/>
          <a:p>
            <a:pPr algn="l" indent="0" marL="0">
              <a:lnSpc>
                <a:spcPts val="1932"/>
              </a:lnSpc>
              <a:buNone/>
            </a:pPr>
            <a:r>
              <a:rPr lang="en-US" sz="1400" dirty="0">
                <a:solidFill>
                  <a:srgbClr val="2E2A36"/>
                </a:solidFill>
                <a:latin typeface="Source Sans 3" pitchFamily="34" charset="0"/>
                <a:ea typeface="Source Sans 3" pitchFamily="34" charset="-122"/>
                <a:cs typeface="Source Sans 3" pitchFamily="34" charset="-120"/>
              </a:rPr>
              <a:t>Each requires more than one electronic state, and the states mix: a multistate description is needed.</a:t>
            </a:r>
            <a:endParaRPr lang="en-US" sz="1400" dirty="0"/>
          </a:p>
        </p:txBody>
      </p:sp>
      <p:sp>
        <p:nvSpPr>
          <p:cNvPr id="19" name="Shape 17"/>
          <p:cNvSpPr/>
          <p:nvPr/>
        </p:nvSpPr>
        <p:spPr>
          <a:xfrm>
            <a:off x="457200" y="3582888"/>
            <a:ext cx="11277600" cy="524718"/>
          </a:xfrm>
          <a:custGeom>
            <a:avLst/>
            <a:gdLst/>
            <a:ahLst/>
            <a:cxnLst/>
            <a:rect l="l" t="t" r="r" b="b"/>
            <a:pathLst>
              <a:path w="11277600" h="524718">
                <a:moveTo>
                  <a:pt x="38100" y="524718"/>
                </a:moveTo>
                <a:lnTo>
                  <a:pt x="25400" y="524718"/>
                </a:lnTo>
                <a:arcTo hR="25400" wR="25400" stAng="5400000" swAng="5400000"/>
                <a:lnTo>
                  <a:pt x="0" y="25400"/>
                </a:lnTo>
                <a:arcTo hR="25400" wR="25400" stAng="10800000" swAng="5400000"/>
                <a:lnTo>
                  <a:pt x="38100" y="0"/>
                </a:lnTo>
                <a:lnTo>
                  <a:pt x="38100" y="524718"/>
                </a:lnTo>
                <a:close/>
              </a:path>
            </a:pathLst>
          </a:custGeom>
          <a:solidFill>
            <a:srgbClr val="C8873A"/>
          </a:solidFill>
          <a:ln/>
        </p:spPr>
      </p:sp>
      <p:sp>
        <p:nvSpPr>
          <p:cNvPr id="20" name="Text 18"/>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INTRODUCTION · REPRESENTATIONS</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Two representations of the same states</a:t>
            </a:r>
            <a:endParaRPr lang="en-US" sz="2700" dirty="0"/>
          </a:p>
        </p:txBody>
      </p:sp>
      <p:pic>
        <p:nvPicPr>
          <p:cNvPr id="6" name="Image 0" descr="Left: diabatic covalent and ionic curves cross smoothly with a decaying coupling. Right: the adiabatic ground and excited states avoid each other while the ground state ionic weight drops from about 0.65 to 0">    </p:cNvPr>
          <p:cNvPicPr>
            <a:picLocks noChangeAspect="1"/>
          </p:cNvPicPr>
          <p:nvPr/>
        </p:nvPicPr>
        <p:blipFill>
          <a:blip r:embed="rId1"/>
          <a:srcRect l="0" r="0" t="-66" b="-66"/>
          <a:stretch/>
        </p:blipFill>
        <p:spPr>
          <a:xfrm>
            <a:off x="457200" y="1327100"/>
            <a:ext cx="9525000" cy="3403600"/>
          </a:xfrm>
          <a:prstGeom prst="rect">
            <a:avLst/>
          </a:prstGeom>
        </p:spPr>
      </p:pic>
      <p:sp>
        <p:nvSpPr>
          <p:cNvPr id="7" name="Text 4"/>
          <p:cNvSpPr/>
          <p:nvPr/>
        </p:nvSpPr>
        <p:spPr>
          <a:xfrm>
            <a:off x="457200" y="4908500"/>
            <a:ext cx="5383394" cy="516037"/>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4A3868"/>
                </a:solidFill>
                <a:latin typeface="Source Sans 3" pitchFamily="34" charset="0"/>
                <a:ea typeface="Source Sans 3" pitchFamily="34" charset="-122"/>
                <a:cs typeface="Source Sans 3" pitchFamily="34" charset="-120"/>
              </a:rPr>
              <a:t>Diabatic:</a:t>
            </a:r>
            <a:r>
              <a:rPr lang="en-US" sz="1400" dirty="0">
                <a:solidFill>
                  <a:srgbClr val="2E2A36"/>
                </a:solidFill>
                <a:latin typeface="Source Sans 3" pitchFamily="34" charset="0"/>
                <a:ea typeface="Source Sans 3" pitchFamily="34" charset="-122"/>
                <a:cs typeface="Source Sans 3" pitchFamily="34" charset="-120"/>
              </a:rPr>
              <a:t> states keep their chemical character (covalent, ionic). Matrix elements are smooth; energies are the eigenvalues of a small matrix.</a:t>
            </a:r>
            <a:endParaRPr lang="en-US" sz="1400" dirty="0"/>
          </a:p>
        </p:txBody>
      </p:sp>
      <p:sp>
        <p:nvSpPr>
          <p:cNvPr id="8" name="Text 5"/>
          <p:cNvSpPr/>
          <p:nvPr/>
        </p:nvSpPr>
        <p:spPr>
          <a:xfrm>
            <a:off x="5988596" y="4908500"/>
            <a:ext cx="5918590" cy="516037"/>
          </a:xfrm>
          <a:prstGeom prst="rect">
            <a:avLst/>
          </a:prstGeom>
          <a:noFill/>
          <a:ln/>
        </p:spPr>
        <p:txBody>
          <a:bodyPr wrap="square" lIns="0" tIns="0" rIns="0" bIns="0" rtlCol="0" anchor="t">
            <a:normAutofit/>
          </a:bodyPr>
          <a:lstStyle/>
          <a:p>
            <a:pPr algn="l" indent="0" marL="0">
              <a:lnSpc>
                <a:spcPts val="1932"/>
              </a:lnSpc>
              <a:buNone/>
            </a:pPr>
            <a:r>
              <a:rPr lang="en-US" sz="1400" b="1" dirty="0">
                <a:solidFill>
                  <a:srgbClr val="4A3868"/>
                </a:solidFill>
                <a:latin typeface="Source Sans 3" pitchFamily="34" charset="0"/>
                <a:ea typeface="Source Sans 3" pitchFamily="34" charset="-122"/>
                <a:cs typeface="Source Sans 3" pitchFamily="34" charset="-120"/>
              </a:rPr>
              <a:t>Adiabatic:</a:t>
            </a:r>
            <a:r>
              <a:rPr lang="en-US" sz="1400" dirty="0">
                <a:solidFill>
                  <a:srgbClr val="2E2A36"/>
                </a:solidFill>
                <a:latin typeface="Source Sans 3" pitchFamily="34" charset="0"/>
                <a:ea typeface="Source Sans 3" pitchFamily="34" charset="-122"/>
                <a:cs typeface="Source Sans 3" pitchFamily="34" charset="-120"/>
              </a:rPr>
              <a:t> what quantum chemistry returns. Character switches, curves bend sharply, and derivative couplings become singular at conical intersections.</a:t>
            </a:r>
            <a:endParaRPr lang="en-US" sz="1400" dirty="0"/>
          </a:p>
        </p:txBody>
      </p:sp>
      <p:sp>
        <p:nvSpPr>
          <p:cNvPr id="9" name="Text 6"/>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Two-state model: covalent Morse curve and Born–Mayer/Coulomb ion pair with exponentially decaying coupling</a:t>
            </a:r>
            <a:endParaRPr lang="en-US" sz="1200" dirty="0"/>
          </a:p>
        </p:txBody>
      </p:sp>
      <p:sp>
        <p:nvSpPr>
          <p:cNvPr id="10" name="Text 7"/>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LEARNING COUPLED SURFACES · MOTIVATION</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Failure modes of single-surface fits on H₃</a:t>
            </a:r>
            <a:endParaRPr lang="en-US" sz="2700" dirty="0"/>
          </a:p>
        </p:txBody>
      </p:sp>
      <p:sp>
        <p:nvSpPr>
          <p:cNvPr id="6" name="Text 4"/>
          <p:cNvSpPr/>
          <p:nvPr/>
        </p:nvSpPr>
        <p:spPr>
          <a:xfrm>
            <a:off x="457200" y="1327100"/>
            <a:ext cx="11615928" cy="270718"/>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55505E"/>
                </a:solidFill>
                <a:latin typeface="Source Sans 3" pitchFamily="34" charset="0"/>
                <a:ea typeface="Source Sans 3" pitchFamily="34" charset="-122"/>
                <a:cs typeface="Source Sans 3" pitchFamily="34" charset="-120"/>
              </a:rPr>
              <a:t>Three single-surface failure modes, each measured on H₃ against FCI:</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9900" y="1788319"/>
          <a:ext cx="11264900" cy="2290713"/>
        </p:xfrm>
        <a:graphic>
          <a:graphicData uri="http://schemas.openxmlformats.org/drawingml/2006/table">
            <a:tbl>
              <a:tblPr/>
              <a:tblGrid>
                <a:gridCol w="2252980"/>
                <a:gridCol w="4280662"/>
                <a:gridCol w="2928874"/>
                <a:gridCol w="1802384"/>
              </a:tblGrid>
              <a:tr h="386011">
                <a:tc>
                  <a:txBody>
                    <a:bodyPr/>
                    <a:lstStyle/>
                    <a:p>
                      <a:pPr indent="0" marL="0">
                        <a:lnSpc>
                          <a:spcPts val="1960"/>
                        </a:lnSpc>
                        <a:buNone/>
                      </a:pPr>
                      <a:r>
                        <a:rPr lang="en-US" sz="1400" b="1" dirty="0">
                          <a:solidFill>
                            <a:srgbClr val="4A3868"/>
                          </a:solidFill>
                          <a:latin typeface="Source Sans 3" pitchFamily="34" charset="0"/>
                          <a:ea typeface="Source Sans 3" pitchFamily="34" charset="-122"/>
                          <a:cs typeface="Source Sans 3" pitchFamily="34" charset="-120"/>
                        </a:rPr>
                        <a:t>Failure mode</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960"/>
                        </a:lnSpc>
                        <a:buNone/>
                      </a:pPr>
                      <a:r>
                        <a:rPr lang="en-US" sz="1400" b="1" dirty="0">
                          <a:solidFill>
                            <a:srgbClr val="4A3868"/>
                          </a:solidFill>
                          <a:latin typeface="Source Sans 3" pitchFamily="34" charset="0"/>
                          <a:ea typeface="Source Sans 3" pitchFamily="34" charset="-122"/>
                          <a:cs typeface="Source Sans 3" pitchFamily="34" charset="-120"/>
                        </a:rPr>
                        <a:t>Test</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960"/>
                        </a:lnSpc>
                        <a:buNone/>
                      </a:pPr>
                      <a:r>
                        <a:rPr lang="en-US" sz="1400" b="1" dirty="0">
                          <a:solidFill>
                            <a:srgbClr val="4A3868"/>
                          </a:solidFill>
                          <a:latin typeface="Source Sans 3" pitchFamily="34" charset="0"/>
                          <a:ea typeface="Source Sans 3" pitchFamily="34" charset="-122"/>
                          <a:cs typeface="Source Sans 3" pitchFamily="34" charset="-120"/>
                        </a:rPr>
                        <a:t>Model result</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960"/>
                        </a:lnSpc>
                        <a:buNone/>
                      </a:pPr>
                      <a:r>
                        <a:rPr lang="en-US" sz="1400" b="1" dirty="0">
                          <a:solidFill>
                            <a:srgbClr val="4A3868"/>
                          </a:solidFill>
                          <a:latin typeface="Source Sans 3" pitchFamily="34" charset="0"/>
                          <a:ea typeface="Source Sans 3" pitchFamily="34" charset="-122"/>
                          <a:cs typeface="Source Sans 3" pitchFamily="34" charset="-120"/>
                        </a:rPr>
                        <a:t>Exact</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r>
              <a:tr h="634901">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Descriptor extrapolation</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Kernel ridge on a cutoff radial descriptor, trained without half-broken bonds</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−104 kcal/mol well at the collinear saddle</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+10.6 kcal/mol barrier</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634901">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Crossing topology</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Two adiabatic states fitted as independent outputs</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 300 meV gap at the conical intersection</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0</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634901">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Permutation symmetry</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Unconstrained matrix model; two identical H atoms relabelled</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0.6–1.1 eV change in energy</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2E2A36"/>
                          </a:solidFill>
                          <a:latin typeface="Source Sans 3" pitchFamily="34" charset="0"/>
                          <a:ea typeface="Source Sans 3" pitchFamily="34" charset="-122"/>
                          <a:cs typeface="Source Sans 3" pitchFamily="34" charset="-120"/>
                        </a:rPr>
                        <a:t>0</a:t>
                      </a:r>
                      <a:endParaRPr lang="en-US" sz="1400" dirty="0">
                        <a:latin typeface="Source Sans 3" charset="0"/>
                        <a:ea typeface="Source Sans 3" charset="0"/>
                        <a:cs typeface="Source Sans 3"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bl>
          </a:graphicData>
        </a:graphic>
      </p:graphicFrame>
      <p:sp>
        <p:nvSpPr>
          <p:cNvPr id="8" name="Text 5"/>
          <p:cNvSpPr/>
          <p:nvPr/>
        </p:nvSpPr>
        <p:spPr>
          <a:xfrm>
            <a:off x="457200" y="4282232"/>
            <a:ext cx="11277600" cy="524718"/>
          </a:xfrm>
          <a:prstGeom prst="roundRect">
            <a:avLst>
              <a:gd name="adj" fmla="val 4841"/>
            </a:avLst>
          </a:prstGeom>
          <a:solidFill>
            <a:srgbClr val="EFEBF3"/>
          </a:solidFill>
          <a:ln/>
        </p:spPr>
        <p:txBody>
          <a:bodyPr wrap="square" lIns="233861" tIns="132261" rIns="0" bIns="106861" rtlCol="0" anchor="t">
            <a:normAutofit/>
          </a:bodyPr>
          <a:lstStyle/>
          <a:p>
            <a:pPr algn="l" indent="0" marL="0">
              <a:lnSpc>
                <a:spcPts val="1932"/>
              </a:lnSpc>
              <a:buNone/>
            </a:pPr>
            <a:r>
              <a:rPr lang="en-US" sz="1400" b="1" dirty="0">
                <a:solidFill>
                  <a:srgbClr val="4A3868"/>
                </a:solidFill>
                <a:latin typeface="Source Sans 3" pitchFamily="34" charset="0"/>
                <a:ea typeface="Source Sans 3" pitchFamily="34" charset="-122"/>
                <a:cs typeface="Source Sans 3" pitchFamily="34" charset="-120"/>
              </a:rPr>
              <a:t>Common cause:</a:t>
            </a:r>
            <a:r>
              <a:rPr lang="en-US" sz="1400" dirty="0">
                <a:solidFill>
                  <a:srgbClr val="2E2A36"/>
                </a:solidFill>
                <a:latin typeface="Source Sans 3" pitchFamily="34" charset="0"/>
                <a:ea typeface="Source Sans 3" pitchFamily="34" charset="-122"/>
                <a:cs typeface="Source Sans 3" pitchFamily="34" charset="-120"/>
              </a:rPr>
              <a:t> nothing in the model encodes crossing topology, identical-particle symmetry, or what happens between bonded and separated.</a:t>
            </a:r>
            <a:endParaRPr lang="en-US" sz="1400" dirty="0"/>
          </a:p>
        </p:txBody>
      </p:sp>
      <p:sp>
        <p:nvSpPr>
          <p:cNvPr id="9" name="Shape 6"/>
          <p:cNvSpPr/>
          <p:nvPr/>
        </p:nvSpPr>
        <p:spPr>
          <a:xfrm>
            <a:off x="457200" y="4282232"/>
            <a:ext cx="11277600" cy="524718"/>
          </a:xfrm>
          <a:custGeom>
            <a:avLst/>
            <a:gdLst/>
            <a:ahLst/>
            <a:cxnLst/>
            <a:rect l="l" t="t" r="r" b="b"/>
            <a:pathLst>
              <a:path w="11277600" h="524718">
                <a:moveTo>
                  <a:pt x="38100" y="524718"/>
                </a:moveTo>
                <a:lnTo>
                  <a:pt x="25400" y="524718"/>
                </a:lnTo>
                <a:arcTo hR="25400" wR="25400" stAng="5400000" swAng="5400000"/>
                <a:lnTo>
                  <a:pt x="0" y="25400"/>
                </a:lnTo>
                <a:arcTo hR="25400" wR="25400" stAng="10800000" swAng="5400000"/>
                <a:lnTo>
                  <a:pt x="38100" y="0"/>
                </a:lnTo>
                <a:lnTo>
                  <a:pt x="38100" y="524718"/>
                </a:lnTo>
                <a:close/>
              </a:path>
            </a:pathLst>
          </a:custGeom>
          <a:solidFill>
            <a:srgbClr val="C8873A"/>
          </a:solidFill>
          <a:ln/>
        </p:spPr>
      </p:sp>
      <p:sp>
        <p:nvSpPr>
          <p:cNvPr id="10" name="Text 7"/>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FCI/cc-pVDZ references for H₃; diabml exploratory notebooks</a:t>
            </a:r>
            <a:endParaRPr lang="en-US" sz="1200" dirty="0"/>
          </a:p>
        </p:txBody>
      </p:sp>
      <p:sp>
        <p:nvSpPr>
          <p:cNvPr id="11" name="Text 8"/>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LEARNING COUPLED SURFACES · CDNN</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Compatibilization by deep neural network</a:t>
            </a:r>
            <a:endParaRPr lang="en-US" sz="2700" dirty="0"/>
          </a:p>
        </p:txBody>
      </p:sp>
      <p:sp>
        <p:nvSpPr>
          <p:cNvPr id="6" name="Text 4"/>
          <p:cNvSpPr/>
          <p:nvPr/>
        </p:nvSpPr>
        <p:spPr>
          <a:xfrm>
            <a:off x="460375" y="1336625"/>
            <a:ext cx="1819870" cy="714970"/>
          </a:xfrm>
          <a:prstGeom prst="roundRect">
            <a:avLst>
              <a:gd name="adj" fmla="val 4885"/>
            </a:avLst>
          </a:prstGeom>
          <a:solidFill>
            <a:srgbClr val="FBFAF7"/>
          </a:solidFill>
          <a:ln w="6350">
            <a:solidFill>
              <a:srgbClr val="DAD3C8"/>
            </a:solidFill>
            <a:prstDash val="solid"/>
          </a:ln>
        </p:spPr>
        <p:txBody>
          <a:bodyPr wrap="square" lIns="81846" tIns="107246" rIns="81846" bIns="81846" rtlCol="0" anchor="t">
            <a:normAutofit/>
          </a:bodyPr>
          <a:lstStyle/>
          <a:p>
            <a:pPr algn="ctr" indent="0" marL="0">
              <a:lnSpc>
                <a:spcPts val="1890"/>
              </a:lnSpc>
              <a:buNone/>
            </a:pPr>
            <a:r>
              <a:rPr lang="en-US" sz="1400" b="1" dirty="0">
                <a:solidFill>
                  <a:srgbClr val="2E2A36"/>
                </a:solidFill>
                <a:latin typeface="Source Sans 3" pitchFamily="34" charset="0"/>
                <a:ea typeface="Source Sans 3" pitchFamily="34" charset="-122"/>
                <a:cs typeface="Source Sans 3" pitchFamily="34" charset="-120"/>
              </a:rPr>
              <a:t>Geometry</a:t>
            </a:r>
            <a:endParaRPr lang="en-US" sz="1400" dirty="0"/>
          </a:p>
          <a:p>
            <a:pPr algn="ctr" indent="0" marL="0">
              <a:lnSpc>
                <a:spcPts val="1890"/>
              </a:lnSpc>
              <a:buNone/>
            </a:pPr>
            <a:r>
              <a:rPr lang="en-US" sz="1400" dirty="0">
                <a:solidFill>
                  <a:srgbClr val="2E2A36"/>
                </a:solidFill>
                <a:latin typeface="Source Sans 3" pitchFamily="34" charset="0"/>
                <a:ea typeface="Source Sans 3" pitchFamily="34" charset="-122"/>
                <a:cs typeface="Source Sans 3" pitchFamily="34" charset="-120"/>
              </a:rPr>
              <a:t>distances R</a:t>
            </a:r>
            <a:endParaRPr lang="en-US" sz="1400" dirty="0"/>
          </a:p>
        </p:txBody>
      </p:sp>
      <p:pic>
        <p:nvPicPr>
          <p:cNvPr id="7" name="Image 0" descr="arrow-right">    </p:cNvPr>
          <p:cNvPicPr>
            <a:picLocks noChangeAspect="1"/>
          </p:cNvPicPr>
          <p:nvPr/>
        </p:nvPicPr>
        <p:blipFill>
          <a:blip r:embed="rId1"/>
          <a:srcRect l="0" r="0" t="0" b="0"/>
          <a:stretch/>
        </p:blipFill>
        <p:spPr>
          <a:xfrm>
            <a:off x="2397720" y="1611561"/>
            <a:ext cx="304800" cy="165100"/>
          </a:xfrm>
          <a:prstGeom prst="rect">
            <a:avLst/>
          </a:prstGeom>
        </p:spPr>
      </p:pic>
      <p:sp>
        <p:nvSpPr>
          <p:cNvPr id="8" name="Text 5"/>
          <p:cNvSpPr/>
          <p:nvPr/>
        </p:nvSpPr>
        <p:spPr>
          <a:xfrm>
            <a:off x="2819995" y="1336625"/>
            <a:ext cx="1819920" cy="714970"/>
          </a:xfrm>
          <a:prstGeom prst="roundRect">
            <a:avLst>
              <a:gd name="adj" fmla="val 4885"/>
            </a:avLst>
          </a:prstGeom>
          <a:solidFill>
            <a:srgbClr val="FBFAF7"/>
          </a:solidFill>
          <a:ln w="6350">
            <a:solidFill>
              <a:srgbClr val="DAD3C8"/>
            </a:solidFill>
            <a:prstDash val="solid"/>
          </a:ln>
        </p:spPr>
        <p:txBody>
          <a:bodyPr wrap="square" lIns="81846" tIns="107246" rIns="81846" bIns="81846" rtlCol="0" anchor="t">
            <a:normAutofit/>
          </a:bodyPr>
          <a:lstStyle/>
          <a:p>
            <a:pPr algn="ctr" indent="0" marL="0">
              <a:lnSpc>
                <a:spcPts val="1890"/>
              </a:lnSpc>
              <a:buNone/>
            </a:pPr>
            <a:r>
              <a:rPr lang="en-US" sz="1400" b="1" dirty="0">
                <a:solidFill>
                  <a:srgbClr val="2E2A36"/>
                </a:solidFill>
                <a:latin typeface="Source Sans 3" pitchFamily="34" charset="0"/>
                <a:ea typeface="Source Sans 3" pitchFamily="34" charset="-122"/>
                <a:cs typeface="Source Sans 3" pitchFamily="34" charset="-120"/>
              </a:rPr>
              <a:t>Neural network</a:t>
            </a:r>
            <a:endParaRPr lang="en-US" sz="1400" dirty="0"/>
          </a:p>
          <a:p>
            <a:pPr algn="ctr" indent="0" marL="0">
              <a:lnSpc>
                <a:spcPts val="1890"/>
              </a:lnSpc>
              <a:buNone/>
            </a:pPr>
            <a:r>
              <a:rPr lang="en-US" sz="1400" dirty="0">
                <a:solidFill>
                  <a:srgbClr val="2E2A36"/>
                </a:solidFill>
                <a:latin typeface="Source Sans 3" pitchFamily="34" charset="0"/>
                <a:ea typeface="Source Sans 3" pitchFamily="34" charset="-122"/>
                <a:cs typeface="Source Sans 3" pitchFamily="34" charset="-120"/>
              </a:rPr>
              <a:t>weights θ</a:t>
            </a:r>
            <a:endParaRPr lang="en-US" sz="1400" dirty="0"/>
          </a:p>
        </p:txBody>
      </p:sp>
      <p:pic>
        <p:nvPicPr>
          <p:cNvPr id="9" name="Image 1" descr="arrow-right">    </p:cNvPr>
          <p:cNvPicPr>
            <a:picLocks noChangeAspect="1"/>
          </p:cNvPicPr>
          <p:nvPr/>
        </p:nvPicPr>
        <p:blipFill>
          <a:blip r:embed="rId2"/>
          <a:srcRect l="0" r="0" t="0" b="0"/>
          <a:stretch/>
        </p:blipFill>
        <p:spPr>
          <a:xfrm>
            <a:off x="4757390" y="1611561"/>
            <a:ext cx="304800" cy="165100"/>
          </a:xfrm>
          <a:prstGeom prst="rect">
            <a:avLst/>
          </a:prstGeom>
        </p:spPr>
      </p:pic>
      <p:sp>
        <p:nvSpPr>
          <p:cNvPr id="10" name="Text 6"/>
          <p:cNvSpPr/>
          <p:nvPr/>
        </p:nvSpPr>
        <p:spPr>
          <a:xfrm>
            <a:off x="5182840" y="1333450"/>
            <a:ext cx="1826270" cy="721320"/>
          </a:xfrm>
          <a:prstGeom prst="roundRect">
            <a:avLst>
              <a:gd name="adj" fmla="val 4402"/>
            </a:avLst>
          </a:prstGeom>
          <a:solidFill>
            <a:srgbClr val="F7EEE3"/>
          </a:solidFill>
          <a:ln w="12700">
            <a:solidFill>
              <a:srgbClr val="C8873A"/>
            </a:solidFill>
            <a:prstDash val="solid"/>
          </a:ln>
        </p:spPr>
        <p:txBody>
          <a:bodyPr wrap="square" lIns="85951" tIns="111351" rIns="85951" bIns="85951" rtlCol="0" anchor="t">
            <a:normAutofit/>
          </a:bodyPr>
          <a:lstStyle/>
          <a:p>
            <a:pPr algn="ctr" indent="0" marL="0">
              <a:lnSpc>
                <a:spcPts val="1890"/>
              </a:lnSpc>
              <a:buNone/>
            </a:pPr>
            <a:r>
              <a:rPr lang="en-US" sz="1400" b="1" dirty="0">
                <a:solidFill>
                  <a:srgbClr val="2E2A36"/>
                </a:solidFill>
                <a:latin typeface="Source Sans 3" pitchFamily="34" charset="0"/>
                <a:ea typeface="Source Sans 3" pitchFamily="34" charset="-122"/>
                <a:cs typeface="Source Sans 3" pitchFamily="34" charset="-120"/>
              </a:rPr>
              <a:t>Matrix Ω(R)</a:t>
            </a:r>
            <a:endParaRPr lang="en-US" sz="1400" dirty="0"/>
          </a:p>
          <a:p>
            <a:pPr algn="ctr" indent="0" marL="0">
              <a:lnSpc>
                <a:spcPts val="1890"/>
              </a:lnSpc>
              <a:buNone/>
            </a:pPr>
            <a:r>
              <a:rPr lang="en-US" sz="1400" dirty="0">
                <a:solidFill>
                  <a:srgbClr val="2E2A36"/>
                </a:solidFill>
                <a:latin typeface="Source Sans 3" pitchFamily="34" charset="0"/>
                <a:ea typeface="Source Sans 3" pitchFamily="34" charset="-122"/>
                <a:cs typeface="Source Sans 3" pitchFamily="34" charset="-120"/>
              </a:rPr>
              <a:t>n × n, symmetric</a:t>
            </a:r>
            <a:endParaRPr lang="en-US" sz="1400" dirty="0"/>
          </a:p>
        </p:txBody>
      </p:sp>
      <p:pic>
        <p:nvPicPr>
          <p:cNvPr id="11" name="Image 2" descr="arrow-right">    </p:cNvPr>
          <p:cNvPicPr>
            <a:picLocks noChangeAspect="1"/>
          </p:cNvPicPr>
          <p:nvPr/>
        </p:nvPicPr>
        <p:blipFill>
          <a:blip r:embed="rId3"/>
          <a:srcRect l="0" r="0" t="0" b="0"/>
          <a:stretch/>
        </p:blipFill>
        <p:spPr>
          <a:xfrm>
            <a:off x="7129760" y="1611561"/>
            <a:ext cx="304800" cy="165100"/>
          </a:xfrm>
          <a:prstGeom prst="rect">
            <a:avLst/>
          </a:prstGeom>
        </p:spPr>
      </p:pic>
      <p:sp>
        <p:nvSpPr>
          <p:cNvPr id="12" name="Text 7"/>
          <p:cNvSpPr/>
          <p:nvPr/>
        </p:nvSpPr>
        <p:spPr>
          <a:xfrm>
            <a:off x="7552035" y="1336625"/>
            <a:ext cx="1819920" cy="714970"/>
          </a:xfrm>
          <a:prstGeom prst="roundRect">
            <a:avLst>
              <a:gd name="adj" fmla="val 4885"/>
            </a:avLst>
          </a:prstGeom>
          <a:solidFill>
            <a:srgbClr val="FBFAF7"/>
          </a:solidFill>
          <a:ln w="6350">
            <a:solidFill>
              <a:srgbClr val="DAD3C8"/>
            </a:solidFill>
            <a:prstDash val="solid"/>
          </a:ln>
        </p:spPr>
        <p:txBody>
          <a:bodyPr wrap="square" lIns="81846" tIns="107246" rIns="81846" bIns="81846" rtlCol="0" anchor="t">
            <a:normAutofit/>
          </a:bodyPr>
          <a:lstStyle/>
          <a:p>
            <a:pPr algn="ctr" indent="0" marL="0">
              <a:lnSpc>
                <a:spcPts val="1890"/>
              </a:lnSpc>
              <a:buNone/>
            </a:pPr>
            <a:r>
              <a:rPr lang="en-US" sz="1400" b="1" dirty="0">
                <a:solidFill>
                  <a:srgbClr val="2E2A36"/>
                </a:solidFill>
                <a:latin typeface="Source Sans 3" pitchFamily="34" charset="0"/>
                <a:ea typeface="Source Sans 3" pitchFamily="34" charset="-122"/>
                <a:cs typeface="Source Sans 3" pitchFamily="34" charset="-120"/>
              </a:rPr>
              <a:t>Diagonalise</a:t>
            </a:r>
            <a:endParaRPr lang="en-US" sz="1400" dirty="0"/>
          </a:p>
          <a:p>
            <a:pPr algn="ctr" indent="0" marL="0">
              <a:lnSpc>
                <a:spcPts val="1890"/>
              </a:lnSpc>
              <a:buNone/>
            </a:pPr>
            <a:r>
              <a:rPr lang="en-US" sz="1400" dirty="0">
                <a:solidFill>
                  <a:srgbClr val="2E2A36"/>
                </a:solidFill>
                <a:latin typeface="Source Sans 3" pitchFamily="34" charset="0"/>
                <a:ea typeface="Source Sans 3" pitchFamily="34" charset="-122"/>
                <a:cs typeface="Source Sans 3" pitchFamily="34" charset="-120"/>
              </a:rPr>
              <a:t>eigvalsh</a:t>
            </a:r>
            <a:endParaRPr lang="en-US" sz="1400" dirty="0"/>
          </a:p>
        </p:txBody>
      </p:sp>
      <p:pic>
        <p:nvPicPr>
          <p:cNvPr id="13" name="Image 3" descr="arrow-right">    </p:cNvPr>
          <p:cNvPicPr>
            <a:picLocks noChangeAspect="1"/>
          </p:cNvPicPr>
          <p:nvPr/>
        </p:nvPicPr>
        <p:blipFill>
          <a:blip r:embed="rId4"/>
          <a:srcRect l="0" r="0" t="0" b="0"/>
          <a:stretch/>
        </p:blipFill>
        <p:spPr>
          <a:xfrm>
            <a:off x="9489430" y="1611561"/>
            <a:ext cx="304800" cy="165100"/>
          </a:xfrm>
          <a:prstGeom prst="rect">
            <a:avLst/>
          </a:prstGeom>
        </p:spPr>
      </p:pic>
      <p:sp>
        <p:nvSpPr>
          <p:cNvPr id="14" name="Text 8"/>
          <p:cNvSpPr/>
          <p:nvPr/>
        </p:nvSpPr>
        <p:spPr>
          <a:xfrm>
            <a:off x="9911705" y="1336625"/>
            <a:ext cx="1819920" cy="714970"/>
          </a:xfrm>
          <a:prstGeom prst="roundRect">
            <a:avLst>
              <a:gd name="adj" fmla="val 4885"/>
            </a:avLst>
          </a:prstGeom>
          <a:solidFill>
            <a:srgbClr val="FBFAF7"/>
          </a:solidFill>
          <a:ln w="6350">
            <a:solidFill>
              <a:srgbClr val="DAD3C8"/>
            </a:solidFill>
            <a:prstDash val="solid"/>
          </a:ln>
        </p:spPr>
        <p:txBody>
          <a:bodyPr wrap="square" lIns="81846" tIns="107246" rIns="81846" bIns="81846" rtlCol="0" anchor="t">
            <a:normAutofit/>
          </a:bodyPr>
          <a:lstStyle/>
          <a:p>
            <a:pPr algn="ctr" indent="0" marL="0">
              <a:lnSpc>
                <a:spcPts val="1890"/>
              </a:lnSpc>
              <a:buNone/>
            </a:pPr>
            <a:r>
              <a:rPr lang="en-US" sz="1400" b="1" dirty="0">
                <a:solidFill>
                  <a:srgbClr val="2E2A36"/>
                </a:solidFill>
                <a:latin typeface="Source Sans 3" pitchFamily="34" charset="0"/>
                <a:ea typeface="Source Sans 3" pitchFamily="34" charset="-122"/>
                <a:cs typeface="Source Sans 3" pitchFamily="34" charset="-120"/>
              </a:rPr>
              <a:t>Energies</a:t>
            </a:r>
            <a:endParaRPr lang="en-US" sz="1400" dirty="0"/>
          </a:p>
          <a:p>
            <a:pPr algn="ctr" indent="0" marL="0">
              <a:lnSpc>
                <a:spcPts val="1890"/>
              </a:lnSpc>
              <a:buNone/>
            </a:pPr>
            <a:r>
              <a:rPr lang="en-US" sz="1400" dirty="0">
                <a:solidFill>
                  <a:srgbClr val="2E2A36"/>
                </a:solidFill>
                <a:latin typeface="Source Sans 3" pitchFamily="34" charset="0"/>
                <a:ea typeface="Source Sans 3" pitchFamily="34" charset="-122"/>
                <a:cs typeface="Source Sans 3" pitchFamily="34" charset="-120"/>
              </a:rPr>
              <a:t>E₁(R) … Eₙ(R)</a:t>
            </a:r>
            <a:endParaRPr lang="en-US" sz="1400" dirty="0"/>
          </a:p>
        </p:txBody>
      </p:sp>
      <p:sp>
        <p:nvSpPr>
          <p:cNvPr id="15" name="Text 9"/>
          <p:cNvSpPr/>
          <p:nvPr/>
        </p:nvSpPr>
        <p:spPr>
          <a:xfrm>
            <a:off x="457200" y="2289721"/>
            <a:ext cx="3680104"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DATA</a:t>
            </a:r>
            <a:endParaRPr lang="en-US" sz="1400" dirty="0"/>
          </a:p>
        </p:txBody>
      </p:sp>
      <p:sp>
        <p:nvSpPr>
          <p:cNvPr id="16" name="Text 10"/>
          <p:cNvSpPr/>
          <p:nvPr/>
        </p:nvSpPr>
        <p:spPr>
          <a:xfrm>
            <a:off x="457200" y="2617341"/>
            <a:ext cx="3680104" cy="735161"/>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Adiabatic energies only. No wavefunctions, couplings or diabatic restraints: the matrix is never told to be diabatic.</a:t>
            </a:r>
            <a:endParaRPr lang="en-US" sz="1350" dirty="0"/>
          </a:p>
        </p:txBody>
      </p:sp>
      <p:sp>
        <p:nvSpPr>
          <p:cNvPr id="17" name="Text 11"/>
          <p:cNvSpPr/>
          <p:nvPr/>
        </p:nvSpPr>
        <p:spPr>
          <a:xfrm>
            <a:off x="4309517" y="2289721"/>
            <a:ext cx="3680155"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TOPOLOGY</a:t>
            </a:r>
            <a:endParaRPr lang="en-US" sz="1400" dirty="0"/>
          </a:p>
        </p:txBody>
      </p:sp>
      <p:sp>
        <p:nvSpPr>
          <p:cNvPr id="18" name="Text 12"/>
          <p:cNvSpPr/>
          <p:nvPr/>
        </p:nvSpPr>
        <p:spPr>
          <a:xfrm>
            <a:off x="4309517" y="2617341"/>
            <a:ext cx="3680155" cy="498574"/>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Conical intersections and avoided crossings follow from the eigenvalues; no cusps are fitted.</a:t>
            </a:r>
            <a:endParaRPr lang="en-US" sz="1350" dirty="0"/>
          </a:p>
        </p:txBody>
      </p:sp>
      <p:sp>
        <p:nvSpPr>
          <p:cNvPr id="19" name="Text 13"/>
          <p:cNvSpPr/>
          <p:nvPr/>
        </p:nvSpPr>
        <p:spPr>
          <a:xfrm>
            <a:off x="8161883" y="2289721"/>
            <a:ext cx="3680104"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DEMONSTRATED</a:t>
            </a:r>
            <a:endParaRPr lang="en-US" sz="1400" dirty="0"/>
          </a:p>
        </p:txBody>
      </p:sp>
      <p:sp>
        <p:nvSpPr>
          <p:cNvPr id="20" name="Text 14"/>
          <p:cNvSpPr/>
          <p:nvPr/>
        </p:nvSpPr>
        <p:spPr>
          <a:xfrm>
            <a:off x="8161883" y="2617341"/>
            <a:ext cx="3680104" cy="735161"/>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LiH (4 states); H₃ at its conical intersection; six states of O₃ over 11,249 geometries (≈ 20 meV mean error).</a:t>
            </a:r>
            <a:endParaRPr lang="en-US" sz="1350" dirty="0"/>
          </a:p>
        </p:txBody>
      </p:sp>
      <p:sp>
        <p:nvSpPr>
          <p:cNvPr id="21" name="Text 15"/>
          <p:cNvSpPr/>
          <p:nvPr/>
        </p:nvSpPr>
        <p:spPr>
          <a:xfrm>
            <a:off x="457200" y="3555702"/>
            <a:ext cx="11277600" cy="515987"/>
          </a:xfrm>
          <a:prstGeom prst="roundRect">
            <a:avLst>
              <a:gd name="adj" fmla="val 4923"/>
            </a:avLst>
          </a:prstGeom>
          <a:solidFill>
            <a:srgbClr val="EFEBF3"/>
          </a:solidFill>
          <a:ln/>
        </p:spPr>
        <p:txBody>
          <a:bodyPr wrap="square" lIns="233861" tIns="132261" rIns="0" bIns="106861"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Compatible matrix:</a:t>
            </a:r>
            <a:r>
              <a:rPr lang="en-US" sz="1350" dirty="0">
                <a:solidFill>
                  <a:srgbClr val="2E2A36"/>
                </a:solidFill>
                <a:latin typeface="Source Sans 3" pitchFamily="34" charset="0"/>
                <a:ea typeface="Source Sans 3" pitchFamily="34" charset="-122"/>
                <a:cs typeface="Source Sans 3" pitchFamily="34" charset="-120"/>
              </a:rPr>
              <a:t> any smooth real symmetric Ω(R) whose eigenvalues are the adiabatic energies. A diabatic matrix is one special case.</a:t>
            </a:r>
            <a:endParaRPr lang="en-US" sz="1350" dirty="0"/>
          </a:p>
        </p:txBody>
      </p:sp>
      <p:sp>
        <p:nvSpPr>
          <p:cNvPr id="22" name="Shape 16"/>
          <p:cNvSpPr/>
          <p:nvPr/>
        </p:nvSpPr>
        <p:spPr>
          <a:xfrm>
            <a:off x="457200" y="3555702"/>
            <a:ext cx="11277600" cy="515987"/>
          </a:xfrm>
          <a:custGeom>
            <a:avLst/>
            <a:gdLst/>
            <a:ahLst/>
            <a:cxnLst/>
            <a:rect l="l" t="t" r="r" b="b"/>
            <a:pathLst>
              <a:path w="11277600" h="515987">
                <a:moveTo>
                  <a:pt x="38100" y="515987"/>
                </a:moveTo>
                <a:lnTo>
                  <a:pt x="25400" y="515987"/>
                </a:lnTo>
                <a:arcTo hR="25400" wR="25400" stAng="5400000" swAng="5400000"/>
                <a:lnTo>
                  <a:pt x="0" y="25400"/>
                </a:lnTo>
                <a:arcTo hR="25400" wR="25400" stAng="10800000" swAng="5400000"/>
                <a:lnTo>
                  <a:pt x="38100" y="0"/>
                </a:lnTo>
                <a:lnTo>
                  <a:pt x="38100" y="515987"/>
                </a:lnTo>
                <a:close/>
              </a:path>
            </a:pathLst>
          </a:custGeom>
          <a:solidFill>
            <a:srgbClr val="C8873A"/>
          </a:solidFill>
          <a:ln/>
        </p:spPr>
      </p:sp>
      <p:sp>
        <p:nvSpPr>
          <p:cNvPr id="23" name="Text 17"/>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Shu, Varga, Zhang, Meng, Parameswaran, Zhou &amp; Truhlar, J. Chem. Theory Comput. 21, 3342 (2025)</a:t>
            </a:r>
            <a:endParaRPr lang="en-US" sz="1200" dirty="0"/>
          </a:p>
        </p:txBody>
      </p:sp>
      <p:sp>
        <p:nvSpPr>
          <p:cNvPr id="24" name="Text 18"/>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NETWORK DETAILS · ARCHITECTURE</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A feed-forward network whose output is a matrix</a:t>
            </a:r>
            <a:endParaRPr lang="en-US" sz="2700" dirty="0"/>
          </a:p>
        </p:txBody>
      </p:sp>
      <p:sp>
        <p:nvSpPr>
          <p:cNvPr id="6" name="Text 4"/>
          <p:cNvSpPr/>
          <p:nvPr/>
        </p:nvSpPr>
        <p:spPr>
          <a:xfrm>
            <a:off x="460375" y="1336625"/>
            <a:ext cx="1515517" cy="903486"/>
          </a:xfrm>
          <a:prstGeom prst="roundRect">
            <a:avLst>
              <a:gd name="adj" fmla="val 3866"/>
            </a:avLst>
          </a:prstGeom>
          <a:solidFill>
            <a:srgbClr val="FBFAF7"/>
          </a:solidFill>
          <a:ln w="6350">
            <a:solidFill>
              <a:srgbClr val="DAD3C8"/>
            </a:solidFill>
            <a:prstDash val="solid"/>
          </a:ln>
        </p:spPr>
        <p:txBody>
          <a:bodyPr wrap="square" lIns="81846" tIns="107246" rIns="81846" bIns="81846" rtlCol="0" anchor="t">
            <a:normAutofit/>
          </a:bodyPr>
          <a:lstStyle/>
          <a:p>
            <a:pPr algn="ctr" indent="0" marL="0">
              <a:lnSpc>
                <a:spcPts val="1755"/>
              </a:lnSpc>
              <a:buNone/>
            </a:pPr>
            <a:r>
              <a:rPr lang="en-US" sz="1300" b="1" dirty="0">
                <a:solidFill>
                  <a:srgbClr val="2E2A36"/>
                </a:solidFill>
                <a:latin typeface="Source Sans 3" pitchFamily="34" charset="0"/>
                <a:ea typeface="Source Sans 3" pitchFamily="34" charset="-122"/>
                <a:cs typeface="Source Sans 3" pitchFamily="34" charset="-120"/>
              </a:rPr>
              <a:t>x ∈ ℝ³</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r₁₂, r₁₃, r₂₃</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standardised</a:t>
            </a:r>
            <a:endParaRPr lang="en-US" sz="1300" dirty="0"/>
          </a:p>
        </p:txBody>
      </p:sp>
      <p:pic>
        <p:nvPicPr>
          <p:cNvPr id="7" name="Image 0" descr="arrow-right">    </p:cNvPr>
          <p:cNvPicPr>
            <a:picLocks noChangeAspect="1"/>
          </p:cNvPicPr>
          <p:nvPr/>
        </p:nvPicPr>
        <p:blipFill>
          <a:blip r:embed="rId1"/>
          <a:srcRect l="0" r="0" t="0" b="0"/>
          <a:stretch/>
        </p:blipFill>
        <p:spPr>
          <a:xfrm>
            <a:off x="2055267" y="1705818"/>
            <a:ext cx="304800" cy="165100"/>
          </a:xfrm>
          <a:prstGeom prst="rect">
            <a:avLst/>
          </a:prstGeom>
        </p:spPr>
      </p:pic>
      <p:sp>
        <p:nvSpPr>
          <p:cNvPr id="8" name="Text 5"/>
          <p:cNvSpPr/>
          <p:nvPr/>
        </p:nvSpPr>
        <p:spPr>
          <a:xfrm>
            <a:off x="2439442" y="1362025"/>
            <a:ext cx="1464766" cy="852686"/>
          </a:xfrm>
          <a:prstGeom prst="roundRect">
            <a:avLst>
              <a:gd name="adj" fmla="val 4096"/>
            </a:avLst>
          </a:prstGeom>
          <a:solidFill>
            <a:srgbClr val="E6E0EE"/>
          </a:solidFill>
          <a:ln w="6350">
            <a:solidFill>
              <a:srgbClr val="C9BEDA"/>
            </a:solidFill>
            <a:prstDash val="solid"/>
          </a:ln>
        </p:spPr>
        <p:txBody>
          <a:bodyPr wrap="square" lIns="56446" tIns="81846" rIns="56446" bIns="56446" rtlCol="0" anchor="t">
            <a:normAutofit/>
          </a:bodyPr>
          <a:lstStyle/>
          <a:p>
            <a:pPr algn="ctr" indent="0" marL="0">
              <a:lnSpc>
                <a:spcPts val="1755"/>
              </a:lnSpc>
              <a:buNone/>
            </a:pPr>
            <a:r>
              <a:rPr lang="en-US" sz="1300" b="1" dirty="0">
                <a:solidFill>
                  <a:srgbClr val="2E2A36"/>
                </a:solidFill>
                <a:latin typeface="Source Sans 3" pitchFamily="34" charset="0"/>
                <a:ea typeface="Source Sans 3" pitchFamily="34" charset="-122"/>
                <a:cs typeface="Source Sans 3" pitchFamily="34" charset="-120"/>
              </a:rPr>
              <a:t>256</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Linear</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 GELU</a:t>
            </a:r>
            <a:endParaRPr lang="en-US" sz="1300" dirty="0"/>
          </a:p>
        </p:txBody>
      </p:sp>
      <p:pic>
        <p:nvPicPr>
          <p:cNvPr id="9" name="Image 1" descr="arrow-right">    </p:cNvPr>
          <p:cNvPicPr>
            <a:picLocks noChangeAspect="1"/>
          </p:cNvPicPr>
          <p:nvPr/>
        </p:nvPicPr>
        <p:blipFill>
          <a:blip r:embed="rId2"/>
          <a:srcRect l="0" r="0" t="0" b="0"/>
          <a:stretch/>
        </p:blipFill>
        <p:spPr>
          <a:xfrm>
            <a:off x="3983583" y="1705818"/>
            <a:ext cx="304800" cy="165100"/>
          </a:xfrm>
          <a:prstGeom prst="rect">
            <a:avLst/>
          </a:prstGeom>
        </p:spPr>
      </p:pic>
      <p:sp>
        <p:nvSpPr>
          <p:cNvPr id="10" name="Text 6"/>
          <p:cNvSpPr/>
          <p:nvPr/>
        </p:nvSpPr>
        <p:spPr>
          <a:xfrm>
            <a:off x="4367758" y="1362025"/>
            <a:ext cx="1464717" cy="852686"/>
          </a:xfrm>
          <a:prstGeom prst="roundRect">
            <a:avLst>
              <a:gd name="adj" fmla="val 4096"/>
            </a:avLst>
          </a:prstGeom>
          <a:solidFill>
            <a:srgbClr val="E6E0EE"/>
          </a:solidFill>
          <a:ln w="6350">
            <a:solidFill>
              <a:srgbClr val="C9BEDA"/>
            </a:solidFill>
            <a:prstDash val="solid"/>
          </a:ln>
        </p:spPr>
        <p:txBody>
          <a:bodyPr wrap="square" lIns="56446" tIns="81846" rIns="56446" bIns="56446" rtlCol="0" anchor="t">
            <a:normAutofit/>
          </a:bodyPr>
          <a:lstStyle/>
          <a:p>
            <a:pPr algn="ctr" indent="0" marL="0">
              <a:lnSpc>
                <a:spcPts val="1755"/>
              </a:lnSpc>
              <a:buNone/>
            </a:pPr>
            <a:r>
              <a:rPr lang="en-US" sz="1300" b="1" dirty="0">
                <a:solidFill>
                  <a:srgbClr val="2E2A36"/>
                </a:solidFill>
                <a:latin typeface="Source Sans 3" pitchFamily="34" charset="0"/>
                <a:ea typeface="Source Sans 3" pitchFamily="34" charset="-122"/>
                <a:cs typeface="Source Sans 3" pitchFamily="34" charset="-120"/>
              </a:rPr>
              <a:t>128</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Linear</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 GELU</a:t>
            </a:r>
            <a:endParaRPr lang="en-US" sz="1300" dirty="0"/>
          </a:p>
        </p:txBody>
      </p:sp>
      <p:pic>
        <p:nvPicPr>
          <p:cNvPr id="11" name="Image 2" descr="arrow-right">    </p:cNvPr>
          <p:cNvPicPr>
            <a:picLocks noChangeAspect="1"/>
          </p:cNvPicPr>
          <p:nvPr/>
        </p:nvPicPr>
        <p:blipFill>
          <a:blip r:embed="rId3"/>
          <a:srcRect l="0" r="0" t="0" b="0"/>
          <a:stretch/>
        </p:blipFill>
        <p:spPr>
          <a:xfrm>
            <a:off x="5911850" y="1705818"/>
            <a:ext cx="304800" cy="165100"/>
          </a:xfrm>
          <a:prstGeom prst="rect">
            <a:avLst/>
          </a:prstGeom>
        </p:spPr>
      </p:pic>
      <p:sp>
        <p:nvSpPr>
          <p:cNvPr id="12" name="Text 7"/>
          <p:cNvSpPr/>
          <p:nvPr/>
        </p:nvSpPr>
        <p:spPr>
          <a:xfrm>
            <a:off x="6296025" y="1362025"/>
            <a:ext cx="1464766" cy="852686"/>
          </a:xfrm>
          <a:prstGeom prst="roundRect">
            <a:avLst>
              <a:gd name="adj" fmla="val 4096"/>
            </a:avLst>
          </a:prstGeom>
          <a:solidFill>
            <a:srgbClr val="E6E0EE"/>
          </a:solidFill>
          <a:ln w="6350">
            <a:solidFill>
              <a:srgbClr val="C9BEDA"/>
            </a:solidFill>
            <a:prstDash val="solid"/>
          </a:ln>
        </p:spPr>
        <p:txBody>
          <a:bodyPr wrap="square" lIns="56446" tIns="81846" rIns="56446" bIns="56446" rtlCol="0" anchor="t">
            <a:normAutofit/>
          </a:bodyPr>
          <a:lstStyle/>
          <a:p>
            <a:pPr algn="ctr" indent="0" marL="0">
              <a:lnSpc>
                <a:spcPts val="1755"/>
              </a:lnSpc>
              <a:buNone/>
            </a:pPr>
            <a:r>
              <a:rPr lang="en-US" sz="1300" b="1" dirty="0">
                <a:solidFill>
                  <a:srgbClr val="2E2A36"/>
                </a:solidFill>
                <a:latin typeface="Source Sans 3" pitchFamily="34" charset="0"/>
                <a:ea typeface="Source Sans 3" pitchFamily="34" charset="-122"/>
                <a:cs typeface="Source Sans 3" pitchFamily="34" charset="-120"/>
              </a:rPr>
              <a:t>64</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Linear</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 GELU</a:t>
            </a:r>
            <a:endParaRPr lang="en-US" sz="1300" dirty="0"/>
          </a:p>
        </p:txBody>
      </p:sp>
      <p:pic>
        <p:nvPicPr>
          <p:cNvPr id="13" name="Image 3" descr="arrow-right">    </p:cNvPr>
          <p:cNvPicPr>
            <a:picLocks noChangeAspect="1"/>
          </p:cNvPicPr>
          <p:nvPr/>
        </p:nvPicPr>
        <p:blipFill>
          <a:blip r:embed="rId4"/>
          <a:srcRect l="0" r="0" t="0" b="0"/>
          <a:stretch/>
        </p:blipFill>
        <p:spPr>
          <a:xfrm>
            <a:off x="7840166" y="1705818"/>
            <a:ext cx="304800" cy="165100"/>
          </a:xfrm>
          <a:prstGeom prst="rect">
            <a:avLst/>
          </a:prstGeom>
        </p:spPr>
      </p:pic>
      <p:sp>
        <p:nvSpPr>
          <p:cNvPr id="14" name="Text 8"/>
          <p:cNvSpPr/>
          <p:nvPr/>
        </p:nvSpPr>
        <p:spPr>
          <a:xfrm>
            <a:off x="8224341" y="1336625"/>
            <a:ext cx="1515517" cy="903486"/>
          </a:xfrm>
          <a:prstGeom prst="roundRect">
            <a:avLst>
              <a:gd name="adj" fmla="val 3866"/>
            </a:avLst>
          </a:prstGeom>
          <a:solidFill>
            <a:srgbClr val="FBFAF7"/>
          </a:solidFill>
          <a:ln w="6350">
            <a:solidFill>
              <a:srgbClr val="DAD3C8"/>
            </a:solidFill>
            <a:prstDash val="solid"/>
          </a:ln>
        </p:spPr>
        <p:txBody>
          <a:bodyPr wrap="square" lIns="81846" tIns="107246" rIns="81846" bIns="81846" rtlCol="0" anchor="t">
            <a:normAutofit/>
          </a:bodyPr>
          <a:lstStyle/>
          <a:p>
            <a:pPr algn="ctr" indent="0" marL="0">
              <a:lnSpc>
                <a:spcPts val="1755"/>
              </a:lnSpc>
              <a:buNone/>
            </a:pPr>
            <a:r>
              <a:rPr lang="en-US" sz="1300" b="1" dirty="0">
                <a:solidFill>
                  <a:srgbClr val="2E2A36"/>
                </a:solidFill>
                <a:latin typeface="Source Sans 3" pitchFamily="34" charset="0"/>
                <a:ea typeface="Source Sans 3" pitchFamily="34" charset="-122"/>
                <a:cs typeface="Source Sans 3" pitchFamily="34" charset="-120"/>
              </a:rPr>
              <a:t>3</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Linear</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Ω₁₁ Ω₂₂ Ω₁₂</a:t>
            </a:r>
            <a:endParaRPr lang="en-US" sz="1300" dirty="0"/>
          </a:p>
        </p:txBody>
      </p:sp>
      <p:pic>
        <p:nvPicPr>
          <p:cNvPr id="15" name="Image 4" descr="arrow-right">    </p:cNvPr>
          <p:cNvPicPr>
            <a:picLocks noChangeAspect="1"/>
          </p:cNvPicPr>
          <p:nvPr/>
        </p:nvPicPr>
        <p:blipFill>
          <a:blip r:embed="rId5"/>
          <a:srcRect l="0" r="0" t="0" b="0"/>
          <a:stretch/>
        </p:blipFill>
        <p:spPr>
          <a:xfrm>
            <a:off x="9819233" y="1705818"/>
            <a:ext cx="304800" cy="165100"/>
          </a:xfrm>
          <a:prstGeom prst="rect">
            <a:avLst/>
          </a:prstGeom>
        </p:spPr>
      </p:pic>
      <p:sp>
        <p:nvSpPr>
          <p:cNvPr id="16" name="Text 9"/>
          <p:cNvSpPr/>
          <p:nvPr/>
        </p:nvSpPr>
        <p:spPr>
          <a:xfrm>
            <a:off x="10206583" y="1333450"/>
            <a:ext cx="1521867" cy="909836"/>
          </a:xfrm>
          <a:prstGeom prst="roundRect">
            <a:avLst>
              <a:gd name="adj" fmla="val 3490"/>
            </a:avLst>
          </a:prstGeom>
          <a:solidFill>
            <a:srgbClr val="F7EEE3"/>
          </a:solidFill>
          <a:ln w="12700">
            <a:solidFill>
              <a:srgbClr val="C8873A"/>
            </a:solidFill>
            <a:prstDash val="solid"/>
          </a:ln>
        </p:spPr>
        <p:txBody>
          <a:bodyPr wrap="square" lIns="85951" tIns="111351" rIns="85951" bIns="85951" rtlCol="0" anchor="t">
            <a:normAutofit/>
          </a:bodyPr>
          <a:lstStyle/>
          <a:p>
            <a:pPr algn="ctr" indent="0" marL="0">
              <a:lnSpc>
                <a:spcPts val="1755"/>
              </a:lnSpc>
              <a:buNone/>
            </a:pPr>
            <a:r>
              <a:rPr lang="en-US" sz="1300" b="1" dirty="0">
                <a:solidFill>
                  <a:srgbClr val="2E2A36"/>
                </a:solidFill>
                <a:latin typeface="Source Sans 3" pitchFamily="34" charset="0"/>
                <a:ea typeface="Source Sans 3" pitchFamily="34" charset="-122"/>
                <a:cs typeface="Source Sans 3" pitchFamily="34" charset="-120"/>
              </a:rPr>
              <a:t>eigvalsh</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λ₁ ≤ λ₂</a:t>
            </a:r>
            <a:endParaRPr lang="en-US" sz="1300" dirty="0"/>
          </a:p>
          <a:p>
            <a:pPr algn="ctr" indent="0" marL="0">
              <a:lnSpc>
                <a:spcPts val="1755"/>
              </a:lnSpc>
              <a:buNone/>
            </a:pPr>
            <a:r>
              <a:rPr lang="en-US" sz="1300" dirty="0">
                <a:solidFill>
                  <a:srgbClr val="2E2A36"/>
                </a:solidFill>
                <a:latin typeface="Source Sans 3" pitchFamily="34" charset="0"/>
                <a:ea typeface="Source Sans 3" pitchFamily="34" charset="-122"/>
                <a:cs typeface="Source Sans 3" pitchFamily="34" charset="-120"/>
              </a:rPr>
              <a:t>= E₀, E₁</a:t>
            </a:r>
            <a:endParaRPr lang="en-US" sz="1300" dirty="0"/>
          </a:p>
        </p:txBody>
      </p:sp>
      <p:sp>
        <p:nvSpPr>
          <p:cNvPr id="17" name="Shape 10"/>
          <p:cNvSpPr/>
          <p:nvPr/>
        </p:nvSpPr>
        <p:spPr>
          <a:xfrm>
            <a:off x="460375" y="2506811"/>
            <a:ext cx="3634284" cy="1726208"/>
          </a:xfrm>
          <a:prstGeom prst="roundRect">
            <a:avLst>
              <a:gd name="adj" fmla="val 2023"/>
            </a:avLst>
          </a:prstGeom>
          <a:solidFill>
            <a:srgbClr val="FBFAF7"/>
          </a:solidFill>
          <a:ln w="6350">
            <a:solidFill>
              <a:srgbClr val="DAD3C8"/>
            </a:solidFill>
            <a:prstDash val="solid"/>
          </a:ln>
        </p:spPr>
      </p:sp>
      <p:sp>
        <p:nvSpPr>
          <p:cNvPr id="18" name="Text 11"/>
          <p:cNvSpPr/>
          <p:nvPr/>
        </p:nvSpPr>
        <p:spPr>
          <a:xfrm>
            <a:off x="654050" y="2675086"/>
            <a:ext cx="3344342"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HIDDEN LAYERS</a:t>
            </a:r>
            <a:endParaRPr lang="en-US" sz="1400" dirty="0"/>
          </a:p>
        </p:txBody>
      </p:sp>
      <p:sp>
        <p:nvSpPr>
          <p:cNvPr id="19" name="Text 12"/>
          <p:cNvSpPr/>
          <p:nvPr/>
        </p:nvSpPr>
        <p:spPr>
          <a:xfrm>
            <a:off x="654050" y="2964607"/>
            <a:ext cx="3344342" cy="271463"/>
          </a:xfrm>
          <a:prstGeom prst="rect">
            <a:avLst/>
          </a:prstGeom>
          <a:noFill/>
          <a:ln/>
        </p:spPr>
        <p:txBody>
          <a:bodyPr wrap="square" lIns="0" tIns="0" rIns="0" bIns="0" rtlCol="0" anchor="t">
            <a:normAutofit/>
          </a:bodyPr>
          <a:lstStyle/>
          <a:p>
            <a:pPr algn="l" indent="0" marL="0">
              <a:lnSpc>
                <a:spcPts val="1938"/>
              </a:lnSpc>
              <a:buNone/>
            </a:pPr>
            <a:r>
              <a:rPr lang="en-US" sz="1250" dirty="0">
                <a:solidFill>
                  <a:srgbClr val="2E2A36"/>
                </a:solidFill>
                <a:latin typeface="JetBrains Mono" pitchFamily="49" charset="0"/>
                <a:ea typeface="JetBrains Mono" pitchFamily="49" charset="-122"/>
                <a:cs typeface="JetBrains Mono" pitchFamily="49" charset="-120"/>
              </a:rPr>
              <a:t>a⁽ˡ⁺¹⁾ = GELU(W⁽ˡ⁾ a⁽ˡ⁾ + b⁽ˡ⁾)</a:t>
            </a:r>
            <a:endParaRPr lang="en-US" sz="1250" dirty="0"/>
          </a:p>
        </p:txBody>
      </p:sp>
      <p:sp>
        <p:nvSpPr>
          <p:cNvPr id="20" name="Text 13"/>
          <p:cNvSpPr/>
          <p:nvPr/>
        </p:nvSpPr>
        <p:spPr>
          <a:xfrm>
            <a:off x="654050" y="3286869"/>
            <a:ext cx="3344342" cy="271463"/>
          </a:xfrm>
          <a:prstGeom prst="rect">
            <a:avLst/>
          </a:prstGeom>
          <a:noFill/>
          <a:ln/>
        </p:spPr>
        <p:txBody>
          <a:bodyPr wrap="square" lIns="0" tIns="0" rIns="0" bIns="0" rtlCol="0" anchor="t">
            <a:normAutofit/>
          </a:bodyPr>
          <a:lstStyle/>
          <a:p>
            <a:pPr algn="l" indent="0" marL="0">
              <a:lnSpc>
                <a:spcPts val="1938"/>
              </a:lnSpc>
              <a:buNone/>
            </a:pPr>
            <a:r>
              <a:rPr lang="en-US" sz="1250" dirty="0">
                <a:solidFill>
                  <a:srgbClr val="2E2A36"/>
                </a:solidFill>
                <a:latin typeface="JetBrains Mono" pitchFamily="49" charset="0"/>
                <a:ea typeface="JetBrains Mono" pitchFamily="49" charset="-122"/>
                <a:cs typeface="JetBrains Mono" pitchFamily="49" charset="-120"/>
              </a:rPr>
              <a:t>GELU(z) = z · Φ(z)</a:t>
            </a:r>
            <a:endParaRPr lang="en-US" sz="1250" dirty="0"/>
          </a:p>
        </p:txBody>
      </p:sp>
      <p:sp>
        <p:nvSpPr>
          <p:cNvPr id="21" name="Text 14"/>
          <p:cNvSpPr/>
          <p:nvPr/>
        </p:nvSpPr>
        <p:spPr>
          <a:xfrm>
            <a:off x="654050" y="3609132"/>
            <a:ext cx="3344342" cy="481012"/>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Φ is the normal CDF: a smooth ReLU, so energies and forces stay continuous.</a:t>
            </a:r>
            <a:endParaRPr lang="en-US" sz="1300" dirty="0"/>
          </a:p>
        </p:txBody>
      </p:sp>
      <p:sp>
        <p:nvSpPr>
          <p:cNvPr id="22" name="Shape 15"/>
          <p:cNvSpPr/>
          <p:nvPr/>
        </p:nvSpPr>
        <p:spPr>
          <a:xfrm>
            <a:off x="4278809" y="2506811"/>
            <a:ext cx="3634333" cy="1726208"/>
          </a:xfrm>
          <a:prstGeom prst="roundRect">
            <a:avLst>
              <a:gd name="adj" fmla="val 2023"/>
            </a:avLst>
          </a:prstGeom>
          <a:solidFill>
            <a:srgbClr val="FBFAF7"/>
          </a:solidFill>
          <a:ln w="6350">
            <a:solidFill>
              <a:srgbClr val="DAD3C8"/>
            </a:solidFill>
            <a:prstDash val="solid"/>
          </a:ln>
        </p:spPr>
      </p:sp>
      <p:sp>
        <p:nvSpPr>
          <p:cNvPr id="23" name="Text 16"/>
          <p:cNvSpPr/>
          <p:nvPr/>
        </p:nvSpPr>
        <p:spPr>
          <a:xfrm>
            <a:off x="4472484" y="2675086"/>
            <a:ext cx="3344393"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OUTPUT HEAD</a:t>
            </a:r>
            <a:endParaRPr lang="en-US" sz="1400" dirty="0"/>
          </a:p>
        </p:txBody>
      </p:sp>
      <p:sp>
        <p:nvSpPr>
          <p:cNvPr id="24" name="Text 17"/>
          <p:cNvSpPr/>
          <p:nvPr/>
        </p:nvSpPr>
        <p:spPr>
          <a:xfrm>
            <a:off x="4472484" y="2964607"/>
            <a:ext cx="3344393" cy="70881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Linear, no activation. For n states it emits the unique matrix elements: n(n+1)/2 dense, 2n−1 tridiagonal, 3n−3 pentadiagonal.</a:t>
            </a:r>
            <a:endParaRPr lang="en-US" sz="1300" dirty="0"/>
          </a:p>
        </p:txBody>
      </p:sp>
      <p:sp>
        <p:nvSpPr>
          <p:cNvPr id="25" name="Text 18"/>
          <p:cNvSpPr/>
          <p:nvPr/>
        </p:nvSpPr>
        <p:spPr>
          <a:xfrm>
            <a:off x="4472484" y="3724225"/>
            <a:ext cx="3344393"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This H₃ model: 42,371 parameters.</a:t>
            </a:r>
            <a:endParaRPr lang="en-US" sz="1300" dirty="0"/>
          </a:p>
        </p:txBody>
      </p:sp>
      <p:sp>
        <p:nvSpPr>
          <p:cNvPr id="26" name="Shape 19"/>
          <p:cNvSpPr/>
          <p:nvPr/>
        </p:nvSpPr>
        <p:spPr>
          <a:xfrm>
            <a:off x="8097292" y="2506811"/>
            <a:ext cx="3634333" cy="1726208"/>
          </a:xfrm>
          <a:prstGeom prst="roundRect">
            <a:avLst>
              <a:gd name="adj" fmla="val 2023"/>
            </a:avLst>
          </a:prstGeom>
          <a:solidFill>
            <a:srgbClr val="FBFAF7"/>
          </a:solidFill>
          <a:ln w="6350">
            <a:solidFill>
              <a:srgbClr val="DAD3C8"/>
            </a:solidFill>
            <a:prstDash val="solid"/>
          </a:ln>
        </p:spPr>
      </p:sp>
      <p:sp>
        <p:nvSpPr>
          <p:cNvPr id="27" name="Text 20"/>
          <p:cNvSpPr/>
          <p:nvPr/>
        </p:nvSpPr>
        <p:spPr>
          <a:xfrm>
            <a:off x="8290967" y="2675086"/>
            <a:ext cx="3344393"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EIGENVALUE LAYER</a:t>
            </a:r>
            <a:endParaRPr lang="en-US" sz="1400" dirty="0"/>
          </a:p>
        </p:txBody>
      </p:sp>
      <p:sp>
        <p:nvSpPr>
          <p:cNvPr id="28" name="Text 21"/>
          <p:cNvSpPr/>
          <p:nvPr/>
        </p:nvSpPr>
        <p:spPr>
          <a:xfrm>
            <a:off x="8290967" y="2964607"/>
            <a:ext cx="3344393" cy="70881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A parameter-free, differentiable eigenvalue solver. The network never predicts energies directly; it predicts a matrix.</a:t>
            </a:r>
            <a:endParaRPr lang="en-US" sz="1300" dirty="0"/>
          </a:p>
        </p:txBody>
      </p:sp>
      <p:sp>
        <p:nvSpPr>
          <p:cNvPr id="29" name="Text 22"/>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Architecture of Shu et al. (2025) for H₃; GELU: Hendrycks &amp; Gimpel, arXiv:1606.08415</a:t>
            </a:r>
            <a:endParaRPr lang="en-US" sz="1200" dirty="0"/>
          </a:p>
        </p:txBody>
      </p:sp>
      <p:sp>
        <p:nvSpPr>
          <p:cNvPr id="30" name="Text 23"/>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NETWORK DETAILS · TRAINING</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Training through a diagonalisation</a:t>
            </a:r>
            <a:endParaRPr lang="en-US" sz="2700" dirty="0"/>
          </a:p>
        </p:txBody>
      </p:sp>
      <p:sp>
        <p:nvSpPr>
          <p:cNvPr id="6" name="Text 4"/>
          <p:cNvSpPr/>
          <p:nvPr/>
        </p:nvSpPr>
        <p:spPr>
          <a:xfrm>
            <a:off x="457200" y="1327100"/>
            <a:ext cx="5650992"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LOSS: EIGENVALUES AGAINST ENERGIES</a:t>
            </a:r>
            <a:endParaRPr lang="en-US" sz="1400" dirty="0"/>
          </a:p>
        </p:txBody>
      </p:sp>
      <p:sp>
        <p:nvSpPr>
          <p:cNvPr id="7" name="Text 5"/>
          <p:cNvSpPr/>
          <p:nvPr/>
        </p:nvSpPr>
        <p:spPr>
          <a:xfrm>
            <a:off x="457200" y="1642021"/>
            <a:ext cx="5650992" cy="517525"/>
          </a:xfrm>
          <a:prstGeom prst="rect">
            <a:avLst/>
          </a:prstGeom>
          <a:noFill/>
          <a:ln/>
        </p:spPr>
        <p:txBody>
          <a:bodyPr wrap="square" lIns="0" tIns="0" rIns="0" bIns="0" rtlCol="0" anchor="t">
            <a:normAutofit/>
          </a:bodyPr>
          <a:lstStyle/>
          <a:p>
            <a:pPr algn="l" indent="0" marL="0">
              <a:lnSpc>
                <a:spcPts val="1938"/>
              </a:lnSpc>
              <a:buNone/>
            </a:pPr>
            <a:r>
              <a:rPr lang="en-US" sz="1250" dirty="0">
                <a:solidFill>
                  <a:srgbClr val="2E2A36"/>
                </a:solidFill>
                <a:latin typeface="JetBrains Mono" pitchFamily="49" charset="0"/>
                <a:ea typeface="JetBrains Mono" pitchFamily="49" charset="-122"/>
                <a:cs typeface="JetBrains Mono" pitchFamily="49" charset="-120"/>
              </a:rPr>
              <a:t>L(θ) = 1/(2Nn) Σ_g Σ_k [λ_k(Ω_θ(R_g)) − V_k,g]²</a:t>
            </a:r>
            <a:endParaRPr lang="en-US" sz="1250" dirty="0"/>
          </a:p>
          <a:p>
            <a:pPr algn="l" indent="0" marL="0">
              <a:lnSpc>
                <a:spcPts val="1938"/>
              </a:lnSpc>
              <a:buNone/>
            </a:pPr>
            <a:r>
              <a:rPr lang="en-US" sz="1250" dirty="0">
                <a:solidFill>
                  <a:srgbClr val="2E2A36"/>
                </a:solidFill>
                <a:latin typeface="JetBrains Mono" pitchFamily="49" charset="0"/>
                <a:ea typeface="JetBrains Mono" pitchFamily="49" charset="-122"/>
                <a:cs typeface="JetBrains Mono" pitchFamily="49" charset="-120"/>
              </a:rPr>
              <a:t>       + (α/2) ‖W‖²</a:t>
            </a:r>
            <a:endParaRPr lang="en-US" sz="1250" dirty="0"/>
          </a:p>
        </p:txBody>
      </p:sp>
      <p:sp>
        <p:nvSpPr>
          <p:cNvPr id="8" name="Text 6"/>
          <p:cNvSpPr/>
          <p:nvPr/>
        </p:nvSpPr>
        <p:spPr>
          <a:xfrm>
            <a:off x="457200" y="2235746"/>
            <a:ext cx="5650992"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EIGENVALUE GRADIENT</a:t>
            </a:r>
            <a:endParaRPr lang="en-US" sz="1400" dirty="0"/>
          </a:p>
        </p:txBody>
      </p:sp>
      <p:sp>
        <p:nvSpPr>
          <p:cNvPr id="9" name="Text 7"/>
          <p:cNvSpPr/>
          <p:nvPr/>
        </p:nvSpPr>
        <p:spPr>
          <a:xfrm>
            <a:off x="457200" y="2550666"/>
            <a:ext cx="5650992" cy="30098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2E2A36"/>
                </a:solidFill>
                <a:latin typeface="JetBrains Mono" pitchFamily="49" charset="0"/>
                <a:ea typeface="JetBrains Mono" pitchFamily="49" charset="-122"/>
                <a:cs typeface="JetBrains Mono" pitchFamily="49" charset="-120"/>
              </a:rPr>
              <a:t>∂λ_k / ∂Ω = v_k v_kᵀ</a:t>
            </a:r>
            <a:endParaRPr lang="en-US" sz="1400" dirty="0"/>
          </a:p>
        </p:txBody>
      </p:sp>
      <p:sp>
        <p:nvSpPr>
          <p:cNvPr id="10" name="Text 8"/>
          <p:cNvSpPr/>
          <p:nvPr/>
        </p:nvSpPr>
        <p:spPr>
          <a:xfrm>
            <a:off x="504063" y="2927846"/>
            <a:ext cx="5597652" cy="735161"/>
          </a:xfrm>
          <a:prstGeom prst="rect">
            <a:avLst/>
          </a:prstGeom>
          <a:noFill/>
          <a:ln/>
        </p:spPr>
        <p:txBody>
          <a:bodyPr wrap="square" lIns="0" tIns="0" rIns="0" bIns="0" rtlCol="0" anchor="t">
            <a:normAutofit/>
          </a:bodyPr>
          <a:lstStyle/>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First-order perturbation theory (Hellmann–Feynman for matrices).</a:t>
            </a:r>
            <a:endParaRPr lang="en-US" sz="1350" dirty="0"/>
          </a:p>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No eigenvalue gap in a denominator, so it stays finite at crossings.</a:t>
            </a:r>
            <a:endParaRPr lang="en-US" sz="1350" dirty="0"/>
          </a:p>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Eigen</a:t>
            </a:r>
            <a:r>
              <a:rPr lang="en-US" sz="1350" i="1" dirty="0">
                <a:solidFill>
                  <a:srgbClr val="2E2A36"/>
                </a:solidFill>
                <a:latin typeface="Source Sans 3" pitchFamily="34" charset="0"/>
                <a:ea typeface="Source Sans 3" pitchFamily="34" charset="-122"/>
                <a:cs typeface="Source Sans 3" pitchFamily="34" charset="-120"/>
              </a:rPr>
              <a:t>vector</a:t>
            </a:r>
            <a:r>
              <a:rPr lang="en-US" sz="1350" dirty="0">
                <a:solidFill>
                  <a:srgbClr val="2E2A36"/>
                </a:solidFill>
                <a:latin typeface="Source Sans 3" pitchFamily="34" charset="0"/>
                <a:ea typeface="Source Sans 3" pitchFamily="34" charset="-122"/>
                <a:cs typeface="Source Sans 3" pitchFamily="34" charset="-120"/>
              </a:rPr>
              <a:t> derivatives contain 1/(λ_j − λ_k); the loss never uses them.</a:t>
            </a:r>
            <a:endParaRPr lang="en-US" sz="1350" dirty="0"/>
          </a:p>
        </p:txBody>
      </p:sp>
      <p:sp>
        <p:nvSpPr>
          <p:cNvPr id="11" name="Shape 9"/>
          <p:cNvSpPr/>
          <p:nvPr/>
        </p:nvSpPr>
        <p:spPr>
          <a:xfrm>
            <a:off x="6248400" y="1327100"/>
            <a:ext cx="5486400" cy="2956520"/>
          </a:xfrm>
          <a:prstGeom prst="roundRect">
            <a:avLst>
              <a:gd name="adj" fmla="val 1289"/>
            </a:avLst>
          </a:prstGeom>
          <a:solidFill>
            <a:srgbClr val="241B33"/>
          </a:solidFill>
          <a:ln/>
        </p:spPr>
      </p:sp>
      <p:sp>
        <p:nvSpPr>
          <p:cNvPr id="12" name="Shape 10"/>
          <p:cNvSpPr/>
          <p:nvPr/>
        </p:nvSpPr>
        <p:spPr>
          <a:xfrm>
            <a:off x="6248400" y="1327100"/>
            <a:ext cx="5486400" cy="2956520"/>
          </a:xfrm>
          <a:custGeom>
            <a:avLst/>
            <a:gdLst/>
            <a:ahLst/>
            <a:cxnLst/>
            <a:rect l="l" t="t" r="r" b="b"/>
            <a:pathLst>
              <a:path w="5486400" h="2956520">
                <a:moveTo>
                  <a:pt x="38100" y="2956520"/>
                </a:moveTo>
                <a:lnTo>
                  <a:pt x="38100" y="2956520"/>
                </a:lnTo>
                <a:arcTo hR="38100" wR="38100" stAng="5400000" swAng="5400000"/>
                <a:lnTo>
                  <a:pt x="0" y="38100"/>
                </a:lnTo>
                <a:arcTo hR="38100" wR="38100" stAng="10800000" swAng="5400000"/>
                <a:lnTo>
                  <a:pt x="38100" y="0"/>
                </a:lnTo>
                <a:lnTo>
                  <a:pt x="38100" y="2956520"/>
                </a:lnTo>
                <a:close/>
              </a:path>
            </a:pathLst>
          </a:custGeom>
          <a:solidFill>
            <a:srgbClr val="C8873A"/>
          </a:solidFill>
          <a:ln/>
        </p:spPr>
      </p:sp>
      <p:sp>
        <p:nvSpPr>
          <p:cNvPr id="13" name="Text 11"/>
          <p:cNvSpPr/>
          <p:nvPr/>
        </p:nvSpPr>
        <p:spPr>
          <a:xfrm>
            <a:off x="6502400" y="1517600"/>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B872"/>
                </a:solidFill>
                <a:latin typeface="Source Sans 3" pitchFamily="34" charset="0"/>
                <a:ea typeface="Source Sans 3" pitchFamily="34" charset="-122"/>
                <a:cs typeface="Source Sans 3" pitchFamily="34" charset="-120"/>
              </a:rPr>
              <a:t>PyTorch, one training step</a:t>
            </a:r>
            <a:endParaRPr lang="en-US" sz="1200" dirty="0"/>
          </a:p>
        </p:txBody>
      </p:sp>
      <p:sp>
        <p:nvSpPr>
          <p:cNvPr id="14" name="Text 12"/>
          <p:cNvSpPr/>
          <p:nvPr/>
        </p:nvSpPr>
        <p:spPr>
          <a:xfrm>
            <a:off x="6502400" y="1807121"/>
            <a:ext cx="5166995" cy="2311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x = (R - mu) / sd</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o = net(x)              </a:t>
            </a:r>
            <a:r>
              <a:rPr lang="en-US" sz="1200" dirty="0">
                <a:solidFill>
                  <a:srgbClr val="B9A6D9"/>
                </a:solidFill>
                <a:latin typeface="JetBrains Mono" pitchFamily="49" charset="0"/>
                <a:ea typeface="JetBrains Mono" pitchFamily="49" charset="-122"/>
                <a:cs typeface="JetBrains Mono" pitchFamily="49" charset="-120"/>
              </a:rPr>
              <a:t># (N, 3)</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Omega = torch.stack(</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[o[:,0], o[:,2], o[:,2], o[:,1]], 1</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).view(-1, 2, 2)</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lam = torch.linalg.eigvalsh(Omega)</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loss = 0.5 * ((lam - V)**2).mean()</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loss += 0.5 * alpha * l2(net)</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loss.backward()          </a:t>
            </a:r>
            <a:r>
              <a:rPr lang="en-US" sz="1200" dirty="0">
                <a:solidFill>
                  <a:srgbClr val="B9A6D9"/>
                </a:solidFill>
                <a:latin typeface="JetBrains Mono" pitchFamily="49" charset="0"/>
                <a:ea typeface="JetBrains Mono" pitchFamily="49" charset="-122"/>
                <a:cs typeface="JetBrains Mono" pitchFamily="49" charset="-120"/>
              </a:rPr>
              <a:t># v vᵀ inside</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opt.step()               </a:t>
            </a:r>
            <a:r>
              <a:rPr lang="en-US" sz="1200" dirty="0">
                <a:solidFill>
                  <a:srgbClr val="B9A6D9"/>
                </a:solidFill>
                <a:latin typeface="JetBrains Mono" pitchFamily="49" charset="0"/>
                <a:ea typeface="JetBrains Mono" pitchFamily="49" charset="-122"/>
                <a:cs typeface="JetBrains Mono" pitchFamily="49" charset="-120"/>
              </a:rPr>
              <a:t># Adam</a:t>
            </a:r>
            <a:endParaRPr lang="en-US" sz="1200" dirty="0"/>
          </a:p>
        </p:txBody>
      </p:sp>
      <p:sp>
        <p:nvSpPr>
          <p:cNvPr id="15" name="Text 13"/>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Loss as in Shu et al. (2025), eq. 5; Adam: Kingma &amp; Ba, arXiv:1412.6980</a:t>
            </a:r>
            <a:endParaRPr lang="en-US" sz="1200" dirty="0"/>
          </a:p>
        </p:txBody>
      </p:sp>
      <p:sp>
        <p:nvSpPr>
          <p:cNvPr id="16" name="Text 14"/>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NETWORK DETAILS · TOPOLOGY</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Why the eigenvalue layer gets crossings right</a:t>
            </a:r>
            <a:endParaRPr lang="en-US" sz="2700" dirty="0"/>
          </a:p>
        </p:txBody>
      </p:sp>
      <p:pic>
        <p:nvPicPr>
          <p:cNvPr id="6" name="Image 0" descr="Left: two smooth curves fitted separately leave an artificial gap at a crossing. Right: eigenvalues of a smooth 2 by 2 matrix are exactly degenerate at the conical intersection">    </p:cNvPr>
          <p:cNvPicPr>
            <a:picLocks noChangeAspect="1"/>
          </p:cNvPicPr>
          <p:nvPr/>
        </p:nvPicPr>
        <p:blipFill>
          <a:blip r:embed="rId1"/>
          <a:srcRect l="0" r="0" t="-38" b="-38"/>
          <a:stretch/>
        </p:blipFill>
        <p:spPr>
          <a:xfrm>
            <a:off x="457200" y="1327100"/>
            <a:ext cx="8890000" cy="2990850"/>
          </a:xfrm>
          <a:prstGeom prst="rect">
            <a:avLst/>
          </a:prstGeom>
        </p:spPr>
      </p:pic>
      <p:sp>
        <p:nvSpPr>
          <p:cNvPr id="7" name="Text 4"/>
          <p:cNvSpPr/>
          <p:nvPr/>
        </p:nvSpPr>
        <p:spPr>
          <a:xfrm>
            <a:off x="457200" y="4508450"/>
            <a:ext cx="5712105" cy="761355"/>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E2A36"/>
                </a:solidFill>
                <a:latin typeface="Source Sans 3" pitchFamily="34" charset="0"/>
                <a:ea typeface="Source Sans 3" pitchFamily="34" charset="-122"/>
                <a:cs typeface="Source Sans 3" pitchFamily="34" charset="-120"/>
              </a:rPr>
              <a:t>E± = m ± √(d² + Ω₁₂²), with m and d the mean and half-difference of the diagonal. The |x|-shaped cusp comes from the square root, so the network itself only has to be smooth.</a:t>
            </a:r>
            <a:endParaRPr lang="en-US" sz="1400" dirty="0"/>
          </a:p>
        </p:txBody>
      </p:sp>
      <p:sp>
        <p:nvSpPr>
          <p:cNvPr id="8" name="Text 5"/>
          <p:cNvSpPr/>
          <p:nvPr/>
        </p:nvSpPr>
        <p:spPr>
          <a:xfrm>
            <a:off x="6307733" y="4508450"/>
            <a:ext cx="5589879" cy="761355"/>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2E2A36"/>
                </a:solidFill>
                <a:latin typeface="Source Sans 3" pitchFamily="34" charset="0"/>
                <a:ea typeface="Source Sans 3" pitchFamily="34" charset="-122"/>
                <a:cs typeface="Source Sans 3" pitchFamily="34" charset="-120"/>
              </a:rPr>
              <a:t>Degeneracy needs </a:t>
            </a:r>
            <a:r>
              <a:rPr lang="en-US" sz="1400" b="1" dirty="0">
                <a:solidFill>
                  <a:srgbClr val="4A3868"/>
                </a:solidFill>
                <a:latin typeface="Source Sans 3" pitchFamily="34" charset="0"/>
                <a:ea typeface="Source Sans 3" pitchFamily="34" charset="-122"/>
                <a:cs typeface="Source Sans 3" pitchFamily="34" charset="-120"/>
              </a:rPr>
              <a:t>two</a:t>
            </a:r>
            <a:r>
              <a:rPr lang="en-US" sz="1400" dirty="0">
                <a:solidFill>
                  <a:srgbClr val="2E2A36"/>
                </a:solidFill>
                <a:latin typeface="Source Sans 3" pitchFamily="34" charset="0"/>
                <a:ea typeface="Source Sans 3" pitchFamily="34" charset="-122"/>
                <a:cs typeface="Source Sans 3" pitchFamily="34" charset="-120"/>
              </a:rPr>
              <a:t> conditions at once, Ω₁₁ = Ω₂₂ and Ω₁₂ = 0 (von Neumann–Wigner). With two or more coordinates they meet at points or seams: conical intersections.</a:t>
            </a:r>
            <a:endParaRPr lang="en-US" sz="1400" dirty="0"/>
          </a:p>
        </p:txBody>
      </p:sp>
      <p:sp>
        <p:nvSpPr>
          <p:cNvPr id="9" name="Text 6"/>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J. von Neumann &amp; E. Wigner, Phys. Z. 30, 467 (1929)</a:t>
            </a:r>
            <a:endParaRPr lang="en-US" sz="1200" dirty="0"/>
          </a:p>
        </p:txBody>
      </p:sp>
      <p:sp>
        <p:nvSpPr>
          <p:cNvPr id="10" name="Text 7"/>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NETWORK DETAILS · INDUCTIVE BIAS</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Building physics in versus hoping it is learned</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9900" y="1339800"/>
          <a:ext cx="11264900" cy="1796604"/>
        </p:xfrm>
        <a:graphic>
          <a:graphicData uri="http://schemas.openxmlformats.org/drawingml/2006/table">
            <a:tbl>
              <a:tblPr/>
              <a:tblGrid>
                <a:gridCol w="4168013"/>
                <a:gridCol w="2140331"/>
                <a:gridCol w="2590927"/>
                <a:gridCol w="2365629"/>
              </a:tblGrid>
              <a:tr h="359321">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Property (H₃)</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Plain CDNN</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 permutation augmentation</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Physics frame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Same energy when identical atoms are relabelled</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0.6–1.1 eV off</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26–118 meV off</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exact</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Degenerate at every equilateral geometry</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0.2–1.6 eV gap</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0.05–0.7 eV gap</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exact</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Correct dissociation limits</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not guaranteed</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not guaranteed</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exact</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Prediction of an untrained model</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random</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random</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the physics prior</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457200" y="3365004"/>
            <a:ext cx="5791357" cy="735161"/>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Augmentation</a:t>
            </a:r>
            <a:r>
              <a:rPr lang="en-US" sz="1350" dirty="0">
                <a:solidFill>
                  <a:srgbClr val="2E2A36"/>
                </a:solidFill>
                <a:latin typeface="Source Sans 3" pitchFamily="34" charset="0"/>
                <a:ea typeface="Source Sans 3" pitchFamily="34" charset="-122"/>
                <a:cs typeface="Source Sans 3" pitchFamily="34" charset="-120"/>
              </a:rPr>
              <a:t> shows the model every relabelled copy of each geometry. It helps, but symmetry stays approximate and the data grow with the group order (6 for H₃).</a:t>
            </a:r>
            <a:endParaRPr lang="en-US" sz="1350" dirty="0"/>
          </a:p>
        </p:txBody>
      </p:sp>
      <p:sp>
        <p:nvSpPr>
          <p:cNvPr id="8" name="Text 5"/>
          <p:cNvSpPr/>
          <p:nvPr/>
        </p:nvSpPr>
        <p:spPr>
          <a:xfrm>
            <a:off x="6384677" y="3365004"/>
            <a:ext cx="5510627" cy="735161"/>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Construction</a:t>
            </a:r>
            <a:r>
              <a:rPr lang="en-US" sz="1350" dirty="0">
                <a:solidFill>
                  <a:srgbClr val="2E2A36"/>
                </a:solidFill>
                <a:latin typeface="Source Sans 3" pitchFamily="34" charset="0"/>
                <a:ea typeface="Source Sans 3" pitchFamily="34" charset="-122"/>
                <a:cs typeface="Source Sans 3" pitchFamily="34" charset="-120"/>
              </a:rPr>
              <a:t> makes symmetry hold for any weights, as convolutions do for translations in images and equivariant networks (NequIP, MACE) do for rotations.</a:t>
            </a:r>
            <a:endParaRPr lang="en-US" sz="1350" dirty="0"/>
          </a:p>
        </p:txBody>
      </p:sp>
      <p:sp>
        <p:nvSpPr>
          <p:cNvPr id="9" name="Text 6"/>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Global H₃ surface, 25–200 training geometries; held-out test geometries; FCI/cc-pVDZ</a:t>
            </a:r>
            <a:endParaRPr lang="en-US" sz="1200" dirty="0"/>
          </a:p>
        </p:txBody>
      </p:sp>
      <p:sp>
        <p:nvSpPr>
          <p:cNvPr id="10" name="Text 7"/>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PHYSICS FRAMES · THE IDEA</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A physics frame: structures first, corrections second</a:t>
            </a:r>
            <a:endParaRPr lang="en-US" sz="2700" dirty="0"/>
          </a:p>
        </p:txBody>
      </p:sp>
      <p:sp>
        <p:nvSpPr>
          <p:cNvPr id="6" name="Text 4"/>
          <p:cNvSpPr/>
          <p:nvPr/>
        </p:nvSpPr>
        <p:spPr>
          <a:xfrm>
            <a:off x="460375" y="1330275"/>
            <a:ext cx="11271250" cy="740370"/>
          </a:xfrm>
          <a:prstGeom prst="roundRect">
            <a:avLst>
              <a:gd name="adj" fmla="val 4717"/>
            </a:avLst>
          </a:prstGeom>
          <a:solidFill>
            <a:srgbClr val="FBFAF7"/>
          </a:solidFill>
          <a:ln w="6350">
            <a:solidFill>
              <a:srgbClr val="DAD3C8"/>
            </a:solidFill>
            <a:prstDash val="solid"/>
          </a:ln>
        </p:spPr>
        <p:txBody>
          <a:bodyPr wrap="square" lIns="46349" tIns="208846" rIns="46349" bIns="183446" rtlCol="0" anchor="t">
            <a:normAutofit/>
          </a:bodyPr>
          <a:lstStyle/>
          <a:p>
            <a:pPr algn="ctr" indent="0" marL="0">
              <a:lnSpc>
                <a:spcPts val="2380"/>
              </a:lnSpc>
              <a:buNone/>
            </a:pPr>
            <a:r>
              <a:rPr lang="en-US" sz="1700" dirty="0">
                <a:solidFill>
                  <a:srgbClr val="2E2A36"/>
                </a:solidFill>
                <a:latin typeface="JetBrains Mono" pitchFamily="49" charset="0"/>
                <a:ea typeface="JetBrains Mono" pitchFamily="49" charset="-122"/>
                <a:cs typeface="JetBrains Mono" pitchFamily="49" charset="-120"/>
              </a:rPr>
              <a:t>Ω(R) = </a:t>
            </a:r>
            <a:r>
              <a:rPr lang="en-US" sz="1700" dirty="0">
                <a:solidFill>
                  <a:srgbClr val="1F5FAE"/>
                </a:solidFill>
                <a:latin typeface="JetBrains Mono" pitchFamily="49" charset="0"/>
                <a:ea typeface="JetBrains Mono" pitchFamily="49" charset="-122"/>
                <a:cs typeface="JetBrains Mono" pitchFamily="49" charset="-120"/>
              </a:rPr>
              <a:t>Ω_frame(R; fragment states)</a:t>
            </a:r>
            <a:r>
              <a:rPr lang="en-US" sz="1700" dirty="0">
                <a:solidFill>
                  <a:srgbClr val="2E2A36"/>
                </a:solidFill>
                <a:latin typeface="JetBrains Mono" pitchFamily="49" charset="0"/>
                <a:ea typeface="JetBrains Mono" pitchFamily="49" charset="-122"/>
                <a:cs typeface="JetBrains Mono" pitchFamily="49" charset="-120"/>
              </a:rPr>
              <a:t> + </a:t>
            </a:r>
            <a:r>
              <a:rPr lang="en-US" sz="1700" dirty="0">
                <a:solidFill>
                  <a:srgbClr val="0E7A52"/>
                </a:solidFill>
                <a:latin typeface="JetBrains Mono" pitchFamily="49" charset="0"/>
                <a:ea typeface="JetBrains Mono" pitchFamily="49" charset="-122"/>
                <a:cs typeface="JetBrains Mono" pitchFamily="49" charset="-120"/>
              </a:rPr>
              <a:t>env(R)</a:t>
            </a:r>
            <a:r>
              <a:rPr lang="en-US" sz="1700" dirty="0">
                <a:solidFill>
                  <a:srgbClr val="2E2A36"/>
                </a:solidFill>
                <a:latin typeface="JetBrains Mono" pitchFamily="49" charset="0"/>
                <a:ea typeface="JetBrains Mono" pitchFamily="49" charset="-122"/>
                <a:cs typeface="JetBrains Mono" pitchFamily="49" charset="-120"/>
              </a:rPr>
              <a:t> · </a:t>
            </a:r>
            <a:r>
              <a:rPr lang="en-US" sz="1700" dirty="0">
                <a:solidFill>
                  <a:srgbClr val="B4531F"/>
                </a:solidFill>
                <a:latin typeface="JetBrains Mono" pitchFamily="49" charset="0"/>
                <a:ea typeface="JetBrains Mono" pitchFamily="49" charset="-122"/>
                <a:cs typeface="JetBrains Mono" pitchFamily="49" charset="-120"/>
              </a:rPr>
              <a:t>NN_θ(x(R))</a:t>
            </a:r>
            <a:endParaRPr lang="en-US" sz="1700" dirty="0"/>
          </a:p>
        </p:txBody>
      </p:sp>
      <p:sp>
        <p:nvSpPr>
          <p:cNvPr id="7" name="Text 5"/>
          <p:cNvSpPr/>
          <p:nvPr/>
        </p:nvSpPr>
        <p:spPr>
          <a:xfrm>
            <a:off x="457200" y="2327821"/>
            <a:ext cx="3680104"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STRUCTURES</a:t>
            </a:r>
            <a:endParaRPr lang="en-US" sz="1400" dirty="0"/>
          </a:p>
        </p:txBody>
      </p:sp>
      <p:sp>
        <p:nvSpPr>
          <p:cNvPr id="8" name="Text 6"/>
          <p:cNvSpPr/>
          <p:nvPr/>
        </p:nvSpPr>
        <p:spPr>
          <a:xfrm>
            <a:off x="457200" y="2655441"/>
            <a:ext cx="3680104" cy="735161"/>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Rows and columns are chemical structures (covalent, ionic, biradical), labelled by the fragment states they dissociate to.</a:t>
            </a:r>
            <a:endParaRPr lang="en-US" sz="1350" dirty="0"/>
          </a:p>
        </p:txBody>
      </p:sp>
      <p:sp>
        <p:nvSpPr>
          <p:cNvPr id="9" name="Text 7"/>
          <p:cNvSpPr/>
          <p:nvPr/>
        </p:nvSpPr>
        <p:spPr>
          <a:xfrm>
            <a:off x="4309517" y="2327821"/>
            <a:ext cx="3680155"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SYMMETRY</a:t>
            </a:r>
            <a:endParaRPr lang="en-US" sz="1400" dirty="0"/>
          </a:p>
        </p:txBody>
      </p:sp>
      <p:sp>
        <p:nvSpPr>
          <p:cNvPr id="10" name="Text 8"/>
          <p:cNvSpPr/>
          <p:nvPr/>
        </p:nvSpPr>
        <p:spPr>
          <a:xfrm>
            <a:off x="4309517" y="2655441"/>
            <a:ext cx="3680155" cy="735161"/>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Matrix elements transform as the structures do, so degeneracies and permutation invariance hold for any weights.</a:t>
            </a:r>
            <a:endParaRPr lang="en-US" sz="1350" dirty="0"/>
          </a:p>
        </p:txBody>
      </p:sp>
      <p:sp>
        <p:nvSpPr>
          <p:cNvPr id="11" name="Text 9"/>
          <p:cNvSpPr/>
          <p:nvPr/>
        </p:nvSpPr>
        <p:spPr>
          <a:xfrm>
            <a:off x="8161883" y="2327821"/>
            <a:ext cx="3680104"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LIMITS</a:t>
            </a:r>
            <a:endParaRPr lang="en-US" sz="1400" dirty="0"/>
          </a:p>
        </p:txBody>
      </p:sp>
      <p:sp>
        <p:nvSpPr>
          <p:cNvPr id="12" name="Text 10"/>
          <p:cNvSpPr/>
          <p:nvPr/>
        </p:nvSpPr>
        <p:spPr>
          <a:xfrm>
            <a:off x="8161883" y="2655441"/>
            <a:ext cx="3680104" cy="735161"/>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Fragment energies are exact at dissociation; every learned term is multiplied by an envelope that vanishes there.</a:t>
            </a:r>
            <a:endParaRPr lang="en-US" sz="1350" dirty="0"/>
          </a:p>
        </p:txBody>
      </p:sp>
      <p:sp>
        <p:nvSpPr>
          <p:cNvPr id="13" name="Text 11"/>
          <p:cNvSpPr/>
          <p:nvPr/>
        </p:nvSpPr>
        <p:spPr>
          <a:xfrm>
            <a:off x="457200" y="3619202"/>
            <a:ext cx="11277600" cy="524718"/>
          </a:xfrm>
          <a:prstGeom prst="roundRect">
            <a:avLst>
              <a:gd name="adj" fmla="val 4841"/>
            </a:avLst>
          </a:prstGeom>
          <a:solidFill>
            <a:srgbClr val="EFEBF3"/>
          </a:solidFill>
          <a:ln/>
        </p:spPr>
        <p:txBody>
          <a:bodyPr wrap="square" lIns="233861" tIns="132261" rIns="0" bIns="106861" rtlCol="0" anchor="t">
            <a:normAutofit/>
          </a:bodyPr>
          <a:lstStyle/>
          <a:p>
            <a:pPr algn="l" indent="0" marL="0">
              <a:lnSpc>
                <a:spcPts val="1932"/>
              </a:lnSpc>
              <a:buNone/>
            </a:pPr>
            <a:r>
              <a:rPr lang="en-US" sz="1400" dirty="0">
                <a:solidFill>
                  <a:srgbClr val="2E2A36"/>
                </a:solidFill>
                <a:latin typeface="Source Sans 3" pitchFamily="34" charset="0"/>
                <a:ea typeface="Source Sans 3" pitchFamily="34" charset="-122"/>
                <a:cs typeface="Source Sans 3" pitchFamily="34" charset="-120"/>
              </a:rPr>
              <a:t>Output layers start at zero: an untrained model </a:t>
            </a:r>
            <a:r>
              <a:rPr lang="en-US" sz="1400" i="1" dirty="0">
                <a:solidFill>
                  <a:srgbClr val="2E2A36"/>
                </a:solidFill>
                <a:latin typeface="Source Sans 3" pitchFamily="34" charset="0"/>
                <a:ea typeface="Source Sans 3" pitchFamily="34" charset="-122"/>
                <a:cs typeface="Source Sans 3" pitchFamily="34" charset="-120"/>
              </a:rPr>
              <a:t>is</a:t>
            </a:r>
            <a:r>
              <a:rPr lang="en-US" sz="1400" dirty="0">
                <a:solidFill>
                  <a:srgbClr val="2E2A36"/>
                </a:solidFill>
                <a:latin typeface="Source Sans 3" pitchFamily="34" charset="0"/>
                <a:ea typeface="Source Sans 3" pitchFamily="34" charset="-122"/>
                <a:cs typeface="Source Sans 3" pitchFamily="34" charset="-120"/>
              </a:rPr>
              <a:t> the physics prior, and training learns only what the prior misses.</a:t>
            </a:r>
            <a:endParaRPr lang="en-US" sz="1400" dirty="0"/>
          </a:p>
        </p:txBody>
      </p:sp>
      <p:sp>
        <p:nvSpPr>
          <p:cNvPr id="14" name="Shape 12"/>
          <p:cNvSpPr/>
          <p:nvPr/>
        </p:nvSpPr>
        <p:spPr>
          <a:xfrm>
            <a:off x="457200" y="3619202"/>
            <a:ext cx="11277600" cy="524718"/>
          </a:xfrm>
          <a:custGeom>
            <a:avLst/>
            <a:gdLst/>
            <a:ahLst/>
            <a:cxnLst/>
            <a:rect l="l" t="t" r="r" b="b"/>
            <a:pathLst>
              <a:path w="11277600" h="524718">
                <a:moveTo>
                  <a:pt x="38100" y="524718"/>
                </a:moveTo>
                <a:lnTo>
                  <a:pt x="25400" y="524718"/>
                </a:lnTo>
                <a:arcTo hR="25400" wR="25400" stAng="5400000" swAng="5400000"/>
                <a:lnTo>
                  <a:pt x="0" y="25400"/>
                </a:lnTo>
                <a:arcTo hR="25400" wR="25400" stAng="10800000" swAng="5400000"/>
                <a:lnTo>
                  <a:pt x="38100" y="0"/>
                </a:lnTo>
                <a:lnTo>
                  <a:pt x="38100" y="524718"/>
                </a:lnTo>
                <a:close/>
              </a:path>
            </a:pathLst>
          </a:custGeom>
          <a:solidFill>
            <a:srgbClr val="C8873A"/>
          </a:solidFill>
          <a:ln/>
        </p:spPr>
      </p:sp>
      <p:sp>
        <p:nvSpPr>
          <p:cNvPr id="15" name="Text 13"/>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Lineage: London (1929); Sato (1955); Ellison (1963); Warshel &amp; Weiss (1980); Yin et al. (2021)</a:t>
            </a:r>
            <a:endParaRPr lang="en-US" sz="1200" dirty="0"/>
          </a:p>
        </p:txBody>
      </p:sp>
      <p:sp>
        <p:nvSpPr>
          <p:cNvPr id="16" name="Text 14"/>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PHYSICS FRAMES · BACKGROUND</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London, 1929: a reaction is a competition between bonds</a:t>
            </a:r>
            <a:endParaRPr lang="en-US" sz="2700" dirty="0"/>
          </a:p>
        </p:txBody>
      </p:sp>
      <p:sp>
        <p:nvSpPr>
          <p:cNvPr id="6" name="Shape 4"/>
          <p:cNvSpPr/>
          <p:nvPr/>
        </p:nvSpPr>
        <p:spPr>
          <a:xfrm>
            <a:off x="460375" y="1441698"/>
            <a:ext cx="3397250" cy="958155"/>
          </a:xfrm>
          <a:prstGeom prst="roundRect">
            <a:avLst>
              <a:gd name="adj" fmla="val 3645"/>
            </a:avLst>
          </a:prstGeom>
          <a:solidFill>
            <a:srgbClr val="FBFAF7"/>
          </a:solidFill>
          <a:ln w="6350">
            <a:solidFill>
              <a:srgbClr val="DAD3C8"/>
            </a:solidFill>
            <a:prstDash val="solid"/>
          </a:ln>
        </p:spPr>
      </p:sp>
      <p:sp>
        <p:nvSpPr>
          <p:cNvPr id="7" name="Text 5"/>
          <p:cNvSpPr/>
          <p:nvPr/>
        </p:nvSpPr>
        <p:spPr>
          <a:xfrm>
            <a:off x="569658" y="1597273"/>
            <a:ext cx="3178683" cy="398760"/>
          </a:xfrm>
          <a:prstGeom prst="rect">
            <a:avLst/>
          </a:prstGeom>
          <a:noFill/>
          <a:ln/>
        </p:spPr>
        <p:txBody>
          <a:bodyPr wrap="square" lIns="0" tIns="0" rIns="0" bIns="0" rtlCol="0" anchor="t">
            <a:normAutofit/>
          </a:bodyPr>
          <a:lstStyle/>
          <a:p>
            <a:pPr algn="ctr" indent="0" marL="0">
              <a:lnSpc>
                <a:spcPts val="2940"/>
              </a:lnSpc>
              <a:buNone/>
            </a:pPr>
            <a:r>
              <a:rPr lang="en-US" sz="2100" dirty="0">
                <a:solidFill>
                  <a:srgbClr val="2E2A36"/>
                </a:solidFill>
                <a:latin typeface="JetBrains Mono" pitchFamily="49" charset="0"/>
                <a:ea typeface="JetBrains Mono" pitchFamily="49" charset="-122"/>
                <a:cs typeface="JetBrains Mono" pitchFamily="49" charset="-120"/>
              </a:rPr>
              <a:t>H–H · · · H</a:t>
            </a:r>
            <a:endParaRPr lang="en-US" sz="2100" dirty="0"/>
          </a:p>
        </p:txBody>
      </p:sp>
      <p:sp>
        <p:nvSpPr>
          <p:cNvPr id="8" name="Text 6"/>
          <p:cNvSpPr/>
          <p:nvPr/>
        </p:nvSpPr>
        <p:spPr>
          <a:xfrm>
            <a:off x="569658" y="2021433"/>
            <a:ext cx="3178683" cy="248245"/>
          </a:xfrm>
          <a:prstGeom prst="rect">
            <a:avLst/>
          </a:prstGeom>
          <a:noFill/>
          <a:ln/>
        </p:spPr>
        <p:txBody>
          <a:bodyPr wrap="square" lIns="0" tIns="0" rIns="0" bIns="0" rtlCol="0" anchor="t">
            <a:normAutofit/>
          </a:bodyPr>
          <a:lstStyle/>
          <a:p>
            <a:pPr algn="ctr" indent="0" marL="0">
              <a:lnSpc>
                <a:spcPts val="1755"/>
              </a:lnSpc>
              <a:buNone/>
            </a:pPr>
            <a:r>
              <a:rPr lang="en-US" sz="1300" b="1" dirty="0">
                <a:solidFill>
                  <a:srgbClr val="4A3868"/>
                </a:solidFill>
                <a:latin typeface="Source Sans 3" pitchFamily="34" charset="0"/>
                <a:ea typeface="Source Sans 3" pitchFamily="34" charset="-122"/>
                <a:cs typeface="Source Sans 3" pitchFamily="34" charset="-120"/>
              </a:rPr>
              <a:t>Before:</a:t>
            </a:r>
            <a:r>
              <a:rPr lang="en-US" sz="1300" dirty="0">
                <a:solidFill>
                  <a:srgbClr val="2E2A36"/>
                </a:solidFill>
                <a:latin typeface="Source Sans 3" pitchFamily="34" charset="0"/>
                <a:ea typeface="Source Sans 3" pitchFamily="34" charset="-122"/>
                <a:cs typeface="Source Sans 3" pitchFamily="34" charset="-120"/>
              </a:rPr>
              <a:t> one full bond, one spectator atom</a:t>
            </a:r>
            <a:endParaRPr lang="en-US" sz="1300" dirty="0"/>
          </a:p>
        </p:txBody>
      </p:sp>
      <p:pic>
        <p:nvPicPr>
          <p:cNvPr id="9" name="Image 0" descr="arrow-right">    </p:cNvPr>
          <p:cNvPicPr>
            <a:picLocks noChangeAspect="1"/>
          </p:cNvPicPr>
          <p:nvPr/>
        </p:nvPicPr>
        <p:blipFill>
          <a:blip r:embed="rId1"/>
          <a:srcRect l="0" r="0" t="0" b="0"/>
          <a:stretch/>
        </p:blipFill>
        <p:spPr>
          <a:xfrm>
            <a:off x="3975100" y="1838226"/>
            <a:ext cx="304800" cy="165100"/>
          </a:xfrm>
          <a:prstGeom prst="rect">
            <a:avLst/>
          </a:prstGeom>
        </p:spPr>
      </p:pic>
      <p:sp>
        <p:nvSpPr>
          <p:cNvPr id="10" name="Shape 7"/>
          <p:cNvSpPr/>
          <p:nvPr/>
        </p:nvSpPr>
        <p:spPr>
          <a:xfrm>
            <a:off x="4397375" y="1330275"/>
            <a:ext cx="3397250" cy="1181001"/>
          </a:xfrm>
          <a:prstGeom prst="roundRect">
            <a:avLst>
              <a:gd name="adj" fmla="val 2957"/>
            </a:avLst>
          </a:prstGeom>
          <a:solidFill>
            <a:srgbClr val="F7EEE3"/>
          </a:solidFill>
          <a:ln w="6350">
            <a:solidFill>
              <a:srgbClr val="DAD3C8"/>
            </a:solidFill>
            <a:prstDash val="solid"/>
          </a:ln>
        </p:spPr>
      </p:sp>
      <p:sp>
        <p:nvSpPr>
          <p:cNvPr id="11" name="Text 8"/>
          <p:cNvSpPr/>
          <p:nvPr/>
        </p:nvSpPr>
        <p:spPr>
          <a:xfrm>
            <a:off x="4506659" y="1485850"/>
            <a:ext cx="3178683" cy="398760"/>
          </a:xfrm>
          <a:prstGeom prst="rect">
            <a:avLst/>
          </a:prstGeom>
          <a:noFill/>
          <a:ln/>
        </p:spPr>
        <p:txBody>
          <a:bodyPr wrap="square" lIns="0" tIns="0" rIns="0" bIns="0" rtlCol="0" anchor="t">
            <a:normAutofit/>
          </a:bodyPr>
          <a:lstStyle/>
          <a:p>
            <a:pPr algn="ctr" indent="0" marL="0">
              <a:lnSpc>
                <a:spcPts val="2940"/>
              </a:lnSpc>
              <a:buNone/>
            </a:pPr>
            <a:r>
              <a:rPr lang="en-US" sz="2100" dirty="0">
                <a:solidFill>
                  <a:srgbClr val="2E2A36"/>
                </a:solidFill>
                <a:latin typeface="JetBrains Mono" pitchFamily="49" charset="0"/>
                <a:ea typeface="JetBrains Mono" pitchFamily="49" charset="-122"/>
                <a:cs typeface="JetBrains Mono" pitchFamily="49" charset="-120"/>
              </a:rPr>
              <a:t>H · · H · · H</a:t>
            </a:r>
            <a:endParaRPr lang="en-US" sz="2100" dirty="0"/>
          </a:p>
        </p:txBody>
      </p:sp>
      <p:sp>
        <p:nvSpPr>
          <p:cNvPr id="12" name="Text 9"/>
          <p:cNvSpPr/>
          <p:nvPr/>
        </p:nvSpPr>
        <p:spPr>
          <a:xfrm>
            <a:off x="4506659" y="1910011"/>
            <a:ext cx="3178683" cy="471091"/>
          </a:xfrm>
          <a:prstGeom prst="rect">
            <a:avLst/>
          </a:prstGeom>
          <a:noFill/>
          <a:ln/>
        </p:spPr>
        <p:txBody>
          <a:bodyPr wrap="square" lIns="0" tIns="0" rIns="0" bIns="0" rtlCol="0" anchor="t">
            <a:normAutofit/>
          </a:bodyPr>
          <a:lstStyle/>
          <a:p>
            <a:pPr algn="ctr" indent="0" marL="0">
              <a:lnSpc>
                <a:spcPts val="1755"/>
              </a:lnSpc>
              <a:buNone/>
            </a:pPr>
            <a:r>
              <a:rPr lang="en-US" sz="1300" b="1" dirty="0">
                <a:solidFill>
                  <a:srgbClr val="4A3868"/>
                </a:solidFill>
                <a:latin typeface="Source Sans 3" pitchFamily="34" charset="0"/>
                <a:ea typeface="Source Sans 3" pitchFamily="34" charset="-122"/>
                <a:cs typeface="Source Sans 3" pitchFamily="34" charset="-120"/>
              </a:rPr>
              <a:t>Halfway:</a:t>
            </a:r>
            <a:r>
              <a:rPr lang="en-US" sz="1300" dirty="0">
                <a:solidFill>
                  <a:srgbClr val="2E2A36"/>
                </a:solidFill>
                <a:latin typeface="Source Sans 3" pitchFamily="34" charset="0"/>
                <a:ea typeface="Source Sans 3" pitchFamily="34" charset="-122"/>
                <a:cs typeface="Source Sans 3" pitchFamily="34" charset="-120"/>
              </a:rPr>
              <a:t> two half-bonds; energy rises: the barrier</a:t>
            </a:r>
            <a:endParaRPr lang="en-US" sz="1300" dirty="0"/>
          </a:p>
        </p:txBody>
      </p:sp>
      <p:pic>
        <p:nvPicPr>
          <p:cNvPr id="13" name="Image 1" descr="arrow-right">    </p:cNvPr>
          <p:cNvPicPr>
            <a:picLocks noChangeAspect="1"/>
          </p:cNvPicPr>
          <p:nvPr/>
        </p:nvPicPr>
        <p:blipFill>
          <a:blip r:embed="rId2"/>
          <a:srcRect l="0" r="0" t="0" b="0"/>
          <a:stretch/>
        </p:blipFill>
        <p:spPr>
          <a:xfrm>
            <a:off x="7912100" y="1838226"/>
            <a:ext cx="304800" cy="165100"/>
          </a:xfrm>
          <a:prstGeom prst="rect">
            <a:avLst/>
          </a:prstGeom>
        </p:spPr>
      </p:pic>
      <p:sp>
        <p:nvSpPr>
          <p:cNvPr id="14" name="Shape 10"/>
          <p:cNvSpPr/>
          <p:nvPr/>
        </p:nvSpPr>
        <p:spPr>
          <a:xfrm>
            <a:off x="8334375" y="1441698"/>
            <a:ext cx="3397250" cy="958155"/>
          </a:xfrm>
          <a:prstGeom prst="roundRect">
            <a:avLst>
              <a:gd name="adj" fmla="val 3645"/>
            </a:avLst>
          </a:prstGeom>
          <a:solidFill>
            <a:srgbClr val="FBFAF7"/>
          </a:solidFill>
          <a:ln w="6350">
            <a:solidFill>
              <a:srgbClr val="DAD3C8"/>
            </a:solidFill>
            <a:prstDash val="solid"/>
          </a:ln>
        </p:spPr>
      </p:sp>
      <p:sp>
        <p:nvSpPr>
          <p:cNvPr id="15" name="Text 11"/>
          <p:cNvSpPr/>
          <p:nvPr/>
        </p:nvSpPr>
        <p:spPr>
          <a:xfrm>
            <a:off x="8443659" y="1597273"/>
            <a:ext cx="3178683" cy="398760"/>
          </a:xfrm>
          <a:prstGeom prst="rect">
            <a:avLst/>
          </a:prstGeom>
          <a:noFill/>
          <a:ln/>
        </p:spPr>
        <p:txBody>
          <a:bodyPr wrap="square" lIns="0" tIns="0" rIns="0" bIns="0" rtlCol="0" anchor="t">
            <a:normAutofit/>
          </a:bodyPr>
          <a:lstStyle/>
          <a:p>
            <a:pPr algn="ctr" indent="0" marL="0">
              <a:lnSpc>
                <a:spcPts val="2940"/>
              </a:lnSpc>
              <a:buNone/>
            </a:pPr>
            <a:r>
              <a:rPr lang="en-US" sz="2100" dirty="0">
                <a:solidFill>
                  <a:srgbClr val="2E2A36"/>
                </a:solidFill>
                <a:latin typeface="JetBrains Mono" pitchFamily="49" charset="0"/>
                <a:ea typeface="JetBrains Mono" pitchFamily="49" charset="-122"/>
                <a:cs typeface="JetBrains Mono" pitchFamily="49" charset="-120"/>
              </a:rPr>
              <a:t>H · · · H–H</a:t>
            </a:r>
            <a:endParaRPr lang="en-US" sz="2100" dirty="0"/>
          </a:p>
        </p:txBody>
      </p:sp>
      <p:sp>
        <p:nvSpPr>
          <p:cNvPr id="16" name="Text 12"/>
          <p:cNvSpPr/>
          <p:nvPr/>
        </p:nvSpPr>
        <p:spPr>
          <a:xfrm>
            <a:off x="8337550" y="2021433"/>
            <a:ext cx="3390900" cy="248245"/>
          </a:xfrm>
          <a:prstGeom prst="rect">
            <a:avLst/>
          </a:prstGeom>
          <a:noFill/>
          <a:ln/>
        </p:spPr>
        <p:txBody>
          <a:bodyPr wrap="square" lIns="0" tIns="0" rIns="0" bIns="0" rtlCol="0" anchor="t">
            <a:normAutofit/>
          </a:bodyPr>
          <a:lstStyle/>
          <a:p>
            <a:pPr algn="ctr" indent="0" marL="0">
              <a:lnSpc>
                <a:spcPts val="1755"/>
              </a:lnSpc>
              <a:buNone/>
            </a:pPr>
            <a:r>
              <a:rPr lang="en-US" sz="1300" b="1" dirty="0">
                <a:solidFill>
                  <a:srgbClr val="4A3868"/>
                </a:solidFill>
                <a:latin typeface="Source Sans 3" pitchFamily="34" charset="0"/>
                <a:ea typeface="Source Sans 3" pitchFamily="34" charset="-122"/>
                <a:cs typeface="Source Sans 3" pitchFamily="34" charset="-120"/>
              </a:rPr>
              <a:t>After:</a:t>
            </a:r>
            <a:r>
              <a:rPr lang="en-US" sz="1300" dirty="0">
                <a:solidFill>
                  <a:srgbClr val="2E2A36"/>
                </a:solidFill>
                <a:latin typeface="Source Sans 3" pitchFamily="34" charset="0"/>
                <a:ea typeface="Source Sans 3" pitchFamily="34" charset="-122"/>
                <a:cs typeface="Source Sans 3" pitchFamily="34" charset="-120"/>
              </a:rPr>
              <a:t> the bond has moved to the other side</a:t>
            </a:r>
            <a:endParaRPr lang="en-US" sz="1300" dirty="0"/>
          </a:p>
        </p:txBody>
      </p:sp>
      <p:sp>
        <p:nvSpPr>
          <p:cNvPr id="17" name="Text 13"/>
          <p:cNvSpPr/>
          <p:nvPr/>
        </p:nvSpPr>
        <p:spPr>
          <a:xfrm>
            <a:off x="504063" y="2730351"/>
            <a:ext cx="5407978" cy="1208336"/>
          </a:xfrm>
          <a:prstGeom prst="rect">
            <a:avLst/>
          </a:prstGeom>
          <a:noFill/>
          <a:ln/>
        </p:spPr>
        <p:txBody>
          <a:bodyPr wrap="square" lIns="0" tIns="0" rIns="0" bIns="0" rtlCol="0" anchor="t">
            <a:normAutofit/>
          </a:bodyPr>
          <a:lstStyle/>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Three electrons can make only </a:t>
            </a:r>
            <a:r>
              <a:rPr lang="en-US" sz="1350" b="1" dirty="0">
                <a:solidFill>
                  <a:srgbClr val="4A3868"/>
                </a:solidFill>
                <a:latin typeface="Source Sans 3" pitchFamily="34" charset="0"/>
                <a:ea typeface="Source Sans 3" pitchFamily="34" charset="-122"/>
                <a:cs typeface="Source Sans 3" pitchFamily="34" charset="-120"/>
              </a:rPr>
              <a:t>one</a:t>
            </a:r>
            <a:r>
              <a:rPr lang="en-US" sz="1350" dirty="0">
                <a:solidFill>
                  <a:srgbClr val="2E2A36"/>
                </a:solidFill>
                <a:latin typeface="Source Sans 3" pitchFamily="34" charset="0"/>
                <a:ea typeface="Source Sans 3" pitchFamily="34" charset="-122"/>
                <a:cs typeface="Source Sans 3" pitchFamily="34" charset="-120"/>
              </a:rPr>
              <a:t> electron-pair bond at a time.</a:t>
            </a:r>
            <a:endParaRPr lang="en-US" sz="1350" dirty="0"/>
          </a:p>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The energy of H₃ is built from pieces measured on H₂, one per pair of atoms: </a:t>
            </a:r>
            <a:r>
              <a:rPr lang="en-US" sz="1350" b="1" dirty="0">
                <a:solidFill>
                  <a:srgbClr val="4A3868"/>
                </a:solidFill>
                <a:latin typeface="Source Sans 3" pitchFamily="34" charset="0"/>
                <a:ea typeface="Source Sans 3" pitchFamily="34" charset="-122"/>
                <a:cs typeface="Source Sans 3" pitchFamily="34" charset="-120"/>
              </a:rPr>
              <a:t>Q</a:t>
            </a:r>
            <a:r>
              <a:rPr lang="en-US" sz="1350" dirty="0">
                <a:solidFill>
                  <a:srgbClr val="2E2A36"/>
                </a:solidFill>
                <a:latin typeface="Source Sans 3" pitchFamily="34" charset="0"/>
                <a:ea typeface="Source Sans 3" pitchFamily="34" charset="-122"/>
                <a:cs typeface="Source Sans 3" pitchFamily="34" charset="-120"/>
              </a:rPr>
              <a:t>, the Coulomb energy, and </a:t>
            </a:r>
            <a:r>
              <a:rPr lang="en-US" sz="1350" b="1" dirty="0">
                <a:solidFill>
                  <a:srgbClr val="4A3868"/>
                </a:solidFill>
                <a:latin typeface="Source Sans 3" pitchFamily="34" charset="0"/>
                <a:ea typeface="Source Sans 3" pitchFamily="34" charset="-122"/>
                <a:cs typeface="Source Sans 3" pitchFamily="34" charset="-120"/>
              </a:rPr>
              <a:t>J</a:t>
            </a:r>
            <a:r>
              <a:rPr lang="en-US" sz="1350" dirty="0">
                <a:solidFill>
                  <a:srgbClr val="2E2A36"/>
                </a:solidFill>
                <a:latin typeface="Source Sans 3" pitchFamily="34" charset="0"/>
                <a:ea typeface="Source Sans 3" pitchFamily="34" charset="-122"/>
                <a:cs typeface="Source Sans 3" pitchFamily="34" charset="-120"/>
              </a:rPr>
              <a:t>, the exchange energy that makes a bond when two electrons pair.</a:t>
            </a:r>
            <a:endParaRPr lang="en-US" sz="1350" dirty="0"/>
          </a:p>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From H₂: bond (singlet) = Q + J; no bond (triplet) = Q − J.</a:t>
            </a:r>
            <a:endParaRPr lang="en-US" sz="1350" dirty="0"/>
          </a:p>
        </p:txBody>
      </p:sp>
      <p:sp>
        <p:nvSpPr>
          <p:cNvPr id="18" name="Shape 14"/>
          <p:cNvSpPr/>
          <p:nvPr/>
        </p:nvSpPr>
        <p:spPr>
          <a:xfrm>
            <a:off x="6042025" y="2733526"/>
            <a:ext cx="5689600" cy="1808163"/>
          </a:xfrm>
          <a:prstGeom prst="roundRect">
            <a:avLst>
              <a:gd name="adj" fmla="val 1932"/>
            </a:avLst>
          </a:prstGeom>
          <a:solidFill>
            <a:srgbClr val="FBFAF7"/>
          </a:solidFill>
          <a:ln w="6350">
            <a:solidFill>
              <a:srgbClr val="DAD3C8"/>
            </a:solidFill>
            <a:prstDash val="solid"/>
          </a:ln>
        </p:spPr>
      </p:sp>
      <p:sp>
        <p:nvSpPr>
          <p:cNvPr id="19" name="Text 15"/>
          <p:cNvSpPr/>
          <p:nvPr/>
        </p:nvSpPr>
        <p:spPr>
          <a:xfrm>
            <a:off x="6235700" y="2901801"/>
            <a:ext cx="5461317" cy="763588"/>
          </a:xfrm>
          <a:prstGeom prst="rect">
            <a:avLst/>
          </a:prstGeom>
          <a:noFill/>
          <a:ln/>
        </p:spPr>
        <p:txBody>
          <a:bodyPr wrap="square" lIns="0" tIns="0" rIns="0" bIns="0" rtlCol="0" anchor="t">
            <a:normAutofit/>
          </a:bodyPr>
          <a:lstStyle/>
          <a:p>
            <a:pPr algn="l" indent="0" marL="0">
              <a:lnSpc>
                <a:spcPts val="1938"/>
              </a:lnSpc>
              <a:buNone/>
            </a:pPr>
            <a:r>
              <a:rPr lang="en-US" sz="1250" dirty="0">
                <a:solidFill>
                  <a:srgbClr val="2E2A36"/>
                </a:solidFill>
                <a:latin typeface="JetBrains Mono" pitchFamily="49" charset="0"/>
                <a:ea typeface="JetBrains Mono" pitchFamily="49" charset="-122"/>
                <a:cs typeface="JetBrains Mono" pitchFamily="49" charset="-120"/>
              </a:rPr>
              <a:t>E = Q</a:t>
            </a:r>
            <a:r>
              <a:rPr lang="en-US" sz="1250" dirty="0">
                <a:solidFill>
                  <a:srgbClr val="7A7480"/>
                </a:solidFill>
                <a:latin typeface="JetBrains Mono" pitchFamily="49" charset="0"/>
                <a:ea typeface="JetBrains Mono" pitchFamily="49" charset="-122"/>
                <a:cs typeface="JetBrains Mono" pitchFamily="49" charset="-120"/>
              </a:rPr>
              <a:t>ab</a:t>
            </a:r>
            <a:r>
              <a:rPr lang="en-US" sz="1250" dirty="0">
                <a:solidFill>
                  <a:srgbClr val="2E2A36"/>
                </a:solidFill>
                <a:latin typeface="JetBrains Mono" pitchFamily="49" charset="0"/>
                <a:ea typeface="JetBrains Mono" pitchFamily="49" charset="-122"/>
                <a:cs typeface="JetBrains Mono" pitchFamily="49" charset="-120"/>
              </a:rPr>
              <a:t> + Q</a:t>
            </a:r>
            <a:r>
              <a:rPr lang="en-US" sz="1250" dirty="0">
                <a:solidFill>
                  <a:srgbClr val="7A7480"/>
                </a:solidFill>
                <a:latin typeface="JetBrains Mono" pitchFamily="49" charset="0"/>
                <a:ea typeface="JetBrains Mono" pitchFamily="49" charset="-122"/>
                <a:cs typeface="JetBrains Mono" pitchFamily="49" charset="-120"/>
              </a:rPr>
              <a:t>bc</a:t>
            </a:r>
            <a:r>
              <a:rPr lang="en-US" sz="1250" dirty="0">
                <a:solidFill>
                  <a:srgbClr val="2E2A36"/>
                </a:solidFill>
                <a:latin typeface="JetBrains Mono" pitchFamily="49" charset="0"/>
                <a:ea typeface="JetBrains Mono" pitchFamily="49" charset="-122"/>
                <a:cs typeface="JetBrains Mono" pitchFamily="49" charset="-120"/>
              </a:rPr>
              <a:t> + Q</a:t>
            </a:r>
            <a:r>
              <a:rPr lang="en-US" sz="1250" dirty="0">
                <a:solidFill>
                  <a:srgbClr val="7A7480"/>
                </a:solidFill>
                <a:latin typeface="JetBrains Mono" pitchFamily="49" charset="0"/>
                <a:ea typeface="JetBrains Mono" pitchFamily="49" charset="-122"/>
                <a:cs typeface="JetBrains Mono" pitchFamily="49" charset="-120"/>
              </a:rPr>
              <a:t>ac</a:t>
            </a:r>
            <a:endParaRPr lang="en-US" sz="1250" dirty="0"/>
          </a:p>
          <a:p>
            <a:pPr algn="l" indent="0" marL="0">
              <a:lnSpc>
                <a:spcPts val="1938"/>
              </a:lnSpc>
              <a:buNone/>
            </a:pPr>
            <a:r>
              <a:rPr lang="en-US" sz="1250" dirty="0">
                <a:solidFill>
                  <a:srgbClr val="2E2A36"/>
                </a:solidFill>
                <a:latin typeface="JetBrains Mono" pitchFamily="49" charset="0"/>
                <a:ea typeface="JetBrains Mono" pitchFamily="49" charset="-122"/>
                <a:cs typeface="JetBrains Mono" pitchFamily="49" charset="-120"/>
              </a:rPr>
              <a:t>  − √½[(J</a:t>
            </a:r>
            <a:r>
              <a:rPr lang="en-US" sz="1250" dirty="0">
                <a:solidFill>
                  <a:srgbClr val="7A7480"/>
                </a:solidFill>
                <a:latin typeface="JetBrains Mono" pitchFamily="49" charset="0"/>
                <a:ea typeface="JetBrains Mono" pitchFamily="49" charset="-122"/>
                <a:cs typeface="JetBrains Mono" pitchFamily="49" charset="-120"/>
              </a:rPr>
              <a:t>ab</a:t>
            </a:r>
            <a:r>
              <a:rPr lang="en-US" sz="1250" dirty="0">
                <a:solidFill>
                  <a:srgbClr val="2E2A36"/>
                </a:solidFill>
                <a:latin typeface="JetBrains Mono" pitchFamily="49" charset="0"/>
                <a:ea typeface="JetBrains Mono" pitchFamily="49" charset="-122"/>
                <a:cs typeface="JetBrains Mono" pitchFamily="49" charset="-120"/>
              </a:rPr>
              <a:t>−J</a:t>
            </a:r>
            <a:r>
              <a:rPr lang="en-US" sz="1250" dirty="0">
                <a:solidFill>
                  <a:srgbClr val="7A7480"/>
                </a:solidFill>
                <a:latin typeface="JetBrains Mono" pitchFamily="49" charset="0"/>
                <a:ea typeface="JetBrains Mono" pitchFamily="49" charset="-122"/>
                <a:cs typeface="JetBrains Mono" pitchFamily="49" charset="-120"/>
              </a:rPr>
              <a:t>bc</a:t>
            </a:r>
            <a:r>
              <a:rPr lang="en-US" sz="1250" dirty="0">
                <a:solidFill>
                  <a:srgbClr val="2E2A36"/>
                </a:solidFill>
                <a:latin typeface="JetBrains Mono" pitchFamily="49" charset="0"/>
                <a:ea typeface="JetBrains Mono" pitchFamily="49" charset="-122"/>
                <a:cs typeface="JetBrains Mono" pitchFamily="49" charset="-120"/>
              </a:rPr>
              <a:t>)² + (J</a:t>
            </a:r>
            <a:r>
              <a:rPr lang="en-US" sz="1250" dirty="0">
                <a:solidFill>
                  <a:srgbClr val="7A7480"/>
                </a:solidFill>
                <a:latin typeface="JetBrains Mono" pitchFamily="49" charset="0"/>
                <a:ea typeface="JetBrains Mono" pitchFamily="49" charset="-122"/>
                <a:cs typeface="JetBrains Mono" pitchFamily="49" charset="-120"/>
              </a:rPr>
              <a:t>bc</a:t>
            </a:r>
            <a:r>
              <a:rPr lang="en-US" sz="1250" dirty="0">
                <a:solidFill>
                  <a:srgbClr val="2E2A36"/>
                </a:solidFill>
                <a:latin typeface="JetBrains Mono" pitchFamily="49" charset="0"/>
                <a:ea typeface="JetBrains Mono" pitchFamily="49" charset="-122"/>
                <a:cs typeface="JetBrains Mono" pitchFamily="49" charset="-120"/>
              </a:rPr>
              <a:t>−J</a:t>
            </a:r>
            <a:r>
              <a:rPr lang="en-US" sz="1250" dirty="0">
                <a:solidFill>
                  <a:srgbClr val="7A7480"/>
                </a:solidFill>
                <a:latin typeface="JetBrains Mono" pitchFamily="49" charset="0"/>
                <a:ea typeface="JetBrains Mono" pitchFamily="49" charset="-122"/>
                <a:cs typeface="JetBrains Mono" pitchFamily="49" charset="-120"/>
              </a:rPr>
              <a:t>ac</a:t>
            </a:r>
            <a:r>
              <a:rPr lang="en-US" sz="1250" dirty="0">
                <a:solidFill>
                  <a:srgbClr val="2E2A36"/>
                </a:solidFill>
                <a:latin typeface="JetBrains Mono" pitchFamily="49" charset="0"/>
                <a:ea typeface="JetBrains Mono" pitchFamily="49" charset="-122"/>
                <a:cs typeface="JetBrains Mono" pitchFamily="49" charset="-120"/>
              </a:rPr>
              <a:t>)²</a:t>
            </a:r>
            <a:endParaRPr lang="en-US" sz="1250" dirty="0"/>
          </a:p>
          <a:p>
            <a:pPr algn="l" indent="0" marL="0">
              <a:lnSpc>
                <a:spcPts val="1938"/>
              </a:lnSpc>
              <a:buNone/>
            </a:pPr>
            <a:r>
              <a:rPr lang="en-US" sz="1250" dirty="0">
                <a:solidFill>
                  <a:srgbClr val="2E2A36"/>
                </a:solidFill>
                <a:latin typeface="JetBrains Mono" pitchFamily="49" charset="0"/>
                <a:ea typeface="JetBrains Mono" pitchFamily="49" charset="-122"/>
                <a:cs typeface="JetBrains Mono" pitchFamily="49" charset="-120"/>
              </a:rPr>
              <a:t>       + (J</a:t>
            </a:r>
            <a:r>
              <a:rPr lang="en-US" sz="1250" dirty="0">
                <a:solidFill>
                  <a:srgbClr val="7A7480"/>
                </a:solidFill>
                <a:latin typeface="JetBrains Mono" pitchFamily="49" charset="0"/>
                <a:ea typeface="JetBrains Mono" pitchFamily="49" charset="-122"/>
                <a:cs typeface="JetBrains Mono" pitchFamily="49" charset="-120"/>
              </a:rPr>
              <a:t>ac</a:t>
            </a:r>
            <a:r>
              <a:rPr lang="en-US" sz="1250" dirty="0">
                <a:solidFill>
                  <a:srgbClr val="2E2A36"/>
                </a:solidFill>
                <a:latin typeface="JetBrains Mono" pitchFamily="49" charset="0"/>
                <a:ea typeface="JetBrains Mono" pitchFamily="49" charset="-122"/>
                <a:cs typeface="JetBrains Mono" pitchFamily="49" charset="-120"/>
              </a:rPr>
              <a:t>−J</a:t>
            </a:r>
            <a:r>
              <a:rPr lang="en-US" sz="1250" dirty="0">
                <a:solidFill>
                  <a:srgbClr val="7A7480"/>
                </a:solidFill>
                <a:latin typeface="JetBrains Mono" pitchFamily="49" charset="0"/>
                <a:ea typeface="JetBrains Mono" pitchFamily="49" charset="-122"/>
                <a:cs typeface="JetBrains Mono" pitchFamily="49" charset="-120"/>
              </a:rPr>
              <a:t>ab</a:t>
            </a:r>
            <a:r>
              <a:rPr lang="en-US" sz="1250" dirty="0">
                <a:solidFill>
                  <a:srgbClr val="2E2A36"/>
                </a:solidFill>
                <a:latin typeface="JetBrains Mono" pitchFamily="49" charset="0"/>
                <a:ea typeface="JetBrains Mono" pitchFamily="49" charset="-122"/>
                <a:cs typeface="JetBrains Mono" pitchFamily="49" charset="-120"/>
              </a:rPr>
              <a:t>)²]</a:t>
            </a:r>
            <a:endParaRPr lang="en-US" sz="1250" dirty="0"/>
          </a:p>
        </p:txBody>
      </p:sp>
      <p:sp>
        <p:nvSpPr>
          <p:cNvPr id="20" name="Text 16"/>
          <p:cNvSpPr/>
          <p:nvPr/>
        </p:nvSpPr>
        <p:spPr>
          <a:xfrm>
            <a:off x="6235700" y="3716189"/>
            <a:ext cx="5461317" cy="682625"/>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2E2A36"/>
                </a:solidFill>
                <a:latin typeface="Source Sans 3" pitchFamily="34" charset="0"/>
                <a:ea typeface="Source Sans 3" pitchFamily="34" charset="-122"/>
                <a:cs typeface="Source Sans 3" pitchFamily="34" charset="-120"/>
              </a:rPr>
              <a:t>Check: move atom c far away and E becomes the H₂ bond energy, Q + J. The square root is the energy gained when the two bonding pictures mix (resonance).</a:t>
            </a:r>
            <a:endParaRPr lang="en-US" sz="1250" dirty="0"/>
          </a:p>
        </p:txBody>
      </p:sp>
      <p:sp>
        <p:nvSpPr>
          <p:cNvPr id="21" name="Text 17"/>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F. London, Z. Elektrochem. 35, 552 (1929) · W. Heitler &amp; F. London, Z. Phys. 44, 455 (1927) · H. Eyring &amp; M. Polanyi, Z. Phys. Chem. B 12, 279 (1931)</a:t>
            </a:r>
            <a:endParaRPr lang="en-US" sz="1200" dirty="0"/>
          </a:p>
        </p:txBody>
      </p:sp>
      <p:sp>
        <p:nvSpPr>
          <p:cNvPr id="22" name="Text 18"/>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PHYSICS FRAMES · H₃</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H₃: London’s 1929 matrix is already a compatible matrix</a:t>
            </a:r>
            <a:endParaRPr lang="en-US" sz="2700" dirty="0"/>
          </a:p>
        </p:txBody>
      </p:sp>
      <p:sp>
        <p:nvSpPr>
          <p:cNvPr id="6" name="Shape 4"/>
          <p:cNvSpPr/>
          <p:nvPr/>
        </p:nvSpPr>
        <p:spPr>
          <a:xfrm>
            <a:off x="460375" y="1330275"/>
            <a:ext cx="5676900" cy="1733848"/>
          </a:xfrm>
          <a:prstGeom prst="roundRect">
            <a:avLst>
              <a:gd name="adj" fmla="val 2014"/>
            </a:avLst>
          </a:prstGeom>
          <a:solidFill>
            <a:srgbClr val="FBFAF7"/>
          </a:solidFill>
          <a:ln w="6350">
            <a:solidFill>
              <a:srgbClr val="DAD3C8"/>
            </a:solidFill>
            <a:prstDash val="solid"/>
          </a:ln>
        </p:spPr>
      </p:sp>
      <p:sp>
        <p:nvSpPr>
          <p:cNvPr id="7" name="Text 5"/>
          <p:cNvSpPr/>
          <p:nvPr/>
        </p:nvSpPr>
        <p:spPr>
          <a:xfrm>
            <a:off x="654050" y="1498550"/>
            <a:ext cx="5448237" cy="822523"/>
          </a:xfrm>
          <a:prstGeom prst="rect">
            <a:avLst/>
          </a:prstGeom>
          <a:noFill/>
          <a:ln/>
        </p:spPr>
        <p:txBody>
          <a:bodyPr wrap="square" lIns="0" tIns="0" rIns="0" bIns="0" rtlCol="0" anchor="t">
            <a:normAutofit/>
          </a:bodyPr>
          <a:lstStyle/>
          <a:p>
            <a:pPr algn="l" indent="0" marL="0">
              <a:lnSpc>
                <a:spcPts val="2093"/>
              </a:lnSpc>
              <a:buNone/>
            </a:pPr>
            <a:r>
              <a:rPr lang="en-US" sz="1350" dirty="0">
                <a:solidFill>
                  <a:srgbClr val="2E2A36"/>
                </a:solidFill>
                <a:latin typeface="JetBrains Mono" pitchFamily="49" charset="0"/>
                <a:ea typeface="JetBrains Mono" pitchFamily="49" charset="-122"/>
                <a:cs typeface="JetBrains Mono" pitchFamily="49" charset="-120"/>
              </a:rPr>
              <a:t>Ω = (Q₁₂ + Q₁₃ + Q₂₃) 𝟙 + [ a  b ; b  −a ]</a:t>
            </a:r>
            <a:endParaRPr lang="en-US" sz="1350" dirty="0"/>
          </a:p>
          <a:p>
            <a:pPr algn="l" indent="0" marL="0">
              <a:lnSpc>
                <a:spcPts val="2093"/>
              </a:lnSpc>
              <a:buNone/>
            </a:pPr>
            <a:r>
              <a:rPr lang="en-US" sz="1350" dirty="0">
                <a:solidFill>
                  <a:srgbClr val="2E2A36"/>
                </a:solidFill>
                <a:latin typeface="JetBrains Mono" pitchFamily="49" charset="0"/>
                <a:ea typeface="JetBrains Mono" pitchFamily="49" charset="-122"/>
                <a:cs typeface="JetBrains Mono" pitchFamily="49" charset="-120"/>
              </a:rPr>
              <a:t>a = J₁₂ − ½ (J₁₃ + J₂₃)</a:t>
            </a:r>
            <a:endParaRPr lang="en-US" sz="1350" dirty="0"/>
          </a:p>
          <a:p>
            <a:pPr algn="l" indent="0" marL="0">
              <a:lnSpc>
                <a:spcPts val="2093"/>
              </a:lnSpc>
              <a:buNone/>
            </a:pPr>
            <a:r>
              <a:rPr lang="en-US" sz="1350" dirty="0">
                <a:solidFill>
                  <a:srgbClr val="2E2A36"/>
                </a:solidFill>
                <a:latin typeface="JetBrains Mono" pitchFamily="49" charset="0"/>
                <a:ea typeface="JetBrains Mono" pitchFamily="49" charset="-122"/>
                <a:cs typeface="JetBrains Mono" pitchFamily="49" charset="-120"/>
              </a:rPr>
              <a:t>b = (√3 / 2)(J₁₃ − J₂₃)</a:t>
            </a:r>
            <a:endParaRPr lang="en-US" sz="1350" dirty="0"/>
          </a:p>
        </p:txBody>
      </p:sp>
      <p:sp>
        <p:nvSpPr>
          <p:cNvPr id="8" name="Text 6"/>
          <p:cNvSpPr/>
          <p:nvPr/>
        </p:nvSpPr>
        <p:spPr>
          <a:xfrm>
            <a:off x="654050" y="2422674"/>
            <a:ext cx="5448237" cy="498574"/>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Q = (¹E + ³E)/2 and J = (¹E − ³E)/2 per pair, from the exact H₂ singlet and triplet curves. No H₃ data.</a:t>
            </a:r>
            <a:endParaRPr lang="en-US" sz="1350" dirty="0"/>
          </a:p>
        </p:txBody>
      </p:sp>
      <p:sp>
        <p:nvSpPr>
          <p:cNvPr id="9" name="Text 7"/>
          <p:cNvSpPr/>
          <p:nvPr/>
        </p:nvSpPr>
        <p:spPr>
          <a:xfrm>
            <a:off x="6492113" y="1327100"/>
            <a:ext cx="5394897" cy="1681510"/>
          </a:xfrm>
          <a:prstGeom prst="rect">
            <a:avLst/>
          </a:prstGeom>
          <a:noFill/>
          <a:ln/>
        </p:spPr>
        <p:txBody>
          <a:bodyPr wrap="square" lIns="0" tIns="0" rIns="0" bIns="0" rtlCol="0" anchor="t">
            <a:normAutofit/>
          </a:bodyPr>
          <a:lstStyle/>
          <a:p>
            <a:pPr algn="l" marL="169037" indent="-169037">
              <a:lnSpc>
                <a:spcPts val="1863"/>
              </a:lnSpc>
              <a:buSzPct val="100000"/>
              <a:buChar char="•"/>
            </a:pPr>
            <a:r>
              <a:rPr lang="en-US" sz="1350" b="1" dirty="0">
                <a:solidFill>
                  <a:srgbClr val="4A3868"/>
                </a:solidFill>
                <a:latin typeface="Source Sans 3" pitchFamily="34" charset="0"/>
                <a:ea typeface="Source Sans 3" pitchFamily="34" charset="-122"/>
                <a:cs typeface="Source Sans 3" pitchFamily="34" charset="-120"/>
              </a:rPr>
              <a:t>Exact degeneracy:</a:t>
            </a:r>
            <a:r>
              <a:rPr lang="en-US" sz="1350" dirty="0">
                <a:solidFill>
                  <a:srgbClr val="2E2A36"/>
                </a:solidFill>
                <a:latin typeface="Source Sans 3" pitchFamily="34" charset="0"/>
                <a:ea typeface="Source Sans 3" pitchFamily="34" charset="-122"/>
                <a:cs typeface="Source Sans 3" pitchFamily="34" charset="-120"/>
              </a:rPr>
              <a:t> (a, b) transform as the E irrep of D₃h, so E₀ = E₁ at every equilateral geometry: the conical intersection seam.</a:t>
            </a:r>
            <a:endParaRPr lang="en-US" sz="1350" dirty="0"/>
          </a:p>
          <a:p>
            <a:pPr algn="l" marL="169037" indent="-169037">
              <a:lnSpc>
                <a:spcPts val="1863"/>
              </a:lnSpc>
              <a:buSzPct val="100000"/>
              <a:buChar char="•"/>
            </a:pPr>
            <a:r>
              <a:rPr lang="en-US" sz="1350" b="1" dirty="0">
                <a:solidFill>
                  <a:srgbClr val="4A3868"/>
                </a:solidFill>
                <a:latin typeface="Source Sans 3" pitchFamily="34" charset="0"/>
                <a:ea typeface="Source Sans 3" pitchFamily="34" charset="-122"/>
                <a:cs typeface="Source Sans 3" pitchFamily="34" charset="-120"/>
              </a:rPr>
              <a:t>Permutation invariance:</a:t>
            </a:r>
            <a:r>
              <a:rPr lang="en-US" sz="1350" dirty="0">
                <a:solidFill>
                  <a:srgbClr val="2E2A36"/>
                </a:solidFill>
                <a:latin typeface="Source Sans 3" pitchFamily="34" charset="0"/>
                <a:ea typeface="Source Sans 3" pitchFamily="34" charset="-122"/>
                <a:cs typeface="Source Sans 3" pitchFamily="34" charset="-120"/>
              </a:rPr>
              <a:t> relabelling the atoms leaves the eigenvalues unchanged.</a:t>
            </a:r>
            <a:endParaRPr lang="en-US" sz="1350" dirty="0"/>
          </a:p>
          <a:p>
            <a:pPr algn="l" marL="169037" indent="-169037">
              <a:lnSpc>
                <a:spcPts val="1863"/>
              </a:lnSpc>
              <a:buSzPct val="100000"/>
              <a:buChar char="•"/>
            </a:pPr>
            <a:r>
              <a:rPr lang="en-US" sz="1350" b="1" dirty="0">
                <a:solidFill>
                  <a:srgbClr val="4A3868"/>
                </a:solidFill>
                <a:latin typeface="Source Sans 3" pitchFamily="34" charset="0"/>
                <a:ea typeface="Source Sans 3" pitchFamily="34" charset="-122"/>
                <a:cs typeface="Source Sans 3" pitchFamily="34" charset="-120"/>
              </a:rPr>
              <a:t>Limits:</a:t>
            </a:r>
            <a:r>
              <a:rPr lang="en-US" sz="1350" dirty="0">
                <a:solidFill>
                  <a:srgbClr val="2E2A36"/>
                </a:solidFill>
                <a:latin typeface="Source Sans 3" pitchFamily="34" charset="0"/>
                <a:ea typeface="Source Sans 3" pitchFamily="34" charset="-122"/>
                <a:cs typeface="Source Sans 3" pitchFamily="34" charset="-120"/>
              </a:rPr>
              <a:t> one atom far away gives exactly H₂ + H, in both states.</a:t>
            </a:r>
            <a:endParaRPr lang="en-US" sz="1350" dirty="0"/>
          </a:p>
          <a:p>
            <a:pPr algn="l" marL="169037" indent="-169037">
              <a:lnSpc>
                <a:spcPts val="1863"/>
              </a:lnSpc>
              <a:buSzPct val="100000"/>
              <a:buChar char="•"/>
            </a:pPr>
            <a:r>
              <a:rPr lang="en-US" sz="1350" b="1" dirty="0">
                <a:solidFill>
                  <a:srgbClr val="4A3868"/>
                </a:solidFill>
                <a:latin typeface="Source Sans 3" pitchFamily="34" charset="0"/>
                <a:ea typeface="Source Sans 3" pitchFamily="34" charset="-122"/>
                <a:cs typeface="Source Sans 3" pitchFamily="34" charset="-120"/>
              </a:rPr>
              <a:t>Learned slots:</a:t>
            </a:r>
            <a:r>
              <a:rPr lang="en-US" sz="1350" dirty="0">
                <a:solidFill>
                  <a:srgbClr val="2E2A36"/>
                </a:solidFill>
                <a:latin typeface="Source Sans 3" pitchFamily="34" charset="0"/>
                <a:ea typeface="Source Sans 3" pitchFamily="34" charset="-122"/>
                <a:cs typeface="Source Sans 3" pitchFamily="34" charset="-120"/>
              </a:rPr>
              <a:t> a singlet–triplet (Sato-type) mixing and three-body corrections to Q and J, switched off when any atom leaves.</a:t>
            </a:r>
            <a:endParaRPr lang="en-US" sz="1350" dirty="0"/>
          </a:p>
        </p:txBody>
      </p:sp>
      <p:sp>
        <p:nvSpPr>
          <p:cNvPr id="10" name="Text 8"/>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London (1929); Eyring &amp; Polanyi (1931); S. Sato, J. Chem. Phys. 23, 592 (1955)</a:t>
            </a:r>
            <a:endParaRPr lang="en-US" sz="1200" dirty="0"/>
          </a:p>
        </p:txBody>
      </p:sp>
      <p:sp>
        <p:nvSpPr>
          <p:cNvPr id="11" name="Text 9"/>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PHYSICS FRAMES · H₃ RESULTS</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With a frame, 25 points do what 200 cannot without one</a:t>
            </a:r>
            <a:endParaRPr lang="en-US" sz="2700" dirty="0"/>
          </a:p>
        </p:txBody>
      </p:sp>
      <p:pic>
        <p:nvPicPr>
          <p:cNvPr id="6" name="Image 0" descr="Learning curves of test RMSE versus number of H3 training points for framed CDNN, plain CDNN and permutation-trained CDNN, ground and excited state">    </p:cNvPr>
          <p:cNvPicPr>
            <a:picLocks noChangeAspect="1"/>
          </p:cNvPicPr>
          <p:nvPr/>
        </p:nvPicPr>
        <p:blipFill>
          <a:blip r:embed="rId1"/>
          <a:srcRect l="-27" r="-27" t="0" b="0"/>
          <a:stretch/>
        </p:blipFill>
        <p:spPr>
          <a:xfrm>
            <a:off x="457200" y="1327100"/>
            <a:ext cx="9525000" cy="3397250"/>
          </a:xfrm>
          <a:prstGeom prst="rect">
            <a:avLst/>
          </a:prstGeom>
        </p:spPr>
      </p:pic>
      <p:sp>
        <p:nvSpPr>
          <p:cNvPr id="7" name="Text 4"/>
          <p:cNvSpPr/>
          <p:nvPr/>
        </p:nvSpPr>
        <p:spPr>
          <a:xfrm>
            <a:off x="457200" y="4902150"/>
            <a:ext cx="5122540" cy="735161"/>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Ground state:</a:t>
            </a:r>
            <a:r>
              <a:rPr lang="en-US" sz="1350" dirty="0">
                <a:solidFill>
                  <a:srgbClr val="2E2A36"/>
                </a:solidFill>
                <a:latin typeface="Source Sans 3" pitchFamily="34" charset="0"/>
                <a:ea typeface="Source Sans 3" pitchFamily="34" charset="-122"/>
                <a:cs typeface="Source Sans 3" pitchFamily="34" charset="-120"/>
              </a:rPr>
              <a:t> 1.7 kcal/mol from 25 points and 1.0 from 200, with exact symmetry. Plain CDNN needs about 100 points to beat London’s 5.9.</a:t>
            </a:r>
            <a:endParaRPr lang="en-US" sz="1350" dirty="0"/>
          </a:p>
        </p:txBody>
      </p:sp>
      <p:sp>
        <p:nvSpPr>
          <p:cNvPr id="8" name="Text 5"/>
          <p:cNvSpPr/>
          <p:nvPr/>
        </p:nvSpPr>
        <p:spPr>
          <a:xfrm>
            <a:off x="5735340" y="4902150"/>
            <a:ext cx="6179444" cy="735161"/>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Excited state:</a:t>
            </a:r>
            <a:r>
              <a:rPr lang="en-US" sz="1350" dirty="0">
                <a:solidFill>
                  <a:srgbClr val="2E2A36"/>
                </a:solidFill>
                <a:latin typeface="Source Sans 3" pitchFamily="34" charset="0"/>
                <a:ea typeface="Source Sans 3" pitchFamily="34" charset="-122"/>
                <a:cs typeface="Source Sans 3" pitchFamily="34" charset="-120"/>
              </a:rPr>
              <a:t> the frame plateaus near 5 kcal/mol; at compressed geometries S₁ is no longer a covalent-structure state. With enough data, flexible models do better here.</a:t>
            </a:r>
            <a:endParaRPr lang="en-US" sz="1350" dirty="0"/>
          </a:p>
        </p:txBody>
      </p:sp>
      <p:sp>
        <p:nvSpPr>
          <p:cNvPr id="9" name="Text 6"/>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Test RMSE (kcal/mol), mean of two random splits; 499 FCI/cc-pVDZ geometries</a:t>
            </a:r>
            <a:endParaRPr lang="en-US" sz="1200" dirty="0"/>
          </a:p>
        </p:txBody>
      </p:sp>
      <p:sp>
        <p:nvSpPr>
          <p:cNvPr id="10" name="Text 7"/>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THE ELECTRON LADDER · BACKGROUND</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The ladder: add one electron at a time</a:t>
            </a:r>
            <a:endParaRPr lang="en-US" sz="2700" dirty="0"/>
          </a:p>
        </p:txBody>
      </p:sp>
      <p:sp>
        <p:nvSpPr>
          <p:cNvPr id="6" name="Text 4"/>
          <p:cNvSpPr/>
          <p:nvPr/>
        </p:nvSpPr>
        <p:spPr>
          <a:xfrm>
            <a:off x="457200" y="1327100"/>
            <a:ext cx="5363210" cy="463550"/>
          </a:xfrm>
          <a:prstGeom prst="rect">
            <a:avLst/>
          </a:prstGeom>
          <a:noFill/>
          <a:ln/>
        </p:spPr>
        <p:txBody>
          <a:bodyPr wrap="square" lIns="0" tIns="0" rIns="0" bIns="0" rtlCol="0" anchor="t">
            <a:normAutofit/>
          </a:bodyPr>
          <a:lstStyle/>
          <a:p>
            <a:pPr algn="l" indent="0" marL="0">
              <a:lnSpc>
                <a:spcPts val="1725"/>
              </a:lnSpc>
              <a:buNone/>
            </a:pPr>
            <a:r>
              <a:rPr lang="en-US" sz="1250" dirty="0">
                <a:solidFill>
                  <a:srgbClr val="55505E"/>
                </a:solidFill>
                <a:latin typeface="Source Sans 3" pitchFamily="34" charset="0"/>
                <a:ea typeface="Source Sans 3" pitchFamily="34" charset="-122"/>
                <a:cs typeface="Source Sans 3" pitchFamily="34" charset="-120"/>
              </a:rPr>
              <a:t>Same three H nuclei; one more electron on each rung, one new piece of physics per step:</a:t>
            </a:r>
            <a:endParaRPr lang="en-US" sz="1250" dirty="0"/>
          </a:p>
        </p:txBody>
      </p:sp>
      <p:sp>
        <p:nvSpPr>
          <p:cNvPr id="7" name="Shape 5"/>
          <p:cNvSpPr/>
          <p:nvPr/>
        </p:nvSpPr>
        <p:spPr>
          <a:xfrm>
            <a:off x="460375" y="1857325"/>
            <a:ext cx="5200650" cy="723553"/>
          </a:xfrm>
          <a:prstGeom prst="roundRect">
            <a:avLst>
              <a:gd name="adj" fmla="val 4827"/>
            </a:avLst>
          </a:prstGeom>
          <a:solidFill>
            <a:srgbClr val="F7EEE3"/>
          </a:solidFill>
          <a:ln w="6350">
            <a:solidFill>
              <a:srgbClr val="DAD3C8"/>
            </a:solidFill>
            <a:prstDash val="solid"/>
          </a:ln>
        </p:spPr>
      </p:sp>
      <p:sp>
        <p:nvSpPr>
          <p:cNvPr id="8" name="Text 6"/>
          <p:cNvSpPr/>
          <p:nvPr/>
        </p:nvSpPr>
        <p:spPr>
          <a:xfrm>
            <a:off x="628650" y="2014637"/>
            <a:ext cx="431800" cy="434330"/>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C2571F"/>
                </a:solidFill>
                <a:latin typeface="Source Serif 4" pitchFamily="18" charset="0"/>
                <a:ea typeface="Source Serif 4" pitchFamily="18" charset="-122"/>
                <a:cs typeface="Source Serif 4" pitchFamily="18" charset="-120"/>
              </a:rPr>
              <a:t>3</a:t>
            </a:r>
            <a:endParaRPr lang="en-US" sz="2300" dirty="0"/>
          </a:p>
        </p:txBody>
      </p:sp>
      <p:sp>
        <p:nvSpPr>
          <p:cNvPr id="9" name="Text 7"/>
          <p:cNvSpPr/>
          <p:nvPr/>
        </p:nvSpPr>
        <p:spPr>
          <a:xfrm>
            <a:off x="1136650" y="1974800"/>
            <a:ext cx="448678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2A36"/>
                </a:solidFill>
                <a:latin typeface="Source Sans 3" pitchFamily="34" charset="0"/>
                <a:ea typeface="Source Sans 3" pitchFamily="34" charset="-122"/>
                <a:cs typeface="Source Sans 3" pitchFamily="34" charset="-120"/>
              </a:rPr>
              <a:t>H₃ · three electrons</a:t>
            </a:r>
            <a:endParaRPr lang="en-US" sz="1400" dirty="0"/>
          </a:p>
        </p:txBody>
      </p:sp>
      <p:sp>
        <p:nvSpPr>
          <p:cNvPr id="10" name="Text 8"/>
          <p:cNvSpPr/>
          <p:nvPr/>
        </p:nvSpPr>
        <p:spPr>
          <a:xfrm>
            <a:off x="1136650" y="2249091"/>
            <a:ext cx="4486783"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5505E"/>
                </a:solidFill>
                <a:latin typeface="Source Sans 3" pitchFamily="34" charset="0"/>
                <a:ea typeface="Source Sans 3" pitchFamily="34" charset="-122"/>
                <a:cs typeface="Source Sans 3" pitchFamily="34" charset="-120"/>
              </a:rPr>
              <a:t>Spins must pair, so only one bond at a time. </a:t>
            </a:r>
            <a:r>
              <a:rPr lang="en-US" sz="1250" b="1" dirty="0">
                <a:solidFill>
                  <a:srgbClr val="55505E"/>
                </a:solidFill>
                <a:latin typeface="Source Sans 3" pitchFamily="34" charset="0"/>
                <a:ea typeface="Source Sans 3" pitchFamily="34" charset="-122"/>
                <a:cs typeface="Source Sans 3" pitchFamily="34" charset="-120"/>
              </a:rPr>
              <a:t>The target.</a:t>
            </a:r>
            <a:endParaRPr lang="en-US" sz="1250" dirty="0"/>
          </a:p>
        </p:txBody>
      </p:sp>
      <p:sp>
        <p:nvSpPr>
          <p:cNvPr id="11" name="Shape 9"/>
          <p:cNvSpPr/>
          <p:nvPr/>
        </p:nvSpPr>
        <p:spPr>
          <a:xfrm>
            <a:off x="460375" y="2676128"/>
            <a:ext cx="5200650" cy="723553"/>
          </a:xfrm>
          <a:prstGeom prst="roundRect">
            <a:avLst>
              <a:gd name="adj" fmla="val 4827"/>
            </a:avLst>
          </a:prstGeom>
          <a:solidFill>
            <a:srgbClr val="FBFAF7"/>
          </a:solidFill>
          <a:ln w="6350">
            <a:solidFill>
              <a:srgbClr val="DAD3C8"/>
            </a:solidFill>
            <a:prstDash val="solid"/>
          </a:ln>
        </p:spPr>
      </p:sp>
      <p:sp>
        <p:nvSpPr>
          <p:cNvPr id="12" name="Text 10"/>
          <p:cNvSpPr/>
          <p:nvPr/>
        </p:nvSpPr>
        <p:spPr>
          <a:xfrm>
            <a:off x="628650" y="2833439"/>
            <a:ext cx="431800" cy="434330"/>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2A78D6"/>
                </a:solidFill>
                <a:latin typeface="Source Serif 4" pitchFamily="18" charset="0"/>
                <a:ea typeface="Source Serif 4" pitchFamily="18" charset="-122"/>
                <a:cs typeface="Source Serif 4" pitchFamily="18" charset="-120"/>
              </a:rPr>
              <a:t>2</a:t>
            </a:r>
            <a:endParaRPr lang="en-US" sz="2300" dirty="0"/>
          </a:p>
        </p:txBody>
      </p:sp>
      <p:sp>
        <p:nvSpPr>
          <p:cNvPr id="13" name="Text 11"/>
          <p:cNvSpPr/>
          <p:nvPr/>
        </p:nvSpPr>
        <p:spPr>
          <a:xfrm>
            <a:off x="1136650" y="2793603"/>
            <a:ext cx="448678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2A36"/>
                </a:solidFill>
                <a:latin typeface="Source Sans 3" pitchFamily="34" charset="0"/>
                <a:ea typeface="Source Sans 3" pitchFamily="34" charset="-122"/>
                <a:cs typeface="Source Sans 3" pitchFamily="34" charset="-120"/>
              </a:rPr>
              <a:t>H₃⁺ · two electrons</a:t>
            </a:r>
            <a:endParaRPr lang="en-US" sz="1400" dirty="0"/>
          </a:p>
        </p:txBody>
      </p:sp>
      <p:sp>
        <p:nvSpPr>
          <p:cNvPr id="14" name="Text 12"/>
          <p:cNvSpPr/>
          <p:nvPr/>
        </p:nvSpPr>
        <p:spPr>
          <a:xfrm>
            <a:off x="1136650" y="3067893"/>
            <a:ext cx="4486783"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5505E"/>
                </a:solidFill>
                <a:latin typeface="Source Sans 3" pitchFamily="34" charset="0"/>
                <a:ea typeface="Source Sans 3" pitchFamily="34" charset="-122"/>
                <a:cs typeface="Source Sans 3" pitchFamily="34" charset="-120"/>
              </a:rPr>
              <a:t>Electrons repel and pair into one bond shared by three atoms.</a:t>
            </a:r>
            <a:endParaRPr lang="en-US" sz="1250" dirty="0"/>
          </a:p>
        </p:txBody>
      </p:sp>
      <p:sp>
        <p:nvSpPr>
          <p:cNvPr id="15" name="Shape 13"/>
          <p:cNvSpPr/>
          <p:nvPr/>
        </p:nvSpPr>
        <p:spPr>
          <a:xfrm>
            <a:off x="460375" y="3494931"/>
            <a:ext cx="5200650" cy="937865"/>
          </a:xfrm>
          <a:prstGeom prst="roundRect">
            <a:avLst>
              <a:gd name="adj" fmla="val 3724"/>
            </a:avLst>
          </a:prstGeom>
          <a:solidFill>
            <a:srgbClr val="FBFAF7"/>
          </a:solidFill>
          <a:ln w="6350">
            <a:solidFill>
              <a:srgbClr val="DAD3C8"/>
            </a:solidFill>
            <a:prstDash val="solid"/>
          </a:ln>
        </p:spPr>
      </p:sp>
      <p:sp>
        <p:nvSpPr>
          <p:cNvPr id="16" name="Text 14"/>
          <p:cNvSpPr/>
          <p:nvPr/>
        </p:nvSpPr>
        <p:spPr>
          <a:xfrm>
            <a:off x="628650" y="3759398"/>
            <a:ext cx="431800" cy="434330"/>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9A94A0"/>
                </a:solidFill>
                <a:latin typeface="Source Serif 4" pitchFamily="18" charset="0"/>
                <a:ea typeface="Source Serif 4" pitchFamily="18" charset="-122"/>
                <a:cs typeface="Source Serif 4" pitchFamily="18" charset="-120"/>
              </a:rPr>
              <a:t>1</a:t>
            </a:r>
            <a:endParaRPr lang="en-US" sz="2300" dirty="0"/>
          </a:p>
        </p:txBody>
      </p:sp>
      <p:sp>
        <p:nvSpPr>
          <p:cNvPr id="17" name="Text 15"/>
          <p:cNvSpPr/>
          <p:nvPr/>
        </p:nvSpPr>
        <p:spPr>
          <a:xfrm>
            <a:off x="1136650" y="3612406"/>
            <a:ext cx="448678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2A36"/>
                </a:solidFill>
                <a:latin typeface="Source Sans 3" pitchFamily="34" charset="0"/>
                <a:ea typeface="Source Sans 3" pitchFamily="34" charset="-122"/>
                <a:cs typeface="Source Sans 3" pitchFamily="34" charset="-120"/>
              </a:rPr>
              <a:t>H₃²⁺ · one electron</a:t>
            </a:r>
            <a:endParaRPr lang="en-US" sz="1400" dirty="0"/>
          </a:p>
        </p:txBody>
      </p:sp>
      <p:sp>
        <p:nvSpPr>
          <p:cNvPr id="18" name="Text 16"/>
          <p:cNvSpPr/>
          <p:nvPr/>
        </p:nvSpPr>
        <p:spPr>
          <a:xfrm>
            <a:off x="1136650" y="3886696"/>
            <a:ext cx="4486783"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5505E"/>
                </a:solidFill>
                <a:latin typeface="Source Sans 3" pitchFamily="34" charset="0"/>
                <a:ea typeface="Source Sans 3" pitchFamily="34" charset="-122"/>
                <a:cs typeface="Source Sans 3" pitchFamily="34" charset="-120"/>
              </a:rPr>
              <a:t>The electron hops between atoms; sharing alone lowers the energy.</a:t>
            </a:r>
            <a:endParaRPr lang="en-US" sz="1250" dirty="0"/>
          </a:p>
        </p:txBody>
      </p:sp>
      <p:sp>
        <p:nvSpPr>
          <p:cNvPr id="19" name="Text 17"/>
          <p:cNvSpPr/>
          <p:nvPr/>
        </p:nvSpPr>
        <p:spPr>
          <a:xfrm>
            <a:off x="5994400" y="1327100"/>
            <a:ext cx="5912612"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RESULT</a:t>
            </a:r>
            <a:endParaRPr lang="en-US" sz="1400" dirty="0"/>
          </a:p>
        </p:txBody>
      </p:sp>
      <p:sp>
        <p:nvSpPr>
          <p:cNvPr id="20" name="Text 18"/>
          <p:cNvSpPr/>
          <p:nvPr/>
        </p:nvSpPr>
        <p:spPr>
          <a:xfrm>
            <a:off x="6041263" y="1654721"/>
            <a:ext cx="5859272" cy="971748"/>
          </a:xfrm>
          <a:prstGeom prst="rect">
            <a:avLst/>
          </a:prstGeom>
          <a:noFill/>
          <a:ln/>
        </p:spPr>
        <p:txBody>
          <a:bodyPr wrap="square" lIns="0" tIns="0" rIns="0" bIns="0" rtlCol="0" anchor="t">
            <a:normAutofit/>
          </a:bodyPr>
          <a:lstStyle/>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Orbital-level parameters (how fast electrons hop, how strongly they repel) learned on the lower rungs did </a:t>
            </a:r>
            <a:r>
              <a:rPr lang="en-US" sz="1350" i="1" dirty="0">
                <a:solidFill>
                  <a:srgbClr val="2E2A36"/>
                </a:solidFill>
                <a:latin typeface="Source Sans 3" pitchFamily="34" charset="0"/>
                <a:ea typeface="Source Sans 3" pitchFamily="34" charset="-122"/>
                <a:cs typeface="Source Sans 3" pitchFamily="34" charset="-120"/>
              </a:rPr>
              <a:t>not</a:t>
            </a:r>
            <a:r>
              <a:rPr lang="en-US" sz="1350" dirty="0">
                <a:solidFill>
                  <a:srgbClr val="2E2A36"/>
                </a:solidFill>
                <a:latin typeface="Source Sans 3" pitchFamily="34" charset="0"/>
                <a:ea typeface="Source Sans 3" pitchFamily="34" charset="-122"/>
                <a:cs typeface="Source Sans 3" pitchFamily="34" charset="-120"/>
              </a:rPr>
              <a:t> predict H₃ well.</a:t>
            </a:r>
            <a:endParaRPr lang="en-US" sz="1350" dirty="0"/>
          </a:p>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Whole </a:t>
            </a:r>
            <a:r>
              <a:rPr lang="en-US" sz="1350" b="1" dirty="0">
                <a:solidFill>
                  <a:srgbClr val="4A3868"/>
                </a:solidFill>
                <a:latin typeface="Source Sans 3" pitchFamily="34" charset="0"/>
                <a:ea typeface="Source Sans 3" pitchFamily="34" charset="-122"/>
                <a:cs typeface="Source Sans 3" pitchFamily="34" charset="-120"/>
              </a:rPr>
              <a:t>fragment states</a:t>
            </a:r>
            <a:r>
              <a:rPr lang="en-US" sz="1350" dirty="0">
                <a:solidFill>
                  <a:srgbClr val="2E2A36"/>
                </a:solidFill>
                <a:latin typeface="Source Sans 3" pitchFamily="34" charset="0"/>
                <a:ea typeface="Source Sans 3" pitchFamily="34" charset="-122"/>
                <a:cs typeface="Source Sans 3" pitchFamily="34" charset="-120"/>
              </a:rPr>
              <a:t> (H₂ bonded and non-bonded) did better, with no H₃ data.</a:t>
            </a:r>
            <a:endParaRPr lang="en-US" sz="1350" dirty="0"/>
          </a:p>
        </p:txBody>
      </p:sp>
      <p:sp>
        <p:nvSpPr>
          <p:cNvPr id="21" name="Shape 19"/>
          <p:cNvSpPr/>
          <p:nvPr/>
        </p:nvSpPr>
        <p:spPr>
          <a:xfrm>
            <a:off x="5994400" y="2715369"/>
            <a:ext cx="5740400" cy="1031180"/>
          </a:xfrm>
          <a:prstGeom prst="roundRect">
            <a:avLst>
              <a:gd name="adj" fmla="val 2463"/>
            </a:avLst>
          </a:prstGeom>
          <a:solidFill>
            <a:srgbClr val="EFEBF3"/>
          </a:solidFill>
          <a:ln/>
        </p:spPr>
      </p:sp>
      <p:sp>
        <p:nvSpPr>
          <p:cNvPr id="22" name="Shape 20"/>
          <p:cNvSpPr/>
          <p:nvPr/>
        </p:nvSpPr>
        <p:spPr>
          <a:xfrm>
            <a:off x="5994400" y="2715369"/>
            <a:ext cx="5740400" cy="1031180"/>
          </a:xfrm>
          <a:custGeom>
            <a:avLst/>
            <a:gdLst/>
            <a:ahLst/>
            <a:cxnLst/>
            <a:rect l="l" t="t" r="r" b="b"/>
            <a:pathLst>
              <a:path w="5740400" h="1031180">
                <a:moveTo>
                  <a:pt x="38100" y="1031180"/>
                </a:moveTo>
                <a:lnTo>
                  <a:pt x="25400" y="1031180"/>
                </a:lnTo>
                <a:arcTo hR="25400" wR="25400" stAng="5400000" swAng="5400000"/>
                <a:lnTo>
                  <a:pt x="0" y="25400"/>
                </a:lnTo>
                <a:arcTo hR="25400" wR="25400" stAng="10800000" swAng="5400000"/>
                <a:lnTo>
                  <a:pt x="38100" y="0"/>
                </a:lnTo>
                <a:lnTo>
                  <a:pt x="38100" y="1031180"/>
                </a:lnTo>
                <a:close/>
              </a:path>
            </a:pathLst>
          </a:custGeom>
          <a:solidFill>
            <a:srgbClr val="C8873A"/>
          </a:solidFill>
          <a:ln/>
        </p:spPr>
      </p:sp>
      <p:sp>
        <p:nvSpPr>
          <p:cNvPr id="23" name="Text 21"/>
          <p:cNvSpPr/>
          <p:nvPr/>
        </p:nvSpPr>
        <p:spPr>
          <a:xfrm>
            <a:off x="6235700" y="2855069"/>
            <a:ext cx="5454777" cy="498574"/>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For larger molecules</a:t>
            </a:r>
            <a:r>
              <a:rPr lang="en-US" sz="1350" dirty="0">
                <a:solidFill>
                  <a:srgbClr val="2E2A36"/>
                </a:solidFill>
                <a:latin typeface="Source Sans 3" pitchFamily="34" charset="0"/>
                <a:ea typeface="Source Sans 3" pitchFamily="34" charset="-122"/>
                <a:cs typeface="Source Sans 3" pitchFamily="34" charset="-120"/>
              </a:rPr>
              <a:t> the ladder becomes a list of fragment states to compute: neutral, cation, anion, excited.</a:t>
            </a:r>
            <a:endParaRPr lang="en-US" sz="1350" dirty="0"/>
          </a:p>
        </p:txBody>
      </p:sp>
      <p:sp>
        <p:nvSpPr>
          <p:cNvPr id="24" name="Text 22"/>
          <p:cNvSpPr/>
          <p:nvPr/>
        </p:nvSpPr>
        <p:spPr>
          <a:xfrm>
            <a:off x="6235700" y="3379043"/>
            <a:ext cx="5454777"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55505E"/>
                </a:solidFill>
                <a:latin typeface="Source Sans 3" pitchFamily="34" charset="0"/>
                <a:ea typeface="Source Sans 3" pitchFamily="34" charset="-122"/>
                <a:cs typeface="Source Sans 3" pitchFamily="34" charset="-120"/>
              </a:rPr>
              <a:t>CH₂OO: CH₂O, CH₂O⁺, CH₂O(T₁), O(³P), O(¹D), O⁻</a:t>
            </a:r>
            <a:endParaRPr lang="en-US" sz="1300" dirty="0"/>
          </a:p>
        </p:txBody>
      </p:sp>
      <p:sp>
        <p:nvSpPr>
          <p:cNvPr id="25" name="Text 23"/>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THE ELECTRON LADDER · H₃</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What transfers from small systems to larger ones?</a:t>
            </a:r>
            <a:endParaRPr lang="en-US" sz="2700" dirty="0"/>
          </a:p>
        </p:txBody>
      </p:sp>
      <p:sp>
        <p:nvSpPr>
          <p:cNvPr id="6" name="Shape 4"/>
          <p:cNvSpPr/>
          <p:nvPr/>
        </p:nvSpPr>
        <p:spPr>
          <a:xfrm>
            <a:off x="460375" y="1330275"/>
            <a:ext cx="3422650" cy="731490"/>
          </a:xfrm>
          <a:prstGeom prst="roundRect">
            <a:avLst>
              <a:gd name="adj" fmla="val 4775"/>
            </a:avLst>
          </a:prstGeom>
          <a:solidFill>
            <a:srgbClr val="FBFAF7"/>
          </a:solidFill>
          <a:ln w="6350">
            <a:solidFill>
              <a:srgbClr val="DAD3C8"/>
            </a:solidFill>
            <a:prstDash val="solid"/>
          </a:ln>
        </p:spPr>
      </p:sp>
      <p:sp>
        <p:nvSpPr>
          <p:cNvPr id="7" name="Text 5"/>
          <p:cNvSpPr/>
          <p:nvPr/>
        </p:nvSpPr>
        <p:spPr>
          <a:xfrm>
            <a:off x="615950" y="1460450"/>
            <a:ext cx="320484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2A36"/>
                </a:solidFill>
                <a:latin typeface="Source Sans 3" pitchFamily="34" charset="0"/>
                <a:ea typeface="Source Sans 3" pitchFamily="34" charset="-122"/>
                <a:cs typeface="Source Sans 3" pitchFamily="34" charset="-120"/>
              </a:rPr>
              <a:t>H₃²⁺ · 1 electron</a:t>
            </a:r>
            <a:endParaRPr lang="en-US" sz="1400" dirty="0"/>
          </a:p>
        </p:txBody>
      </p:sp>
      <p:sp>
        <p:nvSpPr>
          <p:cNvPr id="8" name="Text 6"/>
          <p:cNvSpPr/>
          <p:nvPr/>
        </p:nvSpPr>
        <p:spPr>
          <a:xfrm>
            <a:off x="615950" y="1709341"/>
            <a:ext cx="320484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5505E"/>
                </a:solidFill>
                <a:latin typeface="Source Sans 3" pitchFamily="34" charset="0"/>
                <a:ea typeface="Source Sans 3" pitchFamily="34" charset="-122"/>
                <a:cs typeface="Source Sans 3" pitchFamily="34" charset="-120"/>
              </a:rPr>
              <a:t>hopping between sites</a:t>
            </a:r>
            <a:endParaRPr lang="en-US" sz="1250" dirty="0"/>
          </a:p>
        </p:txBody>
      </p:sp>
      <p:sp>
        <p:nvSpPr>
          <p:cNvPr id="9" name="Shape 7"/>
          <p:cNvSpPr/>
          <p:nvPr/>
        </p:nvSpPr>
        <p:spPr>
          <a:xfrm>
            <a:off x="460375" y="2157016"/>
            <a:ext cx="3422650" cy="731490"/>
          </a:xfrm>
          <a:prstGeom prst="roundRect">
            <a:avLst>
              <a:gd name="adj" fmla="val 4775"/>
            </a:avLst>
          </a:prstGeom>
          <a:solidFill>
            <a:srgbClr val="FBFAF7"/>
          </a:solidFill>
          <a:ln w="6350">
            <a:solidFill>
              <a:srgbClr val="DAD3C8"/>
            </a:solidFill>
            <a:prstDash val="solid"/>
          </a:ln>
        </p:spPr>
      </p:sp>
      <p:sp>
        <p:nvSpPr>
          <p:cNvPr id="10" name="Text 8"/>
          <p:cNvSpPr/>
          <p:nvPr/>
        </p:nvSpPr>
        <p:spPr>
          <a:xfrm>
            <a:off x="615950" y="2287191"/>
            <a:ext cx="320484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2A36"/>
                </a:solidFill>
                <a:latin typeface="Source Sans 3" pitchFamily="34" charset="0"/>
                <a:ea typeface="Source Sans 3" pitchFamily="34" charset="-122"/>
                <a:cs typeface="Source Sans 3" pitchFamily="34" charset="-120"/>
              </a:rPr>
              <a:t>H₃⁺ · 2 electrons</a:t>
            </a:r>
            <a:endParaRPr lang="en-US" sz="1400" dirty="0"/>
          </a:p>
        </p:txBody>
      </p:sp>
      <p:sp>
        <p:nvSpPr>
          <p:cNvPr id="11" name="Text 9"/>
          <p:cNvSpPr/>
          <p:nvPr/>
        </p:nvSpPr>
        <p:spPr>
          <a:xfrm>
            <a:off x="615950" y="2536081"/>
            <a:ext cx="320484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5505E"/>
                </a:solidFill>
                <a:latin typeface="Source Sans 3" pitchFamily="34" charset="0"/>
                <a:ea typeface="Source Sans 3" pitchFamily="34" charset="-122"/>
                <a:cs typeface="Source Sans 3" pitchFamily="34" charset="-120"/>
              </a:rPr>
              <a:t>on-site repulsion, three-centre bond</a:t>
            </a:r>
            <a:endParaRPr lang="en-US" sz="1250" dirty="0"/>
          </a:p>
        </p:txBody>
      </p:sp>
      <p:sp>
        <p:nvSpPr>
          <p:cNvPr id="12" name="Shape 10"/>
          <p:cNvSpPr/>
          <p:nvPr/>
        </p:nvSpPr>
        <p:spPr>
          <a:xfrm>
            <a:off x="460375" y="2983756"/>
            <a:ext cx="3422650" cy="731490"/>
          </a:xfrm>
          <a:prstGeom prst="roundRect">
            <a:avLst>
              <a:gd name="adj" fmla="val 4775"/>
            </a:avLst>
          </a:prstGeom>
          <a:solidFill>
            <a:srgbClr val="FBFAF7"/>
          </a:solidFill>
          <a:ln w="6350">
            <a:solidFill>
              <a:srgbClr val="DAD3C8"/>
            </a:solidFill>
            <a:prstDash val="solid"/>
          </a:ln>
        </p:spPr>
      </p:sp>
      <p:sp>
        <p:nvSpPr>
          <p:cNvPr id="13" name="Text 11"/>
          <p:cNvSpPr/>
          <p:nvPr/>
        </p:nvSpPr>
        <p:spPr>
          <a:xfrm>
            <a:off x="615950" y="3113931"/>
            <a:ext cx="320484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2A36"/>
                </a:solidFill>
                <a:latin typeface="Source Sans 3" pitchFamily="34" charset="0"/>
                <a:ea typeface="Source Sans 3" pitchFamily="34" charset="-122"/>
                <a:cs typeface="Source Sans 3" pitchFamily="34" charset="-120"/>
              </a:rPr>
              <a:t>H₃ · 3 electrons</a:t>
            </a:r>
            <a:endParaRPr lang="en-US" sz="1400" dirty="0"/>
          </a:p>
        </p:txBody>
      </p:sp>
      <p:sp>
        <p:nvSpPr>
          <p:cNvPr id="14" name="Text 12"/>
          <p:cNvSpPr/>
          <p:nvPr/>
        </p:nvSpPr>
        <p:spPr>
          <a:xfrm>
            <a:off x="615950" y="3362821"/>
            <a:ext cx="320484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5505E"/>
                </a:solidFill>
                <a:latin typeface="Source Sans 3" pitchFamily="34" charset="0"/>
                <a:ea typeface="Source Sans 3" pitchFamily="34" charset="-122"/>
                <a:cs typeface="Source Sans 3" pitchFamily="34" charset="-120"/>
              </a:rPr>
              <a:t>spin recoupling: the target, never trained on</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03700" y="1339800"/>
          <a:ext cx="7531100" cy="1796604"/>
        </p:xfrm>
        <a:graphic>
          <a:graphicData uri="http://schemas.openxmlformats.org/drawingml/2006/table">
            <a:tbl>
              <a:tblPr/>
              <a:tblGrid>
                <a:gridCol w="4368038"/>
                <a:gridCol w="1204976"/>
                <a:gridCol w="1958086"/>
              </a:tblGrid>
              <a:tr h="359321">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Model of H₃</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algn="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H₃ data</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algn="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RMSE (kcal/mol)</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Site Hamiltonian learned on the lower rungs</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none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12.6</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 with more lower-rung states added</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none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25.1</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London: exact H₂ fragment states</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none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5.5</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Same site Hamiltonian fitted to all rungs and H₃</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all</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2.9</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6" name="Text 13"/>
          <p:cNvSpPr/>
          <p:nvPr/>
        </p:nvSpPr>
        <p:spPr>
          <a:xfrm>
            <a:off x="4191000" y="3288804"/>
            <a:ext cx="7543800" cy="752574"/>
          </a:xfrm>
          <a:prstGeom prst="roundRect">
            <a:avLst>
              <a:gd name="adj" fmla="val 3375"/>
            </a:avLst>
          </a:prstGeom>
          <a:solidFill>
            <a:srgbClr val="EFEBF3"/>
          </a:solidFill>
          <a:ln/>
        </p:spPr>
        <p:txBody>
          <a:bodyPr wrap="square" lIns="233861" tIns="132261" rIns="0" bIns="106861"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Orbital-level parameters fit every rung but do not determine H₃. </a:t>
            </a:r>
            <a:r>
              <a:rPr lang="en-US" sz="1350" b="1" dirty="0">
                <a:solidFill>
                  <a:srgbClr val="4A3868"/>
                </a:solidFill>
                <a:latin typeface="Source Sans 3" pitchFamily="34" charset="0"/>
                <a:ea typeface="Source Sans 3" pitchFamily="34" charset="-122"/>
                <a:cs typeface="Source Sans 3" pitchFamily="34" charset="-120"/>
              </a:rPr>
              <a:t>Fragment states transfer.</a:t>
            </a:r>
            <a:r>
              <a:rPr lang="en-US" sz="1350" dirty="0">
                <a:solidFill>
                  <a:srgbClr val="2E2A36"/>
                </a:solidFill>
                <a:latin typeface="Source Sans 3" pitchFamily="34" charset="0"/>
                <a:ea typeface="Source Sans 3" pitchFamily="34" charset="-122"/>
                <a:cs typeface="Source Sans 3" pitchFamily="34" charset="-120"/>
              </a:rPr>
              <a:t> The ladder decides which charge and spin states of the fragments the matrix must contain.</a:t>
            </a:r>
            <a:endParaRPr lang="en-US" sz="1350" dirty="0"/>
          </a:p>
        </p:txBody>
      </p:sp>
      <p:sp>
        <p:nvSpPr>
          <p:cNvPr id="17" name="Shape 14"/>
          <p:cNvSpPr/>
          <p:nvPr/>
        </p:nvSpPr>
        <p:spPr>
          <a:xfrm>
            <a:off x="4191000" y="3288804"/>
            <a:ext cx="7543800" cy="752574"/>
          </a:xfrm>
          <a:custGeom>
            <a:avLst/>
            <a:gdLst/>
            <a:ahLst/>
            <a:cxnLst/>
            <a:rect l="l" t="t" r="r" b="b"/>
            <a:pathLst>
              <a:path w="7543800" h="752574">
                <a:moveTo>
                  <a:pt x="38100" y="752574"/>
                </a:moveTo>
                <a:lnTo>
                  <a:pt x="25400" y="752574"/>
                </a:lnTo>
                <a:arcTo hR="25400" wR="25400" stAng="5400000" swAng="5400000"/>
                <a:lnTo>
                  <a:pt x="0" y="25400"/>
                </a:lnTo>
                <a:arcTo hR="25400" wR="25400" stAng="10800000" swAng="5400000"/>
                <a:lnTo>
                  <a:pt x="38100" y="0"/>
                </a:lnTo>
                <a:lnTo>
                  <a:pt x="38100" y="752574"/>
                </a:lnTo>
                <a:close/>
              </a:path>
            </a:pathLst>
          </a:custGeom>
          <a:solidFill>
            <a:srgbClr val="C8873A"/>
          </a:solidFill>
          <a:ln/>
        </p:spPr>
      </p:sp>
      <p:sp>
        <p:nvSpPr>
          <p:cNvPr id="18" name="Text 15"/>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Ground-state RMSE against FCI/cc-pVDZ over the H₃ window; exploratory ladder notebook</a:t>
            </a:r>
            <a:endParaRPr lang="en-US" sz="1200" dirty="0"/>
          </a:p>
        </p:txBody>
      </p:sp>
      <p:sp>
        <p:nvSpPr>
          <p:cNvPr id="19" name="Text 16"/>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OXYGEN · WATER</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Water: a frame must contain the right structures</a:t>
            </a:r>
            <a:endParaRPr lang="en-US" sz="2700" dirty="0"/>
          </a:p>
        </p:txBody>
      </p:sp>
      <p:pic>
        <p:nvPicPr>
          <p:cNvPr id="6" name="Image 0" descr="Left: breaking one O-H bond; the covalent DIM frame matches FCI beyond 2.4 Angstrom but is 46 kcal/mol too high at equilibrium. Right: bending; the frame is lowest at 180 degrees while FCI has its minimum near 110 degrees">    </p:cNvPr>
          <p:cNvPicPr>
            <a:picLocks noChangeAspect="1"/>
          </p:cNvPicPr>
          <p:nvPr/>
        </p:nvPicPr>
        <p:blipFill>
          <a:blip r:embed="rId1"/>
          <a:srcRect l="0" r="0" t="-60" b="-60"/>
          <a:stretch/>
        </p:blipFill>
        <p:spPr>
          <a:xfrm>
            <a:off x="457200" y="1327100"/>
            <a:ext cx="6096000" cy="2178050"/>
          </a:xfrm>
          <a:prstGeom prst="rect">
            <a:avLst/>
          </a:prstGeom>
        </p:spPr>
      </p:pic>
      <p:sp>
        <p:nvSpPr>
          <p:cNvPr id="7" name="Text 4"/>
          <p:cNvSpPr/>
          <p:nvPr/>
        </p:nvSpPr>
        <p:spPr>
          <a:xfrm>
            <a:off x="504444" y="3619450"/>
            <a:ext cx="6225159" cy="1164431"/>
          </a:xfrm>
          <a:prstGeom prst="rect">
            <a:avLst/>
          </a:prstGeom>
          <a:noFill/>
          <a:ln/>
        </p:spPr>
        <p:txBody>
          <a:bodyPr wrap="square" lIns="0" tIns="0" rIns="0" bIns="0" rtlCol="0" anchor="t">
            <a:normAutofit/>
          </a:bodyPr>
          <a:lstStyle/>
          <a:p>
            <a:pPr algn="l" marL="168656" indent="-168656">
              <a:lnSpc>
                <a:spcPts val="1794"/>
              </a:lnSpc>
              <a:buSzPct val="100000"/>
              <a:buChar char="•"/>
            </a:pPr>
            <a:r>
              <a:rPr lang="en-US" sz="1300" dirty="0">
                <a:solidFill>
                  <a:srgbClr val="2E2A36"/>
                </a:solidFill>
                <a:latin typeface="Source Sans 3" pitchFamily="34" charset="0"/>
                <a:ea typeface="Source Sans 3" pitchFamily="34" charset="-122"/>
                <a:cs typeface="Source Sans 3" pitchFamily="34" charset="-120"/>
              </a:rPr>
              <a:t>Covalent DIM frame from eight OH states and H₂, with </a:t>
            </a:r>
            <a:r>
              <a:rPr lang="en-US" sz="1300" b="1" dirty="0">
                <a:solidFill>
                  <a:srgbClr val="2E2A36"/>
                </a:solidFill>
                <a:latin typeface="Source Sans 3" pitchFamily="34" charset="0"/>
                <a:ea typeface="Source Sans 3" pitchFamily="34" charset="-122"/>
                <a:cs typeface="Source Sans 3" pitchFamily="34" charset="-120"/>
              </a:rPr>
              <a:t>no water data</a:t>
            </a:r>
            <a:r>
              <a:rPr lang="en-US" sz="1300" dirty="0">
                <a:solidFill>
                  <a:srgbClr val="2E2A36"/>
                </a:solidFill>
                <a:latin typeface="Source Sans 3" pitchFamily="34" charset="0"/>
                <a:ea typeface="Source Sans 3" pitchFamily="34" charset="-122"/>
                <a:cs typeface="Source Sans 3" pitchFamily="34" charset="-120"/>
              </a:rPr>
              <a:t>: dissociation limits exact.</a:t>
            </a:r>
            <a:endParaRPr lang="en-US" sz="1300" dirty="0"/>
          </a:p>
          <a:p>
            <a:pPr algn="l" marL="168656" indent="-168656">
              <a:lnSpc>
                <a:spcPts val="1794"/>
              </a:lnSpc>
              <a:buSzPct val="100000"/>
              <a:buChar char="•"/>
            </a:pPr>
            <a:r>
              <a:rPr lang="en-US" sz="1300" dirty="0">
                <a:solidFill>
                  <a:srgbClr val="2E2A36"/>
                </a:solidFill>
                <a:latin typeface="Source Sans 3" pitchFamily="34" charset="0"/>
                <a:ea typeface="Source Sans 3" pitchFamily="34" charset="-122"/>
                <a:cs typeface="Source Sans 3" pitchFamily="34" charset="-120"/>
              </a:rPr>
              <a:t>But 46 kcal/mol underbound and </a:t>
            </a:r>
            <a:r>
              <a:rPr lang="en-US" sz="1300" b="1" dirty="0">
                <a:solidFill>
                  <a:srgbClr val="2E2A36"/>
                </a:solidFill>
                <a:latin typeface="Source Sans 3" pitchFamily="34" charset="0"/>
                <a:ea typeface="Source Sans 3" pitchFamily="34" charset="-122"/>
                <a:cs typeface="Source Sans 3" pitchFamily="34" charset="-120"/>
              </a:rPr>
              <a:t>linear</a:t>
            </a:r>
            <a:r>
              <a:rPr lang="en-US" sz="1300" dirty="0">
                <a:solidFill>
                  <a:srgbClr val="2E2A36"/>
                </a:solidFill>
                <a:latin typeface="Source Sans 3" pitchFamily="34" charset="0"/>
                <a:ea typeface="Source Sans 3" pitchFamily="34" charset="-122"/>
                <a:cs typeface="Source Sans 3" pitchFamily="34" charset="-120"/>
              </a:rPr>
              <a:t>: two in-plane O 2p holes look like an OH bond from every direction.</a:t>
            </a:r>
            <a:endParaRPr lang="en-US" sz="1300" dirty="0"/>
          </a:p>
          <a:p>
            <a:pPr algn="l" marL="168656" indent="-168656">
              <a:lnSpc>
                <a:spcPts val="1794"/>
              </a:lnSpc>
              <a:buSzPct val="100000"/>
              <a:buChar char="•"/>
            </a:pPr>
            <a:r>
              <a:rPr lang="en-US" sz="1300" dirty="0">
                <a:solidFill>
                  <a:srgbClr val="2E2A36"/>
                </a:solidFill>
                <a:latin typeface="Source Sans 3" pitchFamily="34" charset="0"/>
                <a:ea typeface="Source Sans 3" pitchFamily="34" charset="-122"/>
                <a:cs typeface="Source Sans 3" pitchFamily="34" charset="-120"/>
              </a:rPr>
              <a:t>Angle information requires ionic O⁻H⁺ structures.</a:t>
            </a:r>
            <a:endParaRPr lang="en-US" sz="1300" dirty="0"/>
          </a:p>
        </p:txBody>
      </p:sp>
      <p:sp>
        <p:nvSpPr>
          <p:cNvPr id="8" name="Text 5"/>
          <p:cNvSpPr/>
          <p:nvPr/>
        </p:nvSpPr>
        <p:spPr>
          <a:xfrm>
            <a:off x="6858000" y="1327100"/>
            <a:ext cx="5023104"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TEST RMSE (KCAL/MOL)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70700" y="1654721"/>
          <a:ext cx="4864100" cy="2155924"/>
        </p:xfrm>
        <a:graphic>
          <a:graphicData uri="http://schemas.openxmlformats.org/drawingml/2006/table">
            <a:tbl>
              <a:tblPr/>
              <a:tblGrid>
                <a:gridCol w="2723896"/>
                <a:gridCol w="1070102"/>
                <a:gridCol w="1070102"/>
              </a:tblGrid>
              <a:tr h="359321">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Model</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algn="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n = 40</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algn="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n = 80</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Frame, no data</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24.8</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24.8</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 OH state mixing</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20.8</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17.6</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 kernel ridge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13.1</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4.7</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Framed CDNN</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9.4</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1.5</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Kernel ridge alone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32.0</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algn="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5.1</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bl>
          </a:graphicData>
        </a:graphic>
      </p:graphicFrame>
      <p:sp>
        <p:nvSpPr>
          <p:cNvPr id="10" name="Text 6"/>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Frozen-core FCI/6-31G, 149 geometries; mean of two random splits; DIM: F. O. Ellison, J. Am. Chem. Soc. 85, 3540 (1963)</a:t>
            </a:r>
            <a:endParaRPr lang="en-US" sz="1200" dirty="0"/>
          </a:p>
        </p:txBody>
      </p:sp>
      <p:sp>
        <p:nvSpPr>
          <p:cNvPr id="11" name="Text 7"/>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TOWARD CRIEGEE INTERMEDIATES · FRAME</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CH₂OO: charged and excited fragments fix the structures</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9900" y="1339800"/>
          <a:ext cx="11264900" cy="1437283"/>
        </p:xfrm>
        <a:graphic>
          <a:graphicData uri="http://schemas.openxmlformats.org/drawingml/2006/table">
            <a:tbl>
              <a:tblPr/>
              <a:tblGrid>
                <a:gridCol w="2703576"/>
                <a:gridCol w="3492119"/>
                <a:gridCol w="3266821"/>
                <a:gridCol w="1802384"/>
              </a:tblGrid>
              <a:tr h="359321">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Structure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Dissociates to</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Asymptote (source)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c>
                  <a:txBody>
                    <a:bodyPr/>
                    <a:lstStyle/>
                    <a:p>
                      <a:pPr indent="0" marL="0">
                        <a:lnSpc>
                          <a:spcPts val="1820"/>
                        </a:lnSpc>
                        <a:buNone/>
                      </a:pPr>
                      <a:r>
                        <a:rPr lang="en-US" sz="1300" b="1" dirty="0">
                          <a:solidFill>
                            <a:srgbClr val="4A3868"/>
                          </a:solidFill>
                          <a:latin typeface="Source Sans 3" pitchFamily="34" charset="0"/>
                          <a:ea typeface="Source Sans 3" pitchFamily="34" charset="-122"/>
                          <a:cs typeface="Source Sans 3" pitchFamily="34" charset="-120"/>
                        </a:rPr>
                        <a:t>Long range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BFBCC2"/>
                      </a:solidFill>
                      <a:prstDash val="solid"/>
                      <a:round/>
                      <a:headEnd type="none" w="med" len="med"/>
                      <a:tailEnd type="none" w="med" len="med"/>
                    </a:lnL>
                    <a:lnR w="12700" cap="flat" cmpd="sng" algn="ctr">
                      <a:solidFill>
                        <a:srgbClr val="BFBCC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C2"/>
                      </a:solidFill>
                      <a:prstDash val="solid"/>
                      <a:round/>
                      <a:headEnd type="none" w="med" len="med"/>
                      <a:tailEnd type="none" w="med" len="med"/>
                    </a:lnB>
                    <a:solidFill>
                      <a:srgbClr val="EFEBF3"/>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Covalent (×3)</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CH₂O(S₀) + O(¹D)</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0 eV (reference)</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constant</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C2"/>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Biradical</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CH₂O(T₁) + O(³P), singlet-coupled</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+1.17 eV (CASSCF)</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constant</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Zwitterion H₂C=O⁺–O⁻</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CH₂O⁺ + O⁻</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IE − EA − ΔE(¹D) = 7.45 eV</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2E2A36"/>
                          </a:solidFill>
                          <a:latin typeface="Source Sans 3" pitchFamily="34" charset="0"/>
                          <a:ea typeface="Source Sans 3" pitchFamily="34" charset="-122"/>
                          <a:cs typeface="Source Sans 3" pitchFamily="34" charset="-120"/>
                        </a:rPr>
                        <a:t>−14.40 / r</a:t>
                      </a:r>
                      <a:endParaRPr lang="en-US" sz="1300" dirty="0">
                        <a:latin typeface="Source Sans 3" charset="0"/>
                        <a:ea typeface="Source Sans 3" charset="0"/>
                        <a:cs typeface="Source Sans 3" charset="0"/>
                      </a:endParaRPr>
                    </a:p>
                  </a:txBody>
                  <a:tcPr marL="57785" marR="57785" marT="57785" marB="57785"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bl>
          </a:graphicData>
        </a:graphic>
      </p:graphicFrame>
      <p:sp>
        <p:nvSpPr>
          <p:cNvPr id="7" name="Shape 4"/>
          <p:cNvSpPr/>
          <p:nvPr/>
        </p:nvSpPr>
        <p:spPr>
          <a:xfrm>
            <a:off x="457200" y="2967583"/>
            <a:ext cx="5734050" cy="1064617"/>
          </a:xfrm>
          <a:prstGeom prst="roundRect">
            <a:avLst>
              <a:gd name="adj" fmla="val 2386"/>
            </a:avLst>
          </a:prstGeom>
          <a:solidFill>
            <a:srgbClr val="EFEBF3"/>
          </a:solidFill>
          <a:ln/>
        </p:spPr>
      </p:sp>
      <p:sp>
        <p:nvSpPr>
          <p:cNvPr id="8" name="Shape 5"/>
          <p:cNvSpPr/>
          <p:nvPr/>
        </p:nvSpPr>
        <p:spPr>
          <a:xfrm>
            <a:off x="457200" y="2967583"/>
            <a:ext cx="5734050" cy="1064617"/>
          </a:xfrm>
          <a:custGeom>
            <a:avLst/>
            <a:gdLst/>
            <a:ahLst/>
            <a:cxnLst/>
            <a:rect l="l" t="t" r="r" b="b"/>
            <a:pathLst>
              <a:path w="5734050" h="1064617">
                <a:moveTo>
                  <a:pt x="38100" y="1064617"/>
                </a:moveTo>
                <a:lnTo>
                  <a:pt x="25400" y="1064617"/>
                </a:lnTo>
                <a:arcTo hR="25400" wR="25400" stAng="5400000" swAng="5400000"/>
                <a:lnTo>
                  <a:pt x="0" y="25400"/>
                </a:lnTo>
                <a:arcTo hR="25400" wR="25400" stAng="10800000" swAng="5400000"/>
                <a:lnTo>
                  <a:pt x="38100" y="0"/>
                </a:lnTo>
                <a:lnTo>
                  <a:pt x="38100" y="1064617"/>
                </a:lnTo>
                <a:close/>
              </a:path>
            </a:pathLst>
          </a:custGeom>
          <a:solidFill>
            <a:srgbClr val="C8873A"/>
          </a:solidFill>
          <a:ln/>
        </p:spPr>
      </p:sp>
      <p:sp>
        <p:nvSpPr>
          <p:cNvPr id="9" name="Text 6"/>
          <p:cNvSpPr/>
          <p:nvPr/>
        </p:nvSpPr>
        <p:spPr>
          <a:xfrm>
            <a:off x="698500" y="3107283"/>
            <a:ext cx="544823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4A3868"/>
                </a:solidFill>
                <a:latin typeface="Source Serif 4" pitchFamily="18" charset="0"/>
                <a:ea typeface="Source Serif 4" pitchFamily="18" charset="-122"/>
                <a:cs typeface="Source Serif 4" pitchFamily="18" charset="-120"/>
              </a:rPr>
              <a:t>r* ≈ 14.40 / 7.45 ≈ 1.9 Å</a:t>
            </a:r>
            <a:endParaRPr lang="en-US" sz="2800" dirty="0"/>
          </a:p>
        </p:txBody>
      </p:sp>
      <p:sp>
        <p:nvSpPr>
          <p:cNvPr id="10" name="Text 7"/>
          <p:cNvSpPr/>
          <p:nvPr/>
        </p:nvSpPr>
        <p:spPr>
          <a:xfrm>
            <a:off x="698500" y="3655913"/>
            <a:ext cx="5492750" cy="261987"/>
          </a:xfrm>
          <a:prstGeom prst="rect">
            <a:avLst/>
          </a:prstGeom>
          <a:noFill/>
          <a:ln/>
        </p:spPr>
        <p:txBody>
          <a:bodyPr wrap="square" lIns="0" tIns="0" rIns="0" bIns="0" rtlCol="0" anchor="t">
            <a:normAutofit/>
          </a:bodyPr>
          <a:lstStyle/>
          <a:p>
            <a:pPr algn="l" indent="0" marL="0">
              <a:lnSpc>
                <a:spcPts val="1863"/>
              </a:lnSpc>
              <a:buNone/>
            </a:pPr>
            <a:r>
              <a:rPr lang="en-US" sz="1350" dirty="0">
                <a:solidFill>
                  <a:srgbClr val="2E2A36"/>
                </a:solidFill>
                <a:latin typeface="Source Sans 3" pitchFamily="34" charset="0"/>
                <a:ea typeface="Source Sans 3" pitchFamily="34" charset="-122"/>
                <a:cs typeface="Source Sans 3" pitchFamily="34" charset="-120"/>
              </a:rPr>
              <a:t>The ion pair crosses the covalent structures where the O–O bond breaks.</a:t>
            </a:r>
            <a:endParaRPr lang="en-US" sz="1350" dirty="0"/>
          </a:p>
        </p:txBody>
      </p:sp>
      <p:sp>
        <p:nvSpPr>
          <p:cNvPr id="11" name="Text 8"/>
          <p:cNvSpPr/>
          <p:nvPr/>
        </p:nvSpPr>
        <p:spPr>
          <a:xfrm>
            <a:off x="6492113" y="2967583"/>
            <a:ext cx="5394897" cy="971748"/>
          </a:xfrm>
          <a:prstGeom prst="rect">
            <a:avLst/>
          </a:prstGeom>
          <a:noFill/>
          <a:ln/>
        </p:spPr>
        <p:txBody>
          <a:bodyPr wrap="square" lIns="0" tIns="0" rIns="0" bIns="0" rtlCol="0" anchor="t">
            <a:normAutofit/>
          </a:bodyPr>
          <a:lstStyle/>
          <a:p>
            <a:pPr algn="l" marL="169037" indent="-169037">
              <a:lnSpc>
                <a:spcPts val="1863"/>
              </a:lnSpc>
              <a:buSzPct val="100000"/>
              <a:buChar char="•"/>
            </a:pPr>
            <a:r>
              <a:rPr lang="en-US" sz="1350" dirty="0">
                <a:solidFill>
                  <a:srgbClr val="2E2A36"/>
                </a:solidFill>
                <a:latin typeface="Source Sans 3" pitchFamily="34" charset="0"/>
                <a:ea typeface="Source Sans 3" pitchFamily="34" charset="-122"/>
                <a:cs typeface="Source Sans 3" pitchFamily="34" charset="-120"/>
              </a:rPr>
              <a:t>10.88 − 1.46 − 1.97 eV: ionisation energy of CH₂O, electron affinity of O, O(¹D)–O(³P) splitting.</a:t>
            </a:r>
            <a:endParaRPr lang="en-US" sz="1350" dirty="0"/>
          </a:p>
          <a:p>
            <a:pPr algn="l" marL="169037" indent="-169037">
              <a:lnSpc>
                <a:spcPts val="1863"/>
              </a:lnSpc>
              <a:buSzPct val="100000"/>
              <a:buChar char="•"/>
            </a:pPr>
            <a:r>
              <a:rPr lang="en-US" sz="1350" b="1" dirty="0">
                <a:solidFill>
                  <a:srgbClr val="4A3868"/>
                </a:solidFill>
                <a:latin typeface="Source Sans 3" pitchFamily="34" charset="0"/>
                <a:ea typeface="Source Sans 3" pitchFamily="34" charset="-122"/>
                <a:cs typeface="Source Sans 3" pitchFamily="34" charset="-120"/>
              </a:rPr>
              <a:t>These are rungs of the ladder:</a:t>
            </a:r>
            <a:r>
              <a:rPr lang="en-US" sz="1350" dirty="0">
                <a:solidFill>
                  <a:srgbClr val="2E2A36"/>
                </a:solidFill>
                <a:latin typeface="Source Sans 3" pitchFamily="34" charset="0"/>
                <a:ea typeface="Source Sans 3" pitchFamily="34" charset="-122"/>
                <a:cs typeface="Source Sans 3" pitchFamily="34" charset="-120"/>
              </a:rPr>
              <a:t> the cation, the anion and an excited term.</a:t>
            </a:r>
            <a:endParaRPr lang="en-US" sz="1350" dirty="0"/>
          </a:p>
        </p:txBody>
      </p:sp>
      <p:sp>
        <p:nvSpPr>
          <p:cNvPr id="12" name="Text 9"/>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Experimental IE(CH₂O), EA(O) and O(¹D)–O(³P); ΔCCSD(T)/aug-cc-pVTZ check in diabml.refs.ladder</a:t>
            </a:r>
            <a:endParaRPr lang="en-US" sz="1200" dirty="0"/>
          </a:p>
        </p:txBody>
      </p:sp>
      <p:sp>
        <p:nvSpPr>
          <p:cNvPr id="13" name="Text 10"/>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TOWARD CRIEGEE INTERMEDIATES · REFERENCE DATA</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CH₂OO: part zwitterion, part biradical along O–O</a:t>
            </a:r>
            <a:endParaRPr lang="en-US" sz="2700" dirty="0"/>
          </a:p>
        </p:txBody>
      </p:sp>
      <p:pic>
        <p:nvPicPr>
          <p:cNvPr id="6" name="Image 0" descr="Three panels along the O-O stretch for four singlet states: energies; Mulliken charge on the terminal O; effective unpaired electrons">    </p:cNvPr>
          <p:cNvPicPr>
            <a:picLocks noChangeAspect="1"/>
          </p:cNvPicPr>
          <p:nvPr/>
        </p:nvPicPr>
        <p:blipFill>
          <a:blip r:embed="rId1"/>
          <a:srcRect l="0" r="0" t="-46" b="-46"/>
          <a:stretch/>
        </p:blipFill>
        <p:spPr>
          <a:xfrm>
            <a:off x="457200" y="1327100"/>
            <a:ext cx="10566400" cy="2921000"/>
          </a:xfrm>
          <a:prstGeom prst="rect">
            <a:avLst/>
          </a:prstGeom>
        </p:spPr>
      </p:pic>
      <p:sp>
        <p:nvSpPr>
          <p:cNvPr id="7" name="Text 4"/>
          <p:cNvSpPr/>
          <p:nvPr/>
        </p:nvSpPr>
        <p:spPr>
          <a:xfrm>
            <a:off x="457200" y="4425900"/>
            <a:ext cx="5057391" cy="498574"/>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Ground state at equilibrium:</a:t>
            </a:r>
            <a:r>
              <a:rPr lang="en-US" sz="1350" dirty="0">
                <a:solidFill>
                  <a:srgbClr val="2E2A36"/>
                </a:solidFill>
                <a:latin typeface="Source Sans 3" pitchFamily="34" charset="0"/>
                <a:ea typeface="Source Sans 3" pitchFamily="34" charset="-122"/>
                <a:cs typeface="Source Sans 3" pitchFamily="34" charset="-120"/>
              </a:rPr>
              <a:t> −0.27 e on the terminal O and 0.6 effective unpaired electrons; both change through 1.5–2.5 Å.</a:t>
            </a:r>
            <a:endParaRPr lang="en-US" sz="1350" dirty="0"/>
          </a:p>
        </p:txBody>
      </p:sp>
      <p:sp>
        <p:nvSpPr>
          <p:cNvPr id="8" name="Text 5"/>
          <p:cNvSpPr/>
          <p:nvPr/>
        </p:nvSpPr>
        <p:spPr>
          <a:xfrm>
            <a:off x="5672088" y="4425900"/>
            <a:ext cx="6244593" cy="498574"/>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Data:</a:t>
            </a:r>
            <a:r>
              <a:rPr lang="en-US" sz="1350" dirty="0">
                <a:solidFill>
                  <a:srgbClr val="2E2A36"/>
                </a:solidFill>
                <a:latin typeface="Source Sans 3" pitchFamily="34" charset="0"/>
                <a:ea typeface="Source Sans 3" pitchFamily="34" charset="-122"/>
                <a:cs typeface="Source Sans 3" pitchFamily="34" charset="-120"/>
              </a:rPr>
              <a:t> SA4-CASSCF(8,6)/6-31G*, four singlet A′ states, 120 planar geometries. A methods testbed: no dynamic correlation, so the O–O bond is underbound.</a:t>
            </a:r>
            <a:endParaRPr lang="en-US" sz="1350" dirty="0"/>
          </a:p>
        </p:txBody>
      </p:sp>
      <p:sp>
        <p:nvSpPr>
          <p:cNvPr id="9" name="Text 6"/>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PySCF SA4-CASSCF(8,6)/6-31G*; C–O–O angle 117.7° shown; per-state Mulliken charges and natural occupations</a:t>
            </a:r>
            <a:endParaRPr lang="en-US" sz="1200" dirty="0"/>
          </a:p>
        </p:txBody>
      </p:sp>
      <p:sp>
        <p:nvSpPr>
          <p:cNvPr id="10" name="Text 7"/>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TOWARD CRIEGEE INTERMEDIATES · EXTRAPOLATION</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Physics where the data run out</a:t>
            </a:r>
            <a:endParaRPr lang="en-US" sz="2700" dirty="0"/>
          </a:p>
        </p:txBody>
      </p:sp>
      <p:pic>
        <p:nvPicPr>
          <p:cNvPr id="6" name="Image 0" descr="Both models trained on O-O distances up to 2.3 Angstrom. Plain CDNN curves diverge beyond the data; the framed CDNN curves level off onto the CASSCF asymptotes">    </p:cNvPr>
          <p:cNvPicPr>
            <a:picLocks noChangeAspect="1"/>
          </p:cNvPicPr>
          <p:nvPr/>
        </p:nvPicPr>
        <p:blipFill>
          <a:blip r:embed="rId1"/>
          <a:srcRect l="0" r="0" t="-17" b="-17"/>
          <a:stretch/>
        </p:blipFill>
        <p:spPr>
          <a:xfrm>
            <a:off x="457200" y="1327100"/>
            <a:ext cx="10033000" cy="3467100"/>
          </a:xfrm>
          <a:prstGeom prst="rect">
            <a:avLst/>
          </a:prstGeom>
        </p:spPr>
      </p:pic>
      <p:sp>
        <p:nvSpPr>
          <p:cNvPr id="7" name="Text 4"/>
          <p:cNvSpPr/>
          <p:nvPr/>
        </p:nvSpPr>
        <p:spPr>
          <a:xfrm>
            <a:off x="457200" y="4972000"/>
            <a:ext cx="5571177" cy="498574"/>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Beyond the training data</a:t>
            </a:r>
            <a:r>
              <a:rPr lang="en-US" sz="1350" dirty="0">
                <a:solidFill>
                  <a:srgbClr val="2E2A36"/>
                </a:solidFill>
                <a:latin typeface="Source Sans 3" pitchFamily="34" charset="0"/>
                <a:ea typeface="Source Sans 3" pitchFamily="34" charset="-122"/>
                <a:cs typeface="Source Sans 3" pitchFamily="34" charset="-120"/>
              </a:rPr>
              <a:t> (r &gt; 2.3 Å): framed CDNN 2.2–6.4 kcal/mol across the four states; plain CDNN 110–330.</a:t>
            </a:r>
            <a:endParaRPr lang="en-US" sz="1350" dirty="0"/>
          </a:p>
        </p:txBody>
      </p:sp>
      <p:sp>
        <p:nvSpPr>
          <p:cNvPr id="8" name="Text 5"/>
          <p:cNvSpPr/>
          <p:nvPr/>
        </p:nvSpPr>
        <p:spPr>
          <a:xfrm>
            <a:off x="6170910" y="4972000"/>
            <a:ext cx="5730807" cy="498574"/>
          </a:xfrm>
          <a:prstGeom prst="rect">
            <a:avLst/>
          </a:prstGeom>
          <a:noFill/>
          <a:ln/>
        </p:spPr>
        <p:txBody>
          <a:bodyPr wrap="square" lIns="0" tIns="0" rIns="0" bIns="0" rtlCol="0" anchor="t">
            <a:normAutofit/>
          </a:bodyPr>
          <a:lstStyle/>
          <a:p>
            <a:pPr algn="l" indent="0" marL="0">
              <a:lnSpc>
                <a:spcPts val="1863"/>
              </a:lnSpc>
              <a:buNone/>
            </a:pPr>
            <a:r>
              <a:rPr lang="en-US" sz="1350" b="1" dirty="0">
                <a:solidFill>
                  <a:srgbClr val="4A3868"/>
                </a:solidFill>
                <a:latin typeface="Source Sans 3" pitchFamily="34" charset="0"/>
                <a:ea typeface="Source Sans 3" pitchFamily="34" charset="-122"/>
                <a:cs typeface="Source Sans 3" pitchFamily="34" charset="-120"/>
              </a:rPr>
              <a:t>The cost:</a:t>
            </a:r>
            <a:r>
              <a:rPr lang="en-US" sz="1350" dirty="0">
                <a:solidFill>
                  <a:srgbClr val="2E2A36"/>
                </a:solidFill>
                <a:latin typeface="Source Sans 3" pitchFamily="34" charset="0"/>
                <a:ea typeface="Source Sans 3" pitchFamily="34" charset="-122"/>
                <a:cs typeface="Source Sans 3" pitchFamily="34" charset="-120"/>
              </a:rPr>
              <a:t> inside the data, plain CDNN fits the two lowest states somewhat better (1.1–1.6 against 3.2–3.6 kcal/mol).</a:t>
            </a:r>
            <a:endParaRPr lang="en-US" sz="1350" dirty="0"/>
          </a:p>
        </p:txBody>
      </p:sp>
      <p:sp>
        <p:nvSpPr>
          <p:cNvPr id="9" name="Text 6"/>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Mean of three random training sets drawn from r ≤ 2.3 Å; SA4-CASSCF(8,6)/6-31G* references</a:t>
            </a:r>
            <a:endParaRPr lang="en-US" sz="1200" dirty="0"/>
          </a:p>
        </p:txBody>
      </p:sp>
      <p:sp>
        <p:nvSpPr>
          <p:cNvPr id="10" name="Text 7"/>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TOWARD CRIEGEE INTERMEDIATES · INTERPRETATION</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What the learned structures say, and what they do not</a:t>
            </a:r>
            <a:endParaRPr lang="en-US" sz="2700" dirty="0"/>
          </a:p>
        </p:txBody>
      </p:sp>
      <p:pic>
        <p:nvPicPr>
          <p:cNvPr id="6" name="Image 0" descr="Diagonal elements of the learned matrix along the O-O stretch. The zwitterion structure follows the ground state from 1.2 to about 2.2 Angstrom and then rises along its Coulomb curve; the covalent and biradical structures follow the excited states">    </p:cNvPr>
          <p:cNvPicPr>
            <a:picLocks noChangeAspect="1"/>
          </p:cNvPicPr>
          <p:nvPr/>
        </p:nvPicPr>
        <p:blipFill>
          <a:blip r:embed="rId1"/>
          <a:srcRect l="-42" r="-42" t="0" b="0"/>
          <a:stretch/>
        </p:blipFill>
        <p:spPr>
          <a:xfrm>
            <a:off x="457200" y="1327100"/>
            <a:ext cx="6604000" cy="3676650"/>
          </a:xfrm>
          <a:prstGeom prst="rect">
            <a:avLst/>
          </a:prstGeom>
        </p:spPr>
      </p:pic>
      <p:sp>
        <p:nvSpPr>
          <p:cNvPr id="7" name="Text 4"/>
          <p:cNvSpPr/>
          <p:nvPr/>
        </p:nvSpPr>
        <p:spPr>
          <a:xfrm>
            <a:off x="7387463" y="1327100"/>
            <a:ext cx="4472686" cy="2154684"/>
          </a:xfrm>
          <a:prstGeom prst="rect">
            <a:avLst/>
          </a:prstGeom>
          <a:noFill/>
          <a:ln/>
        </p:spPr>
        <p:txBody>
          <a:bodyPr wrap="square" lIns="0" tIns="0" rIns="0" bIns="0" rtlCol="0" anchor="t">
            <a:normAutofit/>
          </a:bodyPr>
          <a:lstStyle/>
          <a:p>
            <a:pPr algn="l" marL="169037" indent="-169037">
              <a:lnSpc>
                <a:spcPts val="1863"/>
              </a:lnSpc>
              <a:buSzPct val="100000"/>
              <a:buChar char="•"/>
            </a:pPr>
            <a:r>
              <a:rPr lang="en-US" sz="1350" b="1" dirty="0">
                <a:solidFill>
                  <a:srgbClr val="4A3868"/>
                </a:solidFill>
                <a:latin typeface="Source Sans 3" pitchFamily="34" charset="0"/>
                <a:ea typeface="Source Sans 3" pitchFamily="34" charset="-122"/>
                <a:cs typeface="Source Sans 3" pitchFamily="34" charset="-120"/>
              </a:rPr>
              <a:t>Consistent:</a:t>
            </a:r>
            <a:r>
              <a:rPr lang="en-US" sz="1350" dirty="0">
                <a:solidFill>
                  <a:srgbClr val="2E2A36"/>
                </a:solidFill>
                <a:latin typeface="Source Sans 3" pitchFamily="34" charset="0"/>
                <a:ea typeface="Source Sans 3" pitchFamily="34" charset="-122"/>
                <a:cs typeface="Source Sans 3" pitchFamily="34" charset="-120"/>
              </a:rPr>
              <a:t> the equilibrium ground state is assigned to the zwitterion, which hands over to the covalent structures near 2.2 Å, close to the Coulomb estimate r* ≈ 1.9 Å.</a:t>
            </a:r>
            <a:endParaRPr lang="en-US" sz="1350" dirty="0"/>
          </a:p>
          <a:p>
            <a:pPr algn="l" marL="169037" indent="-169037">
              <a:lnSpc>
                <a:spcPts val="1863"/>
              </a:lnSpc>
              <a:buSzPct val="100000"/>
              <a:buChar char="•"/>
            </a:pPr>
            <a:r>
              <a:rPr lang="en-US" sz="1350" b="1" dirty="0">
                <a:solidFill>
                  <a:srgbClr val="4A3868"/>
                </a:solidFill>
                <a:latin typeface="Source Sans 3" pitchFamily="34" charset="0"/>
                <a:ea typeface="Source Sans 3" pitchFamily="34" charset="-122"/>
                <a:cs typeface="Source Sans 3" pitchFamily="34" charset="-120"/>
              </a:rPr>
              <a:t>Not yet diabatic:</a:t>
            </a:r>
            <a:r>
              <a:rPr lang="en-US" sz="1350" dirty="0">
                <a:solidFill>
                  <a:srgbClr val="2E2A36"/>
                </a:solidFill>
                <a:latin typeface="Source Sans 3" pitchFamily="34" charset="0"/>
                <a:ea typeface="Source Sans 3" pitchFamily="34" charset="-122"/>
                <a:cs typeface="Source Sans 3" pitchFamily="34" charset="-120"/>
              </a:rPr>
              <a:t> learned couplings are nearly zero, so the matrix stays close to adiabatic. Energies alone do not determine how much the structures mix.</a:t>
            </a:r>
            <a:endParaRPr lang="en-US" sz="1350" dirty="0"/>
          </a:p>
          <a:p>
            <a:pPr algn="l" marL="169037" indent="-169037">
              <a:lnSpc>
                <a:spcPts val="1863"/>
              </a:lnSpc>
              <a:buSzPct val="100000"/>
              <a:buChar char="•"/>
            </a:pPr>
            <a:r>
              <a:rPr lang="en-US" sz="1350" b="1" dirty="0">
                <a:solidFill>
                  <a:srgbClr val="4A3868"/>
                </a:solidFill>
                <a:latin typeface="Source Sans 3" pitchFamily="34" charset="0"/>
                <a:ea typeface="Source Sans 3" pitchFamily="34" charset="-122"/>
                <a:cs typeface="Source Sans 3" pitchFamily="34" charset="-120"/>
              </a:rPr>
              <a:t>Next:</a:t>
            </a:r>
            <a:r>
              <a:rPr lang="en-US" sz="1350" dirty="0">
                <a:solidFill>
                  <a:srgbClr val="2E2A36"/>
                </a:solidFill>
                <a:latin typeface="Source Sans 3" pitchFamily="34" charset="0"/>
                <a:ea typeface="Source Sans 3" pitchFamily="34" charset="-122"/>
                <a:cs typeface="Source Sans 3" pitchFamily="34" charset="-120"/>
              </a:rPr>
              <a:t> tie the ionic structure to the computed charge on the terminal O (a diabatic restraint).</a:t>
            </a:r>
            <a:endParaRPr lang="en-US" sz="1350" dirty="0"/>
          </a:p>
        </p:txBody>
      </p:sp>
      <p:sp>
        <p:nvSpPr>
          <p:cNvPr id="8" name="Text 5"/>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Framed CDNN, random 90-point training split; diagonal elements of Ω at C–O–O = 117.7°</a:t>
            </a:r>
            <a:endParaRPr lang="en-US" sz="1200" dirty="0"/>
          </a:p>
        </p:txBody>
      </p:sp>
      <p:sp>
        <p:nvSpPr>
          <p:cNvPr id="9" name="Text 6"/>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SOFTWARE</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diabml: a Python backend for exploring frames</a:t>
            </a:r>
            <a:endParaRPr lang="en-US" sz="2700" dirty="0"/>
          </a:p>
        </p:txBody>
      </p:sp>
      <p:sp>
        <p:nvSpPr>
          <p:cNvPr id="6" name="Text 4"/>
          <p:cNvSpPr/>
          <p:nvPr/>
        </p:nvSpPr>
        <p:spPr>
          <a:xfrm>
            <a:off x="460375" y="1330275"/>
            <a:ext cx="5492750" cy="449560"/>
          </a:xfrm>
          <a:prstGeom prst="roundRect">
            <a:avLst>
              <a:gd name="adj" fmla="val 7769"/>
            </a:avLst>
          </a:prstGeom>
          <a:solidFill>
            <a:srgbClr val="FBFAF7"/>
          </a:solidFill>
          <a:ln w="6350">
            <a:solidFill>
              <a:srgbClr val="DAD3C8"/>
            </a:solidFill>
            <a:prstDash val="solid"/>
          </a:ln>
        </p:spPr>
        <p:txBody>
          <a:bodyPr wrap="square" lIns="158046" tIns="94546" rIns="3360" bIns="69146" rtlCol="0" anchor="t">
            <a:normAutofit/>
          </a:bodyPr>
          <a:lstStyle/>
          <a:p>
            <a:pPr algn="l" indent="0" marL="0">
              <a:lnSpc>
                <a:spcPts val="1890"/>
              </a:lnSpc>
              <a:buNone/>
            </a:pPr>
            <a:r>
              <a:rPr lang="en-US" sz="1350" b="1" dirty="0">
                <a:solidFill>
                  <a:srgbClr val="2E2A36"/>
                </a:solidFill>
                <a:latin typeface="Source Sans 3" pitchFamily="34" charset="0"/>
                <a:ea typeface="Source Sans 3" pitchFamily="34" charset="-122"/>
                <a:cs typeface="Source Sans 3" pitchFamily="34" charset="-120"/>
              </a:rPr>
              <a:t>refs</a:t>
            </a:r>
            <a:r>
              <a:rPr lang="en-US" sz="1350" dirty="0">
                <a:solidFill>
                  <a:srgbClr val="2E2A36"/>
                </a:solidFill>
                <a:latin typeface="Source Sans 3" pitchFamily="34" charset="0"/>
                <a:ea typeface="Source Sans 3" pitchFamily="34" charset="-122"/>
                <a:cs typeface="Source Sans 3" pitchFamily="34" charset="-120"/>
              </a:rPr>
              <a:t> · FCI, SA-CASSCF scans, ladder fragments</a:t>
            </a:r>
            <a:endParaRPr lang="en-US" sz="1350" dirty="0"/>
          </a:p>
        </p:txBody>
      </p:sp>
      <p:sp>
        <p:nvSpPr>
          <p:cNvPr id="7" name="Text 5"/>
          <p:cNvSpPr/>
          <p:nvPr/>
        </p:nvSpPr>
        <p:spPr>
          <a:xfrm>
            <a:off x="460375" y="1862386"/>
            <a:ext cx="5492750" cy="449560"/>
          </a:xfrm>
          <a:prstGeom prst="roundRect">
            <a:avLst>
              <a:gd name="adj" fmla="val 7769"/>
            </a:avLst>
          </a:prstGeom>
          <a:solidFill>
            <a:srgbClr val="FBFAF7"/>
          </a:solidFill>
          <a:ln w="6350">
            <a:solidFill>
              <a:srgbClr val="DAD3C8"/>
            </a:solidFill>
            <a:prstDash val="solid"/>
          </a:ln>
        </p:spPr>
        <p:txBody>
          <a:bodyPr wrap="square" lIns="158046" tIns="94546" rIns="3360" bIns="69146" rtlCol="0" anchor="t">
            <a:normAutofit/>
          </a:bodyPr>
          <a:lstStyle/>
          <a:p>
            <a:pPr algn="l" indent="0" marL="0">
              <a:lnSpc>
                <a:spcPts val="1890"/>
              </a:lnSpc>
              <a:buNone/>
            </a:pPr>
            <a:r>
              <a:rPr lang="en-US" sz="1350" b="1" dirty="0">
                <a:solidFill>
                  <a:srgbClr val="2E2A36"/>
                </a:solidFill>
                <a:latin typeface="Source Sans 3" pitchFamily="34" charset="0"/>
                <a:ea typeface="Source Sans 3" pitchFamily="34" charset="-122"/>
                <a:cs typeface="Source Sans 3" pitchFamily="34" charset="-120"/>
              </a:rPr>
              <a:t>RefSet</a:t>
            </a:r>
            <a:r>
              <a:rPr lang="en-US" sz="1350" dirty="0">
                <a:solidFill>
                  <a:srgbClr val="2E2A36"/>
                </a:solidFill>
                <a:latin typeface="Source Sans 3" pitchFamily="34" charset="0"/>
                <a:ea typeface="Source Sans 3" pitchFamily="34" charset="-122"/>
                <a:cs typeface="Source Sans 3" pitchFamily="34" charset="-120"/>
              </a:rPr>
              <a:t> · one cached file per data set</a:t>
            </a:r>
            <a:endParaRPr lang="en-US" sz="1350" dirty="0"/>
          </a:p>
        </p:txBody>
      </p:sp>
      <p:sp>
        <p:nvSpPr>
          <p:cNvPr id="8" name="Text 6"/>
          <p:cNvSpPr/>
          <p:nvPr/>
        </p:nvSpPr>
        <p:spPr>
          <a:xfrm>
            <a:off x="460375" y="2394496"/>
            <a:ext cx="5492750" cy="449560"/>
          </a:xfrm>
          <a:prstGeom prst="roundRect">
            <a:avLst>
              <a:gd name="adj" fmla="val 7769"/>
            </a:avLst>
          </a:prstGeom>
          <a:solidFill>
            <a:srgbClr val="E6E0EE"/>
          </a:solidFill>
          <a:ln w="6350">
            <a:solidFill>
              <a:srgbClr val="DAD3C8"/>
            </a:solidFill>
            <a:prstDash val="solid"/>
          </a:ln>
        </p:spPr>
        <p:txBody>
          <a:bodyPr wrap="square" lIns="158046" tIns="94546" rIns="3360" bIns="69146" rtlCol="0" anchor="t">
            <a:normAutofit/>
          </a:bodyPr>
          <a:lstStyle/>
          <a:p>
            <a:pPr algn="l" indent="0" marL="0">
              <a:lnSpc>
                <a:spcPts val="1890"/>
              </a:lnSpc>
              <a:buNone/>
            </a:pPr>
            <a:r>
              <a:rPr lang="en-US" sz="1350" b="1" dirty="0">
                <a:solidFill>
                  <a:srgbClr val="2E2A36"/>
                </a:solidFill>
                <a:latin typeface="Source Sans 3" pitchFamily="34" charset="0"/>
                <a:ea typeface="Source Sans 3" pitchFamily="34" charset="-122"/>
                <a:cs typeface="Source Sans 3" pitchFamily="34" charset="-120"/>
              </a:rPr>
              <a:t>frames</a:t>
            </a:r>
            <a:r>
              <a:rPr lang="en-US" sz="1350" dirty="0">
                <a:solidFill>
                  <a:srgbClr val="2E2A36"/>
                </a:solidFill>
                <a:latin typeface="Source Sans 3" pitchFamily="34" charset="0"/>
                <a:ea typeface="Source Sans 3" pitchFamily="34" charset="-122"/>
                <a:cs typeface="Source Sans 3" pitchFamily="34" charset="-120"/>
              </a:rPr>
              <a:t> · London, DIM water, fragment channel</a:t>
            </a:r>
            <a:endParaRPr lang="en-US" sz="1350" dirty="0"/>
          </a:p>
        </p:txBody>
      </p:sp>
      <p:sp>
        <p:nvSpPr>
          <p:cNvPr id="9" name="Text 7"/>
          <p:cNvSpPr/>
          <p:nvPr/>
        </p:nvSpPr>
        <p:spPr>
          <a:xfrm>
            <a:off x="460375" y="2926606"/>
            <a:ext cx="5492750" cy="449560"/>
          </a:xfrm>
          <a:prstGeom prst="roundRect">
            <a:avLst>
              <a:gd name="adj" fmla="val 7769"/>
            </a:avLst>
          </a:prstGeom>
          <a:solidFill>
            <a:srgbClr val="FBFAF7"/>
          </a:solidFill>
          <a:ln w="6350">
            <a:solidFill>
              <a:srgbClr val="DAD3C8"/>
            </a:solidFill>
            <a:prstDash val="solid"/>
          </a:ln>
        </p:spPr>
        <p:txBody>
          <a:bodyPr wrap="square" lIns="158046" tIns="94546" rIns="3360" bIns="69146" rtlCol="0" anchor="t">
            <a:normAutofit/>
          </a:bodyPr>
          <a:lstStyle/>
          <a:p>
            <a:pPr algn="l" indent="0" marL="0">
              <a:lnSpc>
                <a:spcPts val="1890"/>
              </a:lnSpc>
              <a:buNone/>
            </a:pPr>
            <a:r>
              <a:rPr lang="en-US" sz="1350" b="1" dirty="0">
                <a:solidFill>
                  <a:srgbClr val="2E2A36"/>
                </a:solidFill>
                <a:latin typeface="Source Sans 3" pitchFamily="34" charset="0"/>
                <a:ea typeface="Source Sans 3" pitchFamily="34" charset="-122"/>
                <a:cs typeface="Source Sans 3" pitchFamily="34" charset="-120"/>
              </a:rPr>
              <a:t>models</a:t>
            </a:r>
            <a:r>
              <a:rPr lang="en-US" sz="1350" dirty="0">
                <a:solidFill>
                  <a:srgbClr val="2E2A36"/>
                </a:solidFill>
                <a:latin typeface="Source Sans 3" pitchFamily="34" charset="0"/>
                <a:ea typeface="Source Sans 3" pitchFamily="34" charset="-122"/>
                <a:cs typeface="Source Sans 3" pitchFamily="34" charset="-120"/>
              </a:rPr>
              <a:t> · CDNN, framed CDNN, baselines, training</a:t>
            </a:r>
            <a:endParaRPr lang="en-US" sz="1350" dirty="0"/>
          </a:p>
        </p:txBody>
      </p:sp>
      <p:sp>
        <p:nvSpPr>
          <p:cNvPr id="10" name="Text 8"/>
          <p:cNvSpPr/>
          <p:nvPr/>
        </p:nvSpPr>
        <p:spPr>
          <a:xfrm>
            <a:off x="460375" y="3458716"/>
            <a:ext cx="5492750" cy="449560"/>
          </a:xfrm>
          <a:prstGeom prst="roundRect">
            <a:avLst>
              <a:gd name="adj" fmla="val 7769"/>
            </a:avLst>
          </a:prstGeom>
          <a:solidFill>
            <a:srgbClr val="FBFAF7"/>
          </a:solidFill>
          <a:ln w="6350">
            <a:solidFill>
              <a:srgbClr val="DAD3C8"/>
            </a:solidFill>
            <a:prstDash val="solid"/>
          </a:ln>
        </p:spPr>
        <p:txBody>
          <a:bodyPr wrap="square" lIns="158046" tIns="94546" rIns="3360" bIns="69146" rtlCol="0" anchor="t">
            <a:normAutofit/>
          </a:bodyPr>
          <a:lstStyle/>
          <a:p>
            <a:pPr algn="l" indent="0" marL="0">
              <a:lnSpc>
                <a:spcPts val="1890"/>
              </a:lnSpc>
              <a:buNone/>
            </a:pPr>
            <a:r>
              <a:rPr lang="en-US" sz="1350" b="1" dirty="0">
                <a:solidFill>
                  <a:srgbClr val="2E2A36"/>
                </a:solidFill>
                <a:latin typeface="Source Sans 3" pitchFamily="34" charset="0"/>
                <a:ea typeface="Source Sans 3" pitchFamily="34" charset="-122"/>
                <a:cs typeface="Source Sans 3" pitchFamily="34" charset="-120"/>
              </a:rPr>
              <a:t>metrics · plotting · ui</a:t>
            </a:r>
            <a:r>
              <a:rPr lang="en-US" sz="1350" dirty="0">
                <a:solidFill>
                  <a:srgbClr val="2E2A36"/>
                </a:solidFill>
                <a:latin typeface="Source Sans 3" pitchFamily="34" charset="0"/>
                <a:ea typeface="Source Sans 3" pitchFamily="34" charset="-122"/>
                <a:cs typeface="Source Sans 3" pitchFamily="34" charset="-120"/>
              </a:rPr>
              <a:t> · and three notebooks</a:t>
            </a:r>
            <a:endParaRPr lang="en-US" sz="1350" dirty="0"/>
          </a:p>
        </p:txBody>
      </p:sp>
      <p:sp>
        <p:nvSpPr>
          <p:cNvPr id="11" name="Text 9"/>
          <p:cNvSpPr/>
          <p:nvPr/>
        </p:nvSpPr>
        <p:spPr>
          <a:xfrm>
            <a:off x="457200" y="3987651"/>
            <a:ext cx="5664073" cy="481012"/>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55505E"/>
                </a:solidFill>
                <a:latin typeface="Source Sans 3" pitchFamily="34" charset="0"/>
                <a:ea typeface="Source Sans 3" pitchFamily="34" charset="-122"/>
                <a:cs typeface="Source Sans 3" pitchFamily="34" charset="-120"/>
              </a:rPr>
              <a:t>Tests check each frame’s guarantees with random weights: exact degeneracies, permutation invariance, dissociation limits.</a:t>
            </a:r>
            <a:endParaRPr lang="en-US" sz="1300" dirty="0"/>
          </a:p>
        </p:txBody>
      </p:sp>
      <p:sp>
        <p:nvSpPr>
          <p:cNvPr id="12" name="Shape 10"/>
          <p:cNvSpPr/>
          <p:nvPr/>
        </p:nvSpPr>
        <p:spPr>
          <a:xfrm>
            <a:off x="6235700" y="1327100"/>
            <a:ext cx="5499100" cy="2956520"/>
          </a:xfrm>
          <a:prstGeom prst="roundRect">
            <a:avLst>
              <a:gd name="adj" fmla="val 1289"/>
            </a:avLst>
          </a:prstGeom>
          <a:solidFill>
            <a:srgbClr val="241B33"/>
          </a:solidFill>
          <a:ln/>
        </p:spPr>
      </p:sp>
      <p:sp>
        <p:nvSpPr>
          <p:cNvPr id="13" name="Shape 11"/>
          <p:cNvSpPr/>
          <p:nvPr/>
        </p:nvSpPr>
        <p:spPr>
          <a:xfrm>
            <a:off x="6235700" y="1327100"/>
            <a:ext cx="5499100" cy="2956520"/>
          </a:xfrm>
          <a:custGeom>
            <a:avLst/>
            <a:gdLst/>
            <a:ahLst/>
            <a:cxnLst/>
            <a:rect l="l" t="t" r="r" b="b"/>
            <a:pathLst>
              <a:path w="5499100" h="2956520">
                <a:moveTo>
                  <a:pt x="38100" y="2956520"/>
                </a:moveTo>
                <a:lnTo>
                  <a:pt x="38100" y="2956520"/>
                </a:lnTo>
                <a:arcTo hR="38100" wR="38100" stAng="5400000" swAng="5400000"/>
                <a:lnTo>
                  <a:pt x="0" y="38100"/>
                </a:lnTo>
                <a:arcTo hR="38100" wR="38100" stAng="10800000" swAng="5400000"/>
                <a:lnTo>
                  <a:pt x="38100" y="0"/>
                </a:lnTo>
                <a:lnTo>
                  <a:pt x="38100" y="2956520"/>
                </a:lnTo>
                <a:close/>
              </a:path>
            </a:pathLst>
          </a:custGeom>
          <a:solidFill>
            <a:srgbClr val="C8873A"/>
          </a:solidFill>
          <a:ln/>
        </p:spPr>
      </p:sp>
      <p:sp>
        <p:nvSpPr>
          <p:cNvPr id="14" name="Text 12"/>
          <p:cNvSpPr/>
          <p:nvPr/>
        </p:nvSpPr>
        <p:spPr>
          <a:xfrm>
            <a:off x="6489700" y="1517600"/>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B872"/>
                </a:solidFill>
                <a:latin typeface="Source Sans 3" pitchFamily="34" charset="0"/>
                <a:ea typeface="Source Sans 3" pitchFamily="34" charset="-122"/>
                <a:cs typeface="Source Sans 3" pitchFamily="34" charset="-120"/>
              </a:rPr>
              <a:t>Adding a physics frame</a:t>
            </a:r>
            <a:endParaRPr lang="en-US" sz="1200" dirty="0"/>
          </a:p>
        </p:txBody>
      </p:sp>
      <p:sp>
        <p:nvSpPr>
          <p:cNvPr id="15" name="Text 13"/>
          <p:cNvSpPr/>
          <p:nvPr/>
        </p:nvSpPr>
        <p:spPr>
          <a:xfrm>
            <a:off x="6489700" y="1807121"/>
            <a:ext cx="5180076" cy="2311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class MyFrame(Frame):</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n_diabats = 3</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slots = {'coupling': (n_in, n_out)}</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def prepare(self, coords):</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a:t>
            </a:r>
            <a:r>
              <a:rPr lang="en-US" sz="1200" dirty="0">
                <a:solidFill>
                  <a:srgbClr val="B9A6D9"/>
                </a:solidFill>
                <a:latin typeface="JetBrains Mono" pitchFamily="49" charset="0"/>
                <a:ea typeface="JetBrains Mono" pitchFamily="49" charset="-122"/>
                <a:cs typeface="JetBrains Mono" pitchFamily="49" charset="-120"/>
              </a:rPr>
              <a:t># fixed, parameter-free tensors</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return {..., 'slot_in': {...}}</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def assemble(self, cache, out):</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a:t>
            </a:r>
            <a:r>
              <a:rPr lang="en-US" sz="1200" dirty="0">
                <a:solidFill>
                  <a:srgbClr val="B9A6D9"/>
                </a:solidFill>
                <a:latin typeface="JetBrains Mono" pitchFamily="49" charset="0"/>
                <a:ea typeface="JetBrains Mono" pitchFamily="49" charset="-122"/>
                <a:cs typeface="JetBrains Mono" pitchFamily="49" charset="-120"/>
              </a:rPr>
              <a:t># differentiable in out</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    return Omega   </a:t>
            </a:r>
            <a:r>
              <a:rPr lang="en-US" sz="1200" dirty="0">
                <a:solidFill>
                  <a:srgbClr val="B9A6D9"/>
                </a:solidFill>
                <a:latin typeface="JetBrains Mono" pitchFamily="49" charset="0"/>
                <a:ea typeface="JetBrains Mono" pitchFamily="49" charset="-122"/>
                <a:cs typeface="JetBrains Mono" pitchFamily="49" charset="-120"/>
              </a:rPr>
              <a:t># (N, 3, 3)</a:t>
            </a:r>
            <a:endParaRPr lang="en-US" sz="1200" dirty="0"/>
          </a:p>
          <a:p>
            <a:pPr algn="l" indent="0" marL="0">
              <a:lnSpc>
                <a:spcPts val="1800"/>
              </a:lnSpc>
              <a:buNone/>
            </a:pPr>
            <a:r>
              <a:rPr lang="en-US" sz="1200" dirty="0">
                <a:solidFill>
                  <a:srgbClr val="ECE8F2"/>
                </a:solidFill>
                <a:latin typeface="JetBrains Mono" pitchFamily="49" charset="0"/>
                <a:ea typeface="JetBrains Mono" pitchFamily="49" charset="-122"/>
                <a:cs typeface="JetBrains Mono" pitchFamily="49" charset="-120"/>
              </a:rPr>
              <a:t>model = FramedModel(MyFrame(), n_states=2)</a:t>
            </a:r>
            <a:endParaRPr lang="en-US" sz="1200" dirty="0"/>
          </a:p>
        </p:txBody>
      </p:sp>
      <p:sp>
        <p:nvSpPr>
          <p:cNvPr id="16" name="Text 14"/>
          <p:cNvSpPr/>
          <p:nvPr/>
        </p:nvSpPr>
        <p:spPr>
          <a:xfrm>
            <a:off x="457200" y="6405910"/>
            <a:ext cx="102031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7A7480"/>
                </a:solidFill>
                <a:latin typeface="Source Sans 3" pitchFamily="34" charset="0"/>
                <a:ea typeface="Source Sans 3" pitchFamily="34" charset="-122"/>
                <a:cs typeface="Source Sans 3" pitchFamily="34" charset="-120"/>
              </a:rPr>
              <a:t>NumPy, SciPy, PyTorch, Matplotlib; PySCF (Sun et al., J. Chem. Phys. 153, 024109, 2020) for reference data</a:t>
            </a:r>
            <a:endParaRPr lang="en-US" sz="1200" dirty="0"/>
          </a:p>
        </p:txBody>
      </p:sp>
      <p:sp>
        <p:nvSpPr>
          <p:cNvPr id="17" name="Text 15"/>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OUTLOOK</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Next steps</a:t>
            </a:r>
            <a:endParaRPr lang="en-US" sz="2700" dirty="0"/>
          </a:p>
        </p:txBody>
      </p:sp>
      <p:sp>
        <p:nvSpPr>
          <p:cNvPr id="6" name="Shape 4"/>
          <p:cNvSpPr/>
          <p:nvPr/>
        </p:nvSpPr>
        <p:spPr>
          <a:xfrm>
            <a:off x="460375" y="1330275"/>
            <a:ext cx="3651250" cy="1296789"/>
          </a:xfrm>
          <a:prstGeom prst="roundRect">
            <a:avLst>
              <a:gd name="adj" fmla="val 2693"/>
            </a:avLst>
          </a:prstGeom>
          <a:solidFill>
            <a:srgbClr val="FBFAF7"/>
          </a:solidFill>
          <a:ln w="6350">
            <a:solidFill>
              <a:srgbClr val="DAD3C8"/>
            </a:solidFill>
            <a:prstDash val="solid"/>
          </a:ln>
        </p:spPr>
      </p:sp>
      <p:sp>
        <p:nvSpPr>
          <p:cNvPr id="7" name="Text 5"/>
          <p:cNvSpPr/>
          <p:nvPr/>
        </p:nvSpPr>
        <p:spPr>
          <a:xfrm>
            <a:off x="654050" y="1498550"/>
            <a:ext cx="3361817"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IONIC FRAME FOR WATER</a:t>
            </a:r>
            <a:endParaRPr lang="en-US" sz="1400" dirty="0"/>
          </a:p>
        </p:txBody>
      </p:sp>
      <p:sp>
        <p:nvSpPr>
          <p:cNvPr id="8" name="Text 6"/>
          <p:cNvSpPr/>
          <p:nvPr/>
        </p:nvSpPr>
        <p:spPr>
          <a:xfrm>
            <a:off x="654050" y="1775371"/>
            <a:ext cx="3361817" cy="70881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O⁻ + H⁺ structures with OH⁻ and H₂⁺ fragment curves: does the bend appear with no water data?</a:t>
            </a:r>
            <a:endParaRPr lang="en-US" sz="1300" dirty="0"/>
          </a:p>
        </p:txBody>
      </p:sp>
      <p:sp>
        <p:nvSpPr>
          <p:cNvPr id="9" name="Shape 7"/>
          <p:cNvSpPr/>
          <p:nvPr/>
        </p:nvSpPr>
        <p:spPr>
          <a:xfrm>
            <a:off x="4270375" y="1330275"/>
            <a:ext cx="3651250" cy="1296789"/>
          </a:xfrm>
          <a:prstGeom prst="roundRect">
            <a:avLst>
              <a:gd name="adj" fmla="val 2693"/>
            </a:avLst>
          </a:prstGeom>
          <a:solidFill>
            <a:srgbClr val="FBFAF7"/>
          </a:solidFill>
          <a:ln w="6350">
            <a:solidFill>
              <a:srgbClr val="DAD3C8"/>
            </a:solidFill>
            <a:prstDash val="solid"/>
          </a:ln>
        </p:spPr>
      </p:sp>
      <p:sp>
        <p:nvSpPr>
          <p:cNvPr id="10" name="Text 8"/>
          <p:cNvSpPr/>
          <p:nvPr/>
        </p:nvSpPr>
        <p:spPr>
          <a:xfrm>
            <a:off x="4464050" y="1498550"/>
            <a:ext cx="3361817"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DIABATIC RESTRAINTS</a:t>
            </a:r>
            <a:endParaRPr lang="en-US" sz="1400" dirty="0"/>
          </a:p>
        </p:txBody>
      </p:sp>
      <p:sp>
        <p:nvSpPr>
          <p:cNvPr id="11" name="Text 9"/>
          <p:cNvSpPr/>
          <p:nvPr/>
        </p:nvSpPr>
        <p:spPr>
          <a:xfrm>
            <a:off x="4464050" y="1775371"/>
            <a:ext cx="3361817" cy="70881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Tie structures to computed charges and spins, moving from compatible toward diabatic matrices.</a:t>
            </a:r>
            <a:endParaRPr lang="en-US" sz="1300" dirty="0"/>
          </a:p>
        </p:txBody>
      </p:sp>
      <p:sp>
        <p:nvSpPr>
          <p:cNvPr id="12" name="Shape 10"/>
          <p:cNvSpPr/>
          <p:nvPr/>
        </p:nvSpPr>
        <p:spPr>
          <a:xfrm>
            <a:off x="8080375" y="1330275"/>
            <a:ext cx="3651250" cy="1296789"/>
          </a:xfrm>
          <a:prstGeom prst="roundRect">
            <a:avLst>
              <a:gd name="adj" fmla="val 2693"/>
            </a:avLst>
          </a:prstGeom>
          <a:solidFill>
            <a:srgbClr val="FBFAF7"/>
          </a:solidFill>
          <a:ln w="6350">
            <a:solidFill>
              <a:srgbClr val="DAD3C8"/>
            </a:solidFill>
            <a:prstDash val="solid"/>
          </a:ln>
        </p:spPr>
      </p:sp>
      <p:sp>
        <p:nvSpPr>
          <p:cNvPr id="13" name="Text 11"/>
          <p:cNvSpPr/>
          <p:nvPr/>
        </p:nvSpPr>
        <p:spPr>
          <a:xfrm>
            <a:off x="8274050" y="1498550"/>
            <a:ext cx="3361817"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CH₂OO IN FULL</a:t>
            </a:r>
            <a:endParaRPr lang="en-US" sz="1400" dirty="0"/>
          </a:p>
        </p:txBody>
      </p:sp>
      <p:sp>
        <p:nvSpPr>
          <p:cNvPr id="14" name="Text 12"/>
          <p:cNvSpPr/>
          <p:nvPr/>
        </p:nvSpPr>
        <p:spPr>
          <a:xfrm>
            <a:off x="8274050" y="1775371"/>
            <a:ext cx="3361817" cy="70881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All internal coordinates, the dioxirane channel and triplets, with XMS-CASPT2 or MRCI references.</a:t>
            </a:r>
            <a:endParaRPr lang="en-US" sz="1300" dirty="0"/>
          </a:p>
        </p:txBody>
      </p:sp>
      <p:sp>
        <p:nvSpPr>
          <p:cNvPr id="15" name="Shape 13"/>
          <p:cNvSpPr/>
          <p:nvPr/>
        </p:nvSpPr>
        <p:spPr>
          <a:xfrm>
            <a:off x="460375" y="2785814"/>
            <a:ext cx="3651250" cy="1296789"/>
          </a:xfrm>
          <a:prstGeom prst="roundRect">
            <a:avLst>
              <a:gd name="adj" fmla="val 2693"/>
            </a:avLst>
          </a:prstGeom>
          <a:solidFill>
            <a:srgbClr val="FBFAF7"/>
          </a:solidFill>
          <a:ln w="6350">
            <a:solidFill>
              <a:srgbClr val="DAD3C8"/>
            </a:solidFill>
            <a:prstDash val="solid"/>
          </a:ln>
        </p:spPr>
      </p:sp>
      <p:sp>
        <p:nvSpPr>
          <p:cNvPr id="16" name="Text 14"/>
          <p:cNvSpPr/>
          <p:nvPr/>
        </p:nvSpPr>
        <p:spPr>
          <a:xfrm>
            <a:off x="654050" y="2954089"/>
            <a:ext cx="3361817"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O₃ BENCHMARK</a:t>
            </a:r>
            <a:endParaRPr lang="en-US" sz="1400" dirty="0"/>
          </a:p>
        </p:txBody>
      </p:sp>
      <p:sp>
        <p:nvSpPr>
          <p:cNvPr id="17" name="Text 15"/>
          <p:cNvSpPr/>
          <p:nvPr/>
        </p:nvSpPr>
        <p:spPr>
          <a:xfrm>
            <a:off x="654050" y="3230910"/>
            <a:ext cx="3361817" cy="481012"/>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The six-state data set of Shu et al., with an O₂ + O fragment frame against plain CDNN.</a:t>
            </a:r>
            <a:endParaRPr lang="en-US" sz="1300" dirty="0"/>
          </a:p>
        </p:txBody>
      </p:sp>
      <p:sp>
        <p:nvSpPr>
          <p:cNvPr id="18" name="Shape 16"/>
          <p:cNvSpPr/>
          <p:nvPr/>
        </p:nvSpPr>
        <p:spPr>
          <a:xfrm>
            <a:off x="4270375" y="2785814"/>
            <a:ext cx="3651250" cy="1296789"/>
          </a:xfrm>
          <a:prstGeom prst="roundRect">
            <a:avLst>
              <a:gd name="adj" fmla="val 2693"/>
            </a:avLst>
          </a:prstGeom>
          <a:solidFill>
            <a:srgbClr val="FBFAF7"/>
          </a:solidFill>
          <a:ln w="6350">
            <a:solidFill>
              <a:srgbClr val="DAD3C8"/>
            </a:solidFill>
            <a:prstDash val="solid"/>
          </a:ln>
        </p:spPr>
      </p:sp>
      <p:sp>
        <p:nvSpPr>
          <p:cNvPr id="19" name="Text 17"/>
          <p:cNvSpPr/>
          <p:nvPr/>
        </p:nvSpPr>
        <p:spPr>
          <a:xfrm>
            <a:off x="4464050" y="2954089"/>
            <a:ext cx="3361817"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DYNAMICS</a:t>
            </a:r>
            <a:endParaRPr lang="en-US" sz="1400" dirty="0"/>
          </a:p>
        </p:txBody>
      </p:sp>
      <p:sp>
        <p:nvSpPr>
          <p:cNvPr id="20" name="Text 18"/>
          <p:cNvSpPr/>
          <p:nvPr/>
        </p:nvSpPr>
        <p:spPr>
          <a:xfrm>
            <a:off x="4464050" y="3230910"/>
            <a:ext cx="3361817" cy="70881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Curvature-driven surface hopping needs only energies and gradients, which the matrix provides.</a:t>
            </a:r>
            <a:endParaRPr lang="en-US" sz="1300" dirty="0"/>
          </a:p>
        </p:txBody>
      </p:sp>
      <p:sp>
        <p:nvSpPr>
          <p:cNvPr id="21" name="Shape 19"/>
          <p:cNvSpPr/>
          <p:nvPr/>
        </p:nvSpPr>
        <p:spPr>
          <a:xfrm>
            <a:off x="8080375" y="2785814"/>
            <a:ext cx="3651250" cy="1296789"/>
          </a:xfrm>
          <a:prstGeom prst="roundRect">
            <a:avLst>
              <a:gd name="adj" fmla="val 2693"/>
            </a:avLst>
          </a:prstGeom>
          <a:solidFill>
            <a:srgbClr val="FBFAF7"/>
          </a:solidFill>
          <a:ln w="6350">
            <a:solidFill>
              <a:srgbClr val="DAD3C8"/>
            </a:solidFill>
            <a:prstDash val="solid"/>
          </a:ln>
        </p:spPr>
      </p:sp>
      <p:sp>
        <p:nvSpPr>
          <p:cNvPr id="22" name="Text 20"/>
          <p:cNvSpPr/>
          <p:nvPr/>
        </p:nvSpPr>
        <p:spPr>
          <a:xfrm>
            <a:off x="8274050" y="2954089"/>
            <a:ext cx="3361817" cy="238720"/>
          </a:xfrm>
          <a:prstGeom prst="rect">
            <a:avLst/>
          </a:prstGeom>
          <a:noFill/>
          <a:ln/>
        </p:spPr>
        <p:txBody>
          <a:bodyPr wrap="square" lIns="0" tIns="0" rIns="0" bIns="0" rtlCol="0" anchor="t">
            <a:normAutofit/>
          </a:bodyPr>
          <a:lstStyle/>
          <a:p>
            <a:pPr algn="l" indent="0" marL="0">
              <a:lnSpc>
                <a:spcPts val="1680"/>
              </a:lnSpc>
              <a:buNone/>
            </a:pPr>
            <a:r>
              <a:rPr lang="en-US" sz="1400" b="1" spc="50" kern="0" dirty="0">
                <a:solidFill>
                  <a:srgbClr val="4A3868"/>
                </a:solidFill>
                <a:latin typeface="Source Sans 3" pitchFamily="34" charset="0"/>
                <a:ea typeface="Source Sans 3" pitchFamily="34" charset="-122"/>
                <a:cs typeface="Source Sans 3" pitchFamily="34" charset="-120"/>
              </a:rPr>
              <a:t>SCALING</a:t>
            </a:r>
            <a:endParaRPr lang="en-US" sz="1400" dirty="0"/>
          </a:p>
        </p:txBody>
      </p:sp>
      <p:sp>
        <p:nvSpPr>
          <p:cNvPr id="23" name="Text 21"/>
          <p:cNvSpPr/>
          <p:nvPr/>
        </p:nvSpPr>
        <p:spPr>
          <a:xfrm>
            <a:off x="8274050" y="3230910"/>
            <a:ext cx="3361817" cy="70881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2E2A36"/>
                </a:solidFill>
                <a:latin typeface="Source Sans 3" pitchFamily="34" charset="0"/>
                <a:ea typeface="Source Sans 3" pitchFamily="34" charset="-122"/>
                <a:cs typeface="Source Sans 3" pitchFamily="34" charset="-120"/>
              </a:rPr>
              <a:t>Matrix size follows the number of chemically relevant structures, not the number of electrons.</a:t>
            </a:r>
            <a:endParaRPr lang="en-US" sz="1300" dirty="0"/>
          </a:p>
        </p:txBody>
      </p:sp>
      <p:sp>
        <p:nvSpPr>
          <p:cNvPr id="24" name="Text 22"/>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SUMMARY</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Conclusions</a:t>
            </a:r>
            <a:endParaRPr lang="en-US" sz="2700" dirty="0"/>
          </a:p>
        </p:txBody>
      </p:sp>
      <p:sp>
        <p:nvSpPr>
          <p:cNvPr id="6" name="Text 4"/>
          <p:cNvSpPr/>
          <p:nvPr/>
        </p:nvSpPr>
        <p:spPr>
          <a:xfrm>
            <a:off x="490601" y="1327100"/>
            <a:ext cx="11576050" cy="2820491"/>
          </a:xfrm>
          <a:prstGeom prst="rect">
            <a:avLst/>
          </a:prstGeom>
          <a:noFill/>
          <a:ln/>
        </p:spPr>
        <p:txBody>
          <a:bodyPr wrap="square" lIns="0" tIns="0" rIns="0" bIns="0" rtlCol="0" anchor="t">
            <a:normAutofit/>
          </a:bodyPr>
          <a:lstStyle/>
          <a:p>
            <a:pPr algn="l" marL="182499" indent="-182499">
              <a:lnSpc>
                <a:spcPts val="2001"/>
              </a:lnSpc>
              <a:buSzPct val="100000"/>
              <a:buChar char="•"/>
            </a:pPr>
            <a:r>
              <a:rPr lang="en-US" sz="1450" b="1" dirty="0">
                <a:solidFill>
                  <a:srgbClr val="4A3868"/>
                </a:solidFill>
                <a:latin typeface="Source Sans 3" pitchFamily="34" charset="0"/>
                <a:ea typeface="Source Sans 3" pitchFamily="34" charset="-122"/>
                <a:cs typeface="Source Sans 3" pitchFamily="34" charset="-120"/>
              </a:rPr>
              <a:t>The middle zone needs a multistate description.</a:t>
            </a:r>
            <a:r>
              <a:rPr lang="en-US" sz="1450" dirty="0">
                <a:solidFill>
                  <a:srgbClr val="2E2A36"/>
                </a:solidFill>
                <a:latin typeface="Source Sans 3" pitchFamily="34" charset="0"/>
                <a:ea typeface="Source Sans 3" pitchFamily="34" charset="-122"/>
                <a:cs typeface="Source Sans 3" pitchFamily="34" charset="-120"/>
              </a:rPr>
              <a:t> Avoided crossings, ion-pair structures and spin recoupling defeat single-surface fits, as our earlier hot-Criegee surfaces showed.</a:t>
            </a:r>
            <a:endParaRPr lang="en-US" sz="1450" dirty="0"/>
          </a:p>
          <a:p>
            <a:pPr algn="l" marL="182499" indent="-182499">
              <a:lnSpc>
                <a:spcPts val="2001"/>
              </a:lnSpc>
              <a:buSzPct val="100000"/>
              <a:buChar char="•"/>
            </a:pPr>
            <a:r>
              <a:rPr lang="en-US" sz="1450" b="1" dirty="0">
                <a:solidFill>
                  <a:srgbClr val="4A3868"/>
                </a:solidFill>
                <a:latin typeface="Source Sans 3" pitchFamily="34" charset="0"/>
                <a:ea typeface="Source Sans 3" pitchFamily="34" charset="-122"/>
                <a:cs typeface="Source Sans 3" pitchFamily="34" charset="-120"/>
              </a:rPr>
              <a:t>Learning a matrix and diagonalising it</a:t>
            </a:r>
            <a:r>
              <a:rPr lang="en-US" sz="1450" dirty="0">
                <a:solidFill>
                  <a:srgbClr val="2E2A36"/>
                </a:solidFill>
                <a:latin typeface="Source Sans 3" pitchFamily="34" charset="0"/>
                <a:ea typeface="Source Sans 3" pitchFamily="34" charset="-122"/>
                <a:cs typeface="Source Sans 3" pitchFamily="34" charset="-120"/>
              </a:rPr>
              <a:t> (CDNN) gives conical intersections and avoided crossings the correct local topology from energies alone.</a:t>
            </a:r>
            <a:endParaRPr lang="en-US" sz="1450" dirty="0"/>
          </a:p>
          <a:p>
            <a:pPr algn="l" marL="182499" indent="-182499">
              <a:lnSpc>
                <a:spcPts val="2001"/>
              </a:lnSpc>
              <a:buSzPct val="100000"/>
              <a:buChar char="•"/>
            </a:pPr>
            <a:r>
              <a:rPr lang="en-US" sz="1450" b="1" dirty="0">
                <a:solidFill>
                  <a:srgbClr val="4A3868"/>
                </a:solidFill>
                <a:latin typeface="Source Sans 3" pitchFamily="34" charset="0"/>
                <a:ea typeface="Source Sans 3" pitchFamily="34" charset="-122"/>
                <a:cs typeface="Source Sans 3" pitchFamily="34" charset="-120"/>
              </a:rPr>
              <a:t>Building the matrix from fragment states</a:t>
            </a:r>
            <a:r>
              <a:rPr lang="en-US" sz="1450" dirty="0">
                <a:solidFill>
                  <a:srgbClr val="2E2A36"/>
                </a:solidFill>
                <a:latin typeface="Source Sans 3" pitchFamily="34" charset="0"/>
                <a:ea typeface="Source Sans 3" pitchFamily="34" charset="-122"/>
                <a:cs typeface="Source Sans 3" pitchFamily="34" charset="-120"/>
              </a:rPr>
              <a:t> makes symmetry and dissociation limits exact for any weights. H₃: 1.7 kcal/mol from 25 points with exact degeneracy at D₃h.</a:t>
            </a:r>
            <a:endParaRPr lang="en-US" sz="1450" dirty="0"/>
          </a:p>
          <a:p>
            <a:pPr algn="l" marL="182499" indent="-182499">
              <a:lnSpc>
                <a:spcPts val="2001"/>
              </a:lnSpc>
              <a:buSzPct val="100000"/>
              <a:buChar char="•"/>
            </a:pPr>
            <a:r>
              <a:rPr lang="en-US" sz="1450" b="1" dirty="0">
                <a:solidFill>
                  <a:srgbClr val="4A3868"/>
                </a:solidFill>
                <a:latin typeface="Source Sans 3" pitchFamily="34" charset="0"/>
                <a:ea typeface="Source Sans 3" pitchFamily="34" charset="-122"/>
                <a:cs typeface="Source Sans 3" pitchFamily="34" charset="-120"/>
              </a:rPr>
              <a:t>The frame must contain the right structures.</a:t>
            </a:r>
            <a:r>
              <a:rPr lang="en-US" sz="1450" dirty="0">
                <a:solidFill>
                  <a:srgbClr val="2E2A36"/>
                </a:solidFill>
                <a:latin typeface="Source Sans 3" pitchFamily="34" charset="0"/>
                <a:ea typeface="Source Sans 3" pitchFamily="34" charset="-122"/>
                <a:cs typeface="Source Sans 3" pitchFamily="34" charset="-120"/>
              </a:rPr>
              <a:t> Water: covalent DIM is linear; a correction inside it reaches 1.5 kcal/mol from 80 points, and the gap points to ionic structures.</a:t>
            </a:r>
            <a:endParaRPr lang="en-US" sz="1450" dirty="0"/>
          </a:p>
          <a:p>
            <a:pPr algn="l" marL="182499" indent="-182499">
              <a:lnSpc>
                <a:spcPts val="2001"/>
              </a:lnSpc>
              <a:buSzPct val="100000"/>
              <a:buChar char="•"/>
            </a:pPr>
            <a:r>
              <a:rPr lang="en-US" sz="1450" b="1" dirty="0">
                <a:solidFill>
                  <a:srgbClr val="4A3868"/>
                </a:solidFill>
                <a:latin typeface="Source Sans 3" pitchFamily="34" charset="0"/>
                <a:ea typeface="Source Sans 3" pitchFamily="34" charset="-122"/>
                <a:cs typeface="Source Sans 3" pitchFamily="34" charset="-120"/>
              </a:rPr>
              <a:t>The electron ladder</a:t>
            </a:r>
            <a:r>
              <a:rPr lang="en-US" sz="1450" dirty="0">
                <a:solidFill>
                  <a:srgbClr val="2E2A36"/>
                </a:solidFill>
                <a:latin typeface="Source Sans 3" pitchFamily="34" charset="0"/>
                <a:ea typeface="Source Sans 3" pitchFamily="34" charset="-122"/>
                <a:cs typeface="Source Sans 3" pitchFamily="34" charset="-120"/>
              </a:rPr>
              <a:t> selects those structures: charged and excited fragments set the asymptotes. CH₂OO: extrapolation errors drop from 110–330 to 2–6 kcal/mol.</a:t>
            </a:r>
            <a:endParaRPr lang="en-US" sz="1450" dirty="0"/>
          </a:p>
          <a:p>
            <a:pPr algn="l" marL="182499" indent="-182499">
              <a:lnSpc>
                <a:spcPts val="2001"/>
              </a:lnSpc>
              <a:buSzPct val="100000"/>
              <a:buChar char="•"/>
            </a:pPr>
            <a:r>
              <a:rPr lang="en-US" sz="1450" b="1" dirty="0">
                <a:solidFill>
                  <a:srgbClr val="4A3868"/>
                </a:solidFill>
                <a:latin typeface="Source Sans 3" pitchFamily="34" charset="0"/>
                <a:ea typeface="Source Sans 3" pitchFamily="34" charset="-122"/>
                <a:cs typeface="Source Sans 3" pitchFamily="34" charset="-120"/>
              </a:rPr>
              <a:t>Open problem:</a:t>
            </a:r>
            <a:r>
              <a:rPr lang="en-US" sz="1450" dirty="0">
                <a:solidFill>
                  <a:srgbClr val="2E2A36"/>
                </a:solidFill>
                <a:latin typeface="Source Sans 3" pitchFamily="34" charset="0"/>
                <a:ea typeface="Source Sans 3" pitchFamily="34" charset="-122"/>
                <a:cs typeface="Source Sans 3" pitchFamily="34" charset="-120"/>
              </a:rPr>
              <a:t> energies alone do not make the learned matrix diabatic; charge or spin restraints are needed.</a:t>
            </a:r>
            <a:endParaRPr lang="en-US" sz="1450" dirty="0"/>
          </a:p>
        </p:txBody>
      </p:sp>
      <p:sp>
        <p:nvSpPr>
          <p:cNvPr id="7" name="Text 5"/>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REFERENCES</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Diabatic states and learned matrices (Truhlar and co-workers)</a:t>
            </a:r>
            <a:endParaRPr lang="en-US" sz="2700" dirty="0"/>
          </a:p>
        </p:txBody>
      </p:sp>
      <p:sp>
        <p:nvSpPr>
          <p:cNvPr id="6" name="Text 4"/>
          <p:cNvSpPr/>
          <p:nvPr/>
        </p:nvSpPr>
        <p:spPr>
          <a:xfrm>
            <a:off x="457200" y="1327100"/>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C. A. Mead, D. G. Truhlar, </a:t>
            </a:r>
            <a:r>
              <a:rPr lang="en-US" sz="1200" i="1" dirty="0">
                <a:solidFill>
                  <a:srgbClr val="2E2A36"/>
                </a:solidFill>
                <a:latin typeface="Source Sans 3" pitchFamily="34" charset="0"/>
                <a:ea typeface="Source Sans 3" pitchFamily="34" charset="-122"/>
                <a:cs typeface="Source Sans 3" pitchFamily="34" charset="-120"/>
              </a:rPr>
              <a:t>J. Chem.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77</a:t>
            </a:r>
            <a:r>
              <a:rPr lang="en-US" sz="1200" dirty="0">
                <a:solidFill>
                  <a:srgbClr val="2E2A36"/>
                </a:solidFill>
                <a:latin typeface="Source Sans 3" pitchFamily="34" charset="0"/>
                <a:ea typeface="Source Sans 3" pitchFamily="34" charset="-122"/>
                <a:cs typeface="Source Sans 3" pitchFamily="34" charset="-120"/>
              </a:rPr>
              <a:t>, 6090 (1982). Strictly diabatic states.</a:t>
            </a:r>
            <a:endParaRPr lang="en-US" sz="1200" dirty="0"/>
          </a:p>
        </p:txBody>
      </p:sp>
      <p:sp>
        <p:nvSpPr>
          <p:cNvPr id="7" name="Text 5"/>
          <p:cNvSpPr/>
          <p:nvPr/>
        </p:nvSpPr>
        <p:spPr>
          <a:xfrm>
            <a:off x="457200" y="1613595"/>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K. A. Hoyer, S. M. Parker, L. Gagliardi, D. G. Truhlar, </a:t>
            </a:r>
            <a:r>
              <a:rPr lang="en-US" sz="1200" i="1" dirty="0">
                <a:solidFill>
                  <a:srgbClr val="2E2A36"/>
                </a:solidFill>
                <a:latin typeface="Source Sans 3" pitchFamily="34" charset="0"/>
                <a:ea typeface="Source Sans 3" pitchFamily="34" charset="-122"/>
                <a:cs typeface="Source Sans 3" pitchFamily="34" charset="-120"/>
              </a:rPr>
              <a:t>J. Chem.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144</a:t>
            </a:r>
            <a:r>
              <a:rPr lang="en-US" sz="1200" dirty="0">
                <a:solidFill>
                  <a:srgbClr val="2E2A36"/>
                </a:solidFill>
                <a:latin typeface="Source Sans 3" pitchFamily="34" charset="0"/>
                <a:ea typeface="Source Sans 3" pitchFamily="34" charset="-122"/>
                <a:cs typeface="Source Sans 3" pitchFamily="34" charset="-120"/>
              </a:rPr>
              <a:t>, 194101 (2016). DQΦ.</a:t>
            </a:r>
            <a:endParaRPr lang="en-US" sz="1200" dirty="0"/>
          </a:p>
        </p:txBody>
      </p:sp>
      <p:sp>
        <p:nvSpPr>
          <p:cNvPr id="8" name="Text 6"/>
          <p:cNvSpPr/>
          <p:nvPr/>
        </p:nvSpPr>
        <p:spPr>
          <a:xfrm>
            <a:off x="457200" y="2110383"/>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Z. Varga, K. A. Parker, D. G. Truhlar, </a:t>
            </a:r>
            <a:r>
              <a:rPr lang="en-US" sz="1200" i="1" dirty="0">
                <a:solidFill>
                  <a:srgbClr val="2E2A36"/>
                </a:solidFill>
                <a:latin typeface="Source Sans 3" pitchFamily="34" charset="0"/>
                <a:ea typeface="Source Sans 3" pitchFamily="34" charset="-122"/>
                <a:cs typeface="Source Sans 3" pitchFamily="34" charset="-120"/>
              </a:rPr>
              <a:t>Phys. Chem. Chem.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20</a:t>
            </a:r>
            <a:r>
              <a:rPr lang="en-US" sz="1200" dirty="0">
                <a:solidFill>
                  <a:srgbClr val="2E2A36"/>
                </a:solidFill>
                <a:latin typeface="Source Sans 3" pitchFamily="34" charset="0"/>
                <a:ea typeface="Source Sans 3" pitchFamily="34" charset="-122"/>
                <a:cs typeface="Source Sans 3" pitchFamily="34" charset="-120"/>
              </a:rPr>
              <a:t>, 26643 (2018). N/D method.</a:t>
            </a:r>
            <a:endParaRPr lang="en-US" sz="1200" dirty="0"/>
          </a:p>
        </p:txBody>
      </p:sp>
      <p:sp>
        <p:nvSpPr>
          <p:cNvPr id="9" name="Text 7"/>
          <p:cNvSpPr/>
          <p:nvPr/>
        </p:nvSpPr>
        <p:spPr>
          <a:xfrm>
            <a:off x="457200" y="2607171"/>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Y. Shu, D. G. Truhlar, </a:t>
            </a:r>
            <a:r>
              <a:rPr lang="en-US" sz="1200" i="1" dirty="0">
                <a:solidFill>
                  <a:srgbClr val="2E2A36"/>
                </a:solidFill>
                <a:latin typeface="Source Sans 3" pitchFamily="34" charset="0"/>
                <a:ea typeface="Source Sans 3" pitchFamily="34" charset="-122"/>
                <a:cs typeface="Source Sans 3" pitchFamily="34" charset="-120"/>
              </a:rPr>
              <a:t>J. Chem. Theory Comput.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16</a:t>
            </a:r>
            <a:r>
              <a:rPr lang="en-US" sz="1200" dirty="0">
                <a:solidFill>
                  <a:srgbClr val="2E2A36"/>
                </a:solidFill>
                <a:latin typeface="Source Sans 3" pitchFamily="34" charset="0"/>
                <a:ea typeface="Source Sans 3" pitchFamily="34" charset="-122"/>
                <a:cs typeface="Source Sans 3" pitchFamily="34" charset="-120"/>
              </a:rPr>
              <a:t>, 6456 (2020). DDNN.</a:t>
            </a:r>
            <a:endParaRPr lang="en-US" sz="1200" dirty="0"/>
          </a:p>
        </p:txBody>
      </p:sp>
      <p:sp>
        <p:nvSpPr>
          <p:cNvPr id="10" name="Text 8"/>
          <p:cNvSpPr/>
          <p:nvPr/>
        </p:nvSpPr>
        <p:spPr>
          <a:xfrm>
            <a:off x="457200" y="2893665"/>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Y. Shu, Z. Varga, A. G. S. de Oliveira-Filho, D. G. Truhlar, </a:t>
            </a:r>
            <a:r>
              <a:rPr lang="en-US" sz="1200" i="1" dirty="0">
                <a:solidFill>
                  <a:srgbClr val="2E2A36"/>
                </a:solidFill>
                <a:latin typeface="Source Sans 3" pitchFamily="34" charset="0"/>
                <a:ea typeface="Source Sans 3" pitchFamily="34" charset="-122"/>
                <a:cs typeface="Source Sans 3" pitchFamily="34" charset="-120"/>
              </a:rPr>
              <a:t>J. Chem. Theory Comput.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17</a:t>
            </a:r>
            <a:r>
              <a:rPr lang="en-US" sz="1200" dirty="0">
                <a:solidFill>
                  <a:srgbClr val="2E2A36"/>
                </a:solidFill>
                <a:latin typeface="Source Sans 3" pitchFamily="34" charset="0"/>
                <a:ea typeface="Source Sans 3" pitchFamily="34" charset="-122"/>
                <a:cs typeface="Source Sans 3" pitchFamily="34" charset="-120"/>
              </a:rPr>
              <a:t>, 1106 (2021). Permutational restraints.</a:t>
            </a:r>
            <a:endParaRPr lang="en-US" sz="1200" dirty="0"/>
          </a:p>
        </p:txBody>
      </p:sp>
      <p:sp>
        <p:nvSpPr>
          <p:cNvPr id="11" name="Text 9"/>
          <p:cNvSpPr/>
          <p:nvPr/>
        </p:nvSpPr>
        <p:spPr>
          <a:xfrm>
            <a:off x="457200" y="3390454"/>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F. B. Akher, Y. Shu, Z. Varga, S. Bhaumik, D. G. Truhlar, </a:t>
            </a:r>
            <a:r>
              <a:rPr lang="en-US" sz="1200" i="1" dirty="0">
                <a:solidFill>
                  <a:srgbClr val="2E2A36"/>
                </a:solidFill>
                <a:latin typeface="Source Sans 3" pitchFamily="34" charset="0"/>
                <a:ea typeface="Source Sans 3" pitchFamily="34" charset="-122"/>
                <a:cs typeface="Source Sans 3" pitchFamily="34" charset="-120"/>
              </a:rPr>
              <a:t>J. Phys. Chem. A</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127</a:t>
            </a:r>
            <a:r>
              <a:rPr lang="en-US" sz="1200" dirty="0">
                <a:solidFill>
                  <a:srgbClr val="2E2A36"/>
                </a:solidFill>
                <a:latin typeface="Source Sans 3" pitchFamily="34" charset="0"/>
                <a:ea typeface="Source Sans 3" pitchFamily="34" charset="-122"/>
                <a:cs typeface="Source Sans 3" pitchFamily="34" charset="-120"/>
              </a:rPr>
              <a:t>, 5287 (2023). PM-DDNN.</a:t>
            </a:r>
            <a:endParaRPr lang="en-US" sz="1200" dirty="0"/>
          </a:p>
        </p:txBody>
      </p:sp>
      <p:sp>
        <p:nvSpPr>
          <p:cNvPr id="12" name="Text 10"/>
          <p:cNvSpPr/>
          <p:nvPr/>
        </p:nvSpPr>
        <p:spPr>
          <a:xfrm>
            <a:off x="457200" y="3887242"/>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Y. Shu, Z. Varga, S. Kanchanakungwankul, L. Zhang, D. G. Truhlar, </a:t>
            </a:r>
            <a:r>
              <a:rPr lang="en-US" sz="1200" i="1" dirty="0">
                <a:solidFill>
                  <a:srgbClr val="2E2A36"/>
                </a:solidFill>
                <a:latin typeface="Source Sans 3" pitchFamily="34" charset="0"/>
                <a:ea typeface="Source Sans 3" pitchFamily="34" charset="-122"/>
                <a:cs typeface="Source Sans 3" pitchFamily="34" charset="-120"/>
              </a:rPr>
              <a:t>J. Phys. Chem. A</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126</a:t>
            </a:r>
            <a:r>
              <a:rPr lang="en-US" sz="1200" dirty="0">
                <a:solidFill>
                  <a:srgbClr val="2E2A36"/>
                </a:solidFill>
                <a:latin typeface="Source Sans 3" pitchFamily="34" charset="0"/>
                <a:ea typeface="Source Sans 3" pitchFamily="34" charset="-122"/>
                <a:cs typeface="Source Sans 3" pitchFamily="34" charset="-120"/>
              </a:rPr>
              <a:t>, 992 (2022). Review.</a:t>
            </a:r>
            <a:endParaRPr lang="en-US" sz="1200" dirty="0"/>
          </a:p>
        </p:txBody>
      </p:sp>
      <p:sp>
        <p:nvSpPr>
          <p:cNvPr id="13" name="Text 11"/>
          <p:cNvSpPr/>
          <p:nvPr/>
        </p:nvSpPr>
        <p:spPr>
          <a:xfrm>
            <a:off x="6261100" y="1327100"/>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Z. Varga, Y. Shu, J. Ning, D. G. Truhlar, </a:t>
            </a:r>
            <a:r>
              <a:rPr lang="en-US" sz="1200" i="1" dirty="0">
                <a:solidFill>
                  <a:srgbClr val="2E2A36"/>
                </a:solidFill>
                <a:latin typeface="Source Sans 3" pitchFamily="34" charset="0"/>
                <a:ea typeface="Source Sans 3" pitchFamily="34" charset="-122"/>
                <a:cs typeface="Source Sans 3" pitchFamily="34" charset="-120"/>
              </a:rPr>
              <a:t>Electron. Struct.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4</a:t>
            </a:r>
            <a:r>
              <a:rPr lang="en-US" sz="1200" dirty="0">
                <a:solidFill>
                  <a:srgbClr val="2E2A36"/>
                </a:solidFill>
                <a:latin typeface="Source Sans 3" pitchFamily="34" charset="0"/>
                <a:ea typeface="Source Sans 3" pitchFamily="34" charset="-122"/>
                <a:cs typeface="Source Sans 3" pitchFamily="34" charset="-120"/>
              </a:rPr>
              <a:t>, 047002 (2022). 14 ³A′ states of O₃.</a:t>
            </a:r>
            <a:endParaRPr lang="en-US" sz="1200" dirty="0"/>
          </a:p>
        </p:txBody>
      </p:sp>
      <p:sp>
        <p:nvSpPr>
          <p:cNvPr id="14" name="Text 12"/>
          <p:cNvSpPr/>
          <p:nvPr/>
        </p:nvSpPr>
        <p:spPr>
          <a:xfrm>
            <a:off x="6261100" y="1823889"/>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F. B. Akher, Y. Shu, Z. Varga, D. G. Truhlar, </a:t>
            </a:r>
            <a:r>
              <a:rPr lang="en-US" sz="1200" i="1" dirty="0">
                <a:solidFill>
                  <a:srgbClr val="2E2A36"/>
                </a:solidFill>
                <a:latin typeface="Source Sans 3" pitchFamily="34" charset="0"/>
                <a:ea typeface="Source Sans 3" pitchFamily="34" charset="-122"/>
                <a:cs typeface="Source Sans 3" pitchFamily="34" charset="-120"/>
              </a:rPr>
              <a:t>J. Chem. Theory Comput.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19</a:t>
            </a:r>
            <a:r>
              <a:rPr lang="en-US" sz="1200" dirty="0">
                <a:solidFill>
                  <a:srgbClr val="2E2A36"/>
                </a:solidFill>
                <a:latin typeface="Source Sans 3" pitchFamily="34" charset="0"/>
                <a:ea typeface="Source Sans 3" pitchFamily="34" charset="-122"/>
                <a:cs typeface="Source Sans 3" pitchFamily="34" charset="-120"/>
              </a:rPr>
              <a:t>, 4389 (2023). Six ⁵A′ states of O + O₂.</a:t>
            </a:r>
            <a:endParaRPr lang="en-US" sz="1200" dirty="0"/>
          </a:p>
        </p:txBody>
      </p:sp>
      <p:sp>
        <p:nvSpPr>
          <p:cNvPr id="15" name="Text 13"/>
          <p:cNvSpPr/>
          <p:nvPr/>
        </p:nvSpPr>
        <p:spPr>
          <a:xfrm>
            <a:off x="6261100" y="2320677"/>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Y. Shu, Z. Varga, A. M. Parameswaran, D. G. Truhlar, </a:t>
            </a:r>
            <a:r>
              <a:rPr lang="en-US" sz="1200" i="1" dirty="0">
                <a:solidFill>
                  <a:srgbClr val="2E2A36"/>
                </a:solidFill>
                <a:latin typeface="Source Sans 3" pitchFamily="34" charset="0"/>
                <a:ea typeface="Source Sans 3" pitchFamily="34" charset="-122"/>
                <a:cs typeface="Source Sans 3" pitchFamily="34" charset="-120"/>
              </a:rPr>
              <a:t>J. Chem. Theory Comput.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20</a:t>
            </a:r>
            <a:r>
              <a:rPr lang="en-US" sz="1200" dirty="0">
                <a:solidFill>
                  <a:srgbClr val="2E2A36"/>
                </a:solidFill>
                <a:latin typeface="Source Sans 3" pitchFamily="34" charset="0"/>
                <a:ea typeface="Source Sans 3" pitchFamily="34" charset="-122"/>
                <a:cs typeface="Source Sans 3" pitchFamily="34" charset="-120"/>
              </a:rPr>
              <a:t>, 7042 (2024). Companion matrices.</a:t>
            </a:r>
            <a:endParaRPr lang="en-US" sz="1200" dirty="0"/>
          </a:p>
        </p:txBody>
      </p:sp>
      <p:sp>
        <p:nvSpPr>
          <p:cNvPr id="16" name="Text 14"/>
          <p:cNvSpPr/>
          <p:nvPr/>
        </p:nvSpPr>
        <p:spPr>
          <a:xfrm>
            <a:off x="6261100" y="2817465"/>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Y. Shu, L. Zhang, X. Chen, S. Sun, Y. Huang, D. G. Truhlar, </a:t>
            </a:r>
            <a:r>
              <a:rPr lang="en-US" sz="1200" i="1" dirty="0">
                <a:solidFill>
                  <a:srgbClr val="2E2A36"/>
                </a:solidFill>
                <a:latin typeface="Source Sans 3" pitchFamily="34" charset="0"/>
                <a:ea typeface="Source Sans 3" pitchFamily="34" charset="-122"/>
                <a:cs typeface="Source Sans 3" pitchFamily="34" charset="-120"/>
              </a:rPr>
              <a:t>J. Chem. Theory Comput.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18</a:t>
            </a:r>
            <a:r>
              <a:rPr lang="en-US" sz="1200" dirty="0">
                <a:solidFill>
                  <a:srgbClr val="2E2A36"/>
                </a:solidFill>
                <a:latin typeface="Source Sans 3" pitchFamily="34" charset="0"/>
                <a:ea typeface="Source Sans 3" pitchFamily="34" charset="-122"/>
                <a:cs typeface="Source Sans 3" pitchFamily="34" charset="-120"/>
              </a:rPr>
              <a:t>, 1320 (2022). Curvature-driven surface hopping.</a:t>
            </a:r>
            <a:endParaRPr lang="en-US" sz="1200" dirty="0"/>
          </a:p>
        </p:txBody>
      </p:sp>
      <p:sp>
        <p:nvSpPr>
          <p:cNvPr id="17" name="Text 15"/>
          <p:cNvSpPr/>
          <p:nvPr/>
        </p:nvSpPr>
        <p:spPr>
          <a:xfrm>
            <a:off x="6261100" y="3314254"/>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Y. Shu, D. G. Truhlar, </a:t>
            </a:r>
            <a:r>
              <a:rPr lang="en-US" sz="1200" i="1" dirty="0">
                <a:solidFill>
                  <a:srgbClr val="2E2A36"/>
                </a:solidFill>
                <a:latin typeface="Source Sans 3" pitchFamily="34" charset="0"/>
                <a:ea typeface="Source Sans 3" pitchFamily="34" charset="-122"/>
                <a:cs typeface="Source Sans 3" pitchFamily="34" charset="-120"/>
              </a:rPr>
              <a:t>J. Chem. Theory Comput.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20</a:t>
            </a:r>
            <a:r>
              <a:rPr lang="en-US" sz="1200" dirty="0">
                <a:solidFill>
                  <a:srgbClr val="2E2A36"/>
                </a:solidFill>
                <a:latin typeface="Source Sans 3" pitchFamily="34" charset="0"/>
                <a:ea typeface="Source Sans 3" pitchFamily="34" charset="-122"/>
                <a:cs typeface="Source Sans 3" pitchFamily="34" charset="-120"/>
              </a:rPr>
              <a:t>, 4396 (2024). Curvature-driven Ehrenfest dynamics.</a:t>
            </a:r>
            <a:endParaRPr lang="en-US" sz="1200" dirty="0"/>
          </a:p>
        </p:txBody>
      </p:sp>
      <p:sp>
        <p:nvSpPr>
          <p:cNvPr id="18" name="Text 16"/>
          <p:cNvSpPr/>
          <p:nvPr/>
        </p:nvSpPr>
        <p:spPr>
          <a:xfrm>
            <a:off x="6261100" y="3811042"/>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Y. Shu, Z. Varga, D. Zhang, Q. Meng, A. M. Parameswaran, J.-G. Zhou, D. G. Truhlar, </a:t>
            </a:r>
            <a:r>
              <a:rPr lang="en-US" sz="1200" i="1" dirty="0">
                <a:solidFill>
                  <a:srgbClr val="2E2A36"/>
                </a:solidFill>
                <a:latin typeface="Source Sans 3" pitchFamily="34" charset="0"/>
                <a:ea typeface="Source Sans 3" pitchFamily="34" charset="-122"/>
                <a:cs typeface="Source Sans 3" pitchFamily="34" charset="-120"/>
              </a:rPr>
              <a:t>J. Chem. Theory Comput.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21</a:t>
            </a:r>
            <a:r>
              <a:rPr lang="en-US" sz="1200" dirty="0">
                <a:solidFill>
                  <a:srgbClr val="2E2A36"/>
                </a:solidFill>
                <a:latin typeface="Source Sans 3" pitchFamily="34" charset="0"/>
                <a:ea typeface="Source Sans 3" pitchFamily="34" charset="-122"/>
                <a:cs typeface="Source Sans 3" pitchFamily="34" charset="-120"/>
              </a:rPr>
              <a:t>, 3342 (2025). CDNN.</a:t>
            </a:r>
            <a:endParaRPr lang="en-US" sz="1200" dirty="0"/>
          </a:p>
        </p:txBody>
      </p:sp>
      <p:sp>
        <p:nvSpPr>
          <p:cNvPr id="19" name="Text 17"/>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REFERENCES</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Valence-bond physics and machine-learned potentials</a:t>
            </a:r>
            <a:endParaRPr lang="en-US" sz="2700" dirty="0"/>
          </a:p>
        </p:txBody>
      </p:sp>
      <p:sp>
        <p:nvSpPr>
          <p:cNvPr id="6" name="Text 4"/>
          <p:cNvSpPr/>
          <p:nvPr/>
        </p:nvSpPr>
        <p:spPr>
          <a:xfrm>
            <a:off x="457200" y="1327100"/>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W. Heitler, F. London, </a:t>
            </a:r>
            <a:r>
              <a:rPr lang="en-US" sz="1200" i="1" dirty="0">
                <a:solidFill>
                  <a:srgbClr val="2E2A36"/>
                </a:solidFill>
                <a:latin typeface="Source Sans 3" pitchFamily="34" charset="0"/>
                <a:ea typeface="Source Sans 3" pitchFamily="34" charset="-122"/>
                <a:cs typeface="Source Sans 3" pitchFamily="34" charset="-120"/>
              </a:rPr>
              <a:t>Z.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44</a:t>
            </a:r>
            <a:r>
              <a:rPr lang="en-US" sz="1200" dirty="0">
                <a:solidFill>
                  <a:srgbClr val="2E2A36"/>
                </a:solidFill>
                <a:latin typeface="Source Sans 3" pitchFamily="34" charset="0"/>
                <a:ea typeface="Source Sans 3" pitchFamily="34" charset="-122"/>
                <a:cs typeface="Source Sans 3" pitchFamily="34" charset="-120"/>
              </a:rPr>
              <a:t>, 455 (1927). The H₂ bond.</a:t>
            </a:r>
            <a:endParaRPr lang="en-US" sz="1200" dirty="0"/>
          </a:p>
        </p:txBody>
      </p:sp>
      <p:sp>
        <p:nvSpPr>
          <p:cNvPr id="7" name="Text 5"/>
          <p:cNvSpPr/>
          <p:nvPr/>
        </p:nvSpPr>
        <p:spPr>
          <a:xfrm>
            <a:off x="457200" y="1613595"/>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F. London, </a:t>
            </a:r>
            <a:r>
              <a:rPr lang="en-US" sz="1200" i="1" dirty="0">
                <a:solidFill>
                  <a:srgbClr val="2E2A36"/>
                </a:solidFill>
                <a:latin typeface="Source Sans 3" pitchFamily="34" charset="0"/>
                <a:ea typeface="Source Sans 3" pitchFamily="34" charset="-122"/>
                <a:cs typeface="Source Sans 3" pitchFamily="34" charset="-120"/>
              </a:rPr>
              <a:t>Z. Elektrochem.</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35</a:t>
            </a:r>
            <a:r>
              <a:rPr lang="en-US" sz="1200" dirty="0">
                <a:solidFill>
                  <a:srgbClr val="2E2A36"/>
                </a:solidFill>
                <a:latin typeface="Source Sans 3" pitchFamily="34" charset="0"/>
                <a:ea typeface="Source Sans 3" pitchFamily="34" charset="-122"/>
                <a:cs typeface="Source Sans 3" pitchFamily="34" charset="-120"/>
              </a:rPr>
              <a:t>, 552 (1929). The London equation.</a:t>
            </a:r>
            <a:endParaRPr lang="en-US" sz="1200" dirty="0"/>
          </a:p>
        </p:txBody>
      </p:sp>
      <p:sp>
        <p:nvSpPr>
          <p:cNvPr id="8" name="Text 6"/>
          <p:cNvSpPr/>
          <p:nvPr/>
        </p:nvSpPr>
        <p:spPr>
          <a:xfrm>
            <a:off x="457200" y="1900089"/>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J. von Neumann, E. Wigner, </a:t>
            </a:r>
            <a:r>
              <a:rPr lang="en-US" sz="1200" i="1" dirty="0">
                <a:solidFill>
                  <a:srgbClr val="2E2A36"/>
                </a:solidFill>
                <a:latin typeface="Source Sans 3" pitchFamily="34" charset="0"/>
                <a:ea typeface="Source Sans 3" pitchFamily="34" charset="-122"/>
                <a:cs typeface="Source Sans 3" pitchFamily="34" charset="-120"/>
              </a:rPr>
              <a:t>Phys. Z.</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30</a:t>
            </a:r>
            <a:r>
              <a:rPr lang="en-US" sz="1200" dirty="0">
                <a:solidFill>
                  <a:srgbClr val="2E2A36"/>
                </a:solidFill>
                <a:latin typeface="Source Sans 3" pitchFamily="34" charset="0"/>
                <a:ea typeface="Source Sans 3" pitchFamily="34" charset="-122"/>
                <a:cs typeface="Source Sans 3" pitchFamily="34" charset="-120"/>
              </a:rPr>
              <a:t>, 467 (1929). Noncrossing rule.</a:t>
            </a:r>
            <a:endParaRPr lang="en-US" sz="1200" dirty="0"/>
          </a:p>
        </p:txBody>
      </p:sp>
      <p:sp>
        <p:nvSpPr>
          <p:cNvPr id="9" name="Text 7"/>
          <p:cNvSpPr/>
          <p:nvPr/>
        </p:nvSpPr>
        <p:spPr>
          <a:xfrm>
            <a:off x="457200" y="2186583"/>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H. Eyring, M. Polanyi, </a:t>
            </a:r>
            <a:r>
              <a:rPr lang="en-US" sz="1200" i="1" dirty="0">
                <a:solidFill>
                  <a:srgbClr val="2E2A36"/>
                </a:solidFill>
                <a:latin typeface="Source Sans 3" pitchFamily="34" charset="0"/>
                <a:ea typeface="Source Sans 3" pitchFamily="34" charset="-122"/>
                <a:cs typeface="Source Sans 3" pitchFamily="34" charset="-120"/>
              </a:rPr>
              <a:t>Z. Phys. Chem. B</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12</a:t>
            </a:r>
            <a:r>
              <a:rPr lang="en-US" sz="1200" dirty="0">
                <a:solidFill>
                  <a:srgbClr val="2E2A36"/>
                </a:solidFill>
                <a:latin typeface="Source Sans 3" pitchFamily="34" charset="0"/>
                <a:ea typeface="Source Sans 3" pitchFamily="34" charset="-122"/>
                <a:cs typeface="Source Sans 3" pitchFamily="34" charset="-120"/>
              </a:rPr>
              <a:t>, 279 (1931). First reaction surface.</a:t>
            </a:r>
            <a:endParaRPr lang="en-US" sz="1200" dirty="0"/>
          </a:p>
        </p:txBody>
      </p:sp>
      <p:sp>
        <p:nvSpPr>
          <p:cNvPr id="10" name="Text 8"/>
          <p:cNvSpPr/>
          <p:nvPr/>
        </p:nvSpPr>
        <p:spPr>
          <a:xfrm>
            <a:off x="457200" y="2473077"/>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C. Zener, </a:t>
            </a:r>
            <a:r>
              <a:rPr lang="en-US" sz="1200" i="1" dirty="0">
                <a:solidFill>
                  <a:srgbClr val="2E2A36"/>
                </a:solidFill>
                <a:latin typeface="Source Sans 3" pitchFamily="34" charset="0"/>
                <a:ea typeface="Source Sans 3" pitchFamily="34" charset="-122"/>
                <a:cs typeface="Source Sans 3" pitchFamily="34" charset="-120"/>
              </a:rPr>
              <a:t>Proc. R. Soc. A</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137</a:t>
            </a:r>
            <a:r>
              <a:rPr lang="en-US" sz="1200" dirty="0">
                <a:solidFill>
                  <a:srgbClr val="2E2A36"/>
                </a:solidFill>
                <a:latin typeface="Source Sans 3" pitchFamily="34" charset="0"/>
                <a:ea typeface="Source Sans 3" pitchFamily="34" charset="-122"/>
                <a:cs typeface="Source Sans 3" pitchFamily="34" charset="-120"/>
              </a:rPr>
              <a:t>, 696 (1932). Avoided-crossing transitions.</a:t>
            </a:r>
            <a:endParaRPr lang="en-US" sz="1200" dirty="0"/>
          </a:p>
        </p:txBody>
      </p:sp>
      <p:sp>
        <p:nvSpPr>
          <p:cNvPr id="11" name="Text 9"/>
          <p:cNvSpPr/>
          <p:nvPr/>
        </p:nvSpPr>
        <p:spPr>
          <a:xfrm>
            <a:off x="457200" y="2759571"/>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S. Sato, </a:t>
            </a:r>
            <a:r>
              <a:rPr lang="en-US" sz="1200" i="1" dirty="0">
                <a:solidFill>
                  <a:srgbClr val="2E2A36"/>
                </a:solidFill>
                <a:latin typeface="Source Sans 3" pitchFamily="34" charset="0"/>
                <a:ea typeface="Source Sans 3" pitchFamily="34" charset="-122"/>
                <a:cs typeface="Source Sans 3" pitchFamily="34" charset="-120"/>
              </a:rPr>
              <a:t>J. Chem.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23</a:t>
            </a:r>
            <a:r>
              <a:rPr lang="en-US" sz="1200" dirty="0">
                <a:solidFill>
                  <a:srgbClr val="2E2A36"/>
                </a:solidFill>
                <a:latin typeface="Source Sans 3" pitchFamily="34" charset="0"/>
                <a:ea typeface="Source Sans 3" pitchFamily="34" charset="-122"/>
                <a:cs typeface="Source Sans 3" pitchFamily="34" charset="-120"/>
              </a:rPr>
              <a:t>, 592 (1955). LEPS surfaces.</a:t>
            </a:r>
            <a:endParaRPr lang="en-US" sz="1200" dirty="0"/>
          </a:p>
        </p:txBody>
      </p:sp>
      <p:sp>
        <p:nvSpPr>
          <p:cNvPr id="12" name="Text 10"/>
          <p:cNvSpPr/>
          <p:nvPr/>
        </p:nvSpPr>
        <p:spPr>
          <a:xfrm>
            <a:off x="457200" y="3046065"/>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F. O. Ellison, </a:t>
            </a:r>
            <a:r>
              <a:rPr lang="en-US" sz="1200" i="1" dirty="0">
                <a:solidFill>
                  <a:srgbClr val="2E2A36"/>
                </a:solidFill>
                <a:latin typeface="Source Sans 3" pitchFamily="34" charset="0"/>
                <a:ea typeface="Source Sans 3" pitchFamily="34" charset="-122"/>
                <a:cs typeface="Source Sans 3" pitchFamily="34" charset="-120"/>
              </a:rPr>
              <a:t>J. Am. Chem. Soc.</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85</a:t>
            </a:r>
            <a:r>
              <a:rPr lang="en-US" sz="1200" dirty="0">
                <a:solidFill>
                  <a:srgbClr val="2E2A36"/>
                </a:solidFill>
                <a:latin typeface="Source Sans 3" pitchFamily="34" charset="0"/>
                <a:ea typeface="Source Sans 3" pitchFamily="34" charset="-122"/>
                <a:cs typeface="Source Sans 3" pitchFamily="34" charset="-120"/>
              </a:rPr>
              <a:t>, 3540 (1963). Diatomics in molecules.</a:t>
            </a:r>
            <a:endParaRPr lang="en-US" sz="1200" dirty="0"/>
          </a:p>
        </p:txBody>
      </p:sp>
      <p:sp>
        <p:nvSpPr>
          <p:cNvPr id="13" name="Text 11"/>
          <p:cNvSpPr/>
          <p:nvPr/>
        </p:nvSpPr>
        <p:spPr>
          <a:xfrm>
            <a:off x="457200" y="3332559"/>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A. Warshel, R. M. Weiss, </a:t>
            </a:r>
            <a:r>
              <a:rPr lang="en-US" sz="1200" i="1" dirty="0">
                <a:solidFill>
                  <a:srgbClr val="2E2A36"/>
                </a:solidFill>
                <a:latin typeface="Source Sans 3" pitchFamily="34" charset="0"/>
                <a:ea typeface="Source Sans 3" pitchFamily="34" charset="-122"/>
                <a:cs typeface="Source Sans 3" pitchFamily="34" charset="-120"/>
              </a:rPr>
              <a:t>J. Am. Chem. Soc.</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102</a:t>
            </a:r>
            <a:r>
              <a:rPr lang="en-US" sz="1200" dirty="0">
                <a:solidFill>
                  <a:srgbClr val="2E2A36"/>
                </a:solidFill>
                <a:latin typeface="Source Sans 3" pitchFamily="34" charset="0"/>
                <a:ea typeface="Source Sans 3" pitchFamily="34" charset="-122"/>
                <a:cs typeface="Source Sans 3" pitchFamily="34" charset="-120"/>
              </a:rPr>
              <a:t>, 6218 (1980). Empirical valence bond.</a:t>
            </a:r>
            <a:endParaRPr lang="en-US" sz="1200" dirty="0"/>
          </a:p>
        </p:txBody>
      </p:sp>
      <p:sp>
        <p:nvSpPr>
          <p:cNvPr id="14" name="Text 12"/>
          <p:cNvSpPr/>
          <p:nvPr/>
        </p:nvSpPr>
        <p:spPr>
          <a:xfrm>
            <a:off x="6261100" y="1327100"/>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Z. Yin, B. J. Braams, B. Fu, D. H. Zhang, </a:t>
            </a:r>
            <a:r>
              <a:rPr lang="en-US" sz="1200" i="1" dirty="0">
                <a:solidFill>
                  <a:srgbClr val="2E2A36"/>
                </a:solidFill>
                <a:latin typeface="Source Sans 3" pitchFamily="34" charset="0"/>
                <a:ea typeface="Source Sans 3" pitchFamily="34" charset="-122"/>
                <a:cs typeface="Source Sans 3" pitchFamily="34" charset="-120"/>
              </a:rPr>
              <a:t>J. Chem. Theory Comput.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17</a:t>
            </a:r>
            <a:r>
              <a:rPr lang="en-US" sz="1200" dirty="0">
                <a:solidFill>
                  <a:srgbClr val="2E2A36"/>
                </a:solidFill>
                <a:latin typeface="Source Sans 3" pitchFamily="34" charset="0"/>
                <a:ea typeface="Source Sans 3" pitchFamily="34" charset="-122"/>
                <a:cs typeface="Source Sans 3" pitchFamily="34" charset="-120"/>
              </a:rPr>
              <a:t>, 1678 (2021). VB-based symmetry-adapted networks, H₃⁺.</a:t>
            </a:r>
            <a:endParaRPr lang="en-US" sz="1200" dirty="0"/>
          </a:p>
        </p:txBody>
      </p:sp>
      <p:sp>
        <p:nvSpPr>
          <p:cNvPr id="15" name="Text 13"/>
          <p:cNvSpPr/>
          <p:nvPr/>
        </p:nvSpPr>
        <p:spPr>
          <a:xfrm>
            <a:off x="6261100" y="1823889"/>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A. E. A. Allen, G. Csányi, </a:t>
            </a:r>
            <a:r>
              <a:rPr lang="en-US" sz="1200" i="1" dirty="0">
                <a:solidFill>
                  <a:srgbClr val="2E2A36"/>
                </a:solidFill>
                <a:latin typeface="Source Sans 3" pitchFamily="34" charset="0"/>
                <a:ea typeface="Source Sans 3" pitchFamily="34" charset="-122"/>
                <a:cs typeface="Source Sans 3" pitchFamily="34" charset="-120"/>
              </a:rPr>
              <a:t>J. Chem.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160</a:t>
            </a:r>
            <a:r>
              <a:rPr lang="en-US" sz="1200" dirty="0">
                <a:solidFill>
                  <a:srgbClr val="2E2A36"/>
                </a:solidFill>
                <a:latin typeface="Source Sans 3" pitchFamily="34" charset="0"/>
                <a:ea typeface="Source Sans 3" pitchFamily="34" charset="-122"/>
                <a:cs typeface="Source Sans 3" pitchFamily="34" charset="-120"/>
              </a:rPr>
              <a:t>, 124108 (2024). Transferable EVB.</a:t>
            </a:r>
            <a:endParaRPr lang="en-US" sz="1200" dirty="0"/>
          </a:p>
        </p:txBody>
      </p:sp>
      <p:sp>
        <p:nvSpPr>
          <p:cNvPr id="16" name="Text 14"/>
          <p:cNvSpPr/>
          <p:nvPr/>
        </p:nvSpPr>
        <p:spPr>
          <a:xfrm>
            <a:off x="6261100" y="2110383"/>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Š. Sršeň, O. A. von Lilienfeld, P. Slavíček, </a:t>
            </a:r>
            <a:r>
              <a:rPr lang="en-US" sz="1200" i="1" dirty="0">
                <a:solidFill>
                  <a:srgbClr val="2E2A36"/>
                </a:solidFill>
                <a:latin typeface="Source Sans 3" pitchFamily="34" charset="0"/>
                <a:ea typeface="Source Sans 3" pitchFamily="34" charset="-122"/>
                <a:cs typeface="Source Sans 3" pitchFamily="34" charset="-120"/>
              </a:rPr>
              <a:t>Phys. Chem. Chem.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26</a:t>
            </a:r>
            <a:r>
              <a:rPr lang="en-US" sz="1200" dirty="0">
                <a:solidFill>
                  <a:srgbClr val="2E2A36"/>
                </a:solidFill>
                <a:latin typeface="Source Sans 3" pitchFamily="34" charset="0"/>
                <a:ea typeface="Source Sans 3" pitchFamily="34" charset="-122"/>
                <a:cs typeface="Source Sans 3" pitchFamily="34" charset="-120"/>
              </a:rPr>
              <a:t> (2024), doi 10.1039/D3CP05685F.</a:t>
            </a:r>
            <a:endParaRPr lang="en-US" sz="1200" dirty="0"/>
          </a:p>
        </p:txBody>
      </p:sp>
      <p:sp>
        <p:nvSpPr>
          <p:cNvPr id="17" name="Text 15"/>
          <p:cNvSpPr/>
          <p:nvPr/>
        </p:nvSpPr>
        <p:spPr>
          <a:xfrm>
            <a:off x="6261100" y="2607171"/>
            <a:ext cx="5930900"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J. Behler, M. Parrinello, </a:t>
            </a:r>
            <a:r>
              <a:rPr lang="en-US" sz="1200" i="1" dirty="0">
                <a:solidFill>
                  <a:srgbClr val="2E2A36"/>
                </a:solidFill>
                <a:latin typeface="Source Sans 3" pitchFamily="34" charset="0"/>
                <a:ea typeface="Source Sans 3" pitchFamily="34" charset="-122"/>
                <a:cs typeface="Source Sans 3" pitchFamily="34" charset="-120"/>
              </a:rPr>
              <a:t>Phys. Rev. Lett.</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98</a:t>
            </a:r>
            <a:r>
              <a:rPr lang="en-US" sz="1200" dirty="0">
                <a:solidFill>
                  <a:srgbClr val="2E2A36"/>
                </a:solidFill>
                <a:latin typeface="Source Sans 3" pitchFamily="34" charset="0"/>
                <a:ea typeface="Source Sans 3" pitchFamily="34" charset="-122"/>
                <a:cs typeface="Source Sans 3" pitchFamily="34" charset="-120"/>
              </a:rPr>
              <a:t>, 146401 (2007). Neural-network potentials.</a:t>
            </a:r>
            <a:endParaRPr lang="en-US" sz="1200" dirty="0"/>
          </a:p>
        </p:txBody>
      </p:sp>
      <p:sp>
        <p:nvSpPr>
          <p:cNvPr id="18" name="Text 16"/>
          <p:cNvSpPr/>
          <p:nvPr/>
        </p:nvSpPr>
        <p:spPr>
          <a:xfrm>
            <a:off x="6261100" y="2893665"/>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S. Batzner et al., </a:t>
            </a:r>
            <a:r>
              <a:rPr lang="en-US" sz="1200" i="1" dirty="0">
                <a:solidFill>
                  <a:srgbClr val="2E2A36"/>
                </a:solidFill>
                <a:latin typeface="Source Sans 3" pitchFamily="34" charset="0"/>
                <a:ea typeface="Source Sans 3" pitchFamily="34" charset="-122"/>
                <a:cs typeface="Source Sans 3" pitchFamily="34" charset="-120"/>
              </a:rPr>
              <a:t>Nat. Commun.</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13</a:t>
            </a:r>
            <a:r>
              <a:rPr lang="en-US" sz="1200" dirty="0">
                <a:solidFill>
                  <a:srgbClr val="2E2A36"/>
                </a:solidFill>
                <a:latin typeface="Source Sans 3" pitchFamily="34" charset="0"/>
                <a:ea typeface="Source Sans 3" pitchFamily="34" charset="-122"/>
                <a:cs typeface="Source Sans 3" pitchFamily="34" charset="-120"/>
              </a:rPr>
              <a:t>, 2453 (2022). NequIP. I. Batatia et al., </a:t>
            </a:r>
            <a:r>
              <a:rPr lang="en-US" sz="1200" i="1" dirty="0">
                <a:solidFill>
                  <a:srgbClr val="2E2A36"/>
                </a:solidFill>
                <a:latin typeface="Source Sans 3" pitchFamily="34" charset="0"/>
                <a:ea typeface="Source Sans 3" pitchFamily="34" charset="-122"/>
                <a:cs typeface="Source Sans 3" pitchFamily="34" charset="-120"/>
              </a:rPr>
              <a:t>NeurIPS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35</a:t>
            </a:r>
            <a:r>
              <a:rPr lang="en-US" sz="1200" dirty="0">
                <a:solidFill>
                  <a:srgbClr val="2E2A36"/>
                </a:solidFill>
                <a:latin typeface="Source Sans 3" pitchFamily="34" charset="0"/>
                <a:ea typeface="Source Sans 3" pitchFamily="34" charset="-122"/>
                <a:cs typeface="Source Sans 3" pitchFamily="34" charset="-120"/>
              </a:rPr>
              <a:t> (2022). MACE.</a:t>
            </a:r>
            <a:endParaRPr lang="en-US" sz="1200" dirty="0"/>
          </a:p>
        </p:txBody>
      </p:sp>
      <p:sp>
        <p:nvSpPr>
          <p:cNvPr id="19" name="Text 17"/>
          <p:cNvSpPr/>
          <p:nvPr/>
        </p:nvSpPr>
        <p:spPr>
          <a:xfrm>
            <a:off x="6261100" y="3390454"/>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D. Hendrycks, K. Gimpel, arXiv:1606.08415 (2016). GELU. D. P. Kingma, J. Ba, arXiv:1412.6980 (2014). Adam.</a:t>
            </a:r>
            <a:endParaRPr lang="en-US" sz="1200" dirty="0"/>
          </a:p>
        </p:txBody>
      </p:sp>
      <p:sp>
        <p:nvSpPr>
          <p:cNvPr id="20" name="Text 18"/>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F0"/>
        </a:solidFill>
      </p:bgPr>
    </p:bg>
    <p:spTree>
      <p:nvGrpSpPr>
        <p:cNvPr id="1" name=""/>
        <p:cNvGrpSpPr/>
        <p:nvPr/>
      </p:nvGrpSpPr>
      <p:grpSpPr>
        <a:xfrm>
          <a:off x="0" y="0"/>
          <a:ext cx="0" cy="0"/>
          <a:chOff x="0" y="0"/>
          <a:chExt cx="0" cy="0"/>
        </a:xfrm>
      </p:grpSpPr>
      <p:sp>
        <p:nvSpPr>
          <p:cNvPr id="2" name="Shape 0"/>
          <p:cNvSpPr/>
          <p:nvPr/>
        </p:nvSpPr>
        <p:spPr>
          <a:xfrm>
            <a:off x="0" y="0"/>
            <a:ext cx="12192000" cy="1073100"/>
          </a:xfrm>
          <a:prstGeom prst="rect">
            <a:avLst/>
          </a:prstGeom>
          <a:gradFill rotWithShape="1">
            <a:gsLst>
              <a:gs pos="0">
                <a:srgbClr val="2A1F3D"/>
              </a:gs>
              <a:gs pos="55000">
                <a:srgbClr val="3D2C58"/>
              </a:gs>
              <a:gs pos="100000">
                <a:srgbClr val="4E3A6E"/>
              </a:gs>
            </a:gsLst>
            <a:lin ang="0" scaled="0"/>
          </a:gradFill>
          <a:ln/>
        </p:spPr>
      </p:sp>
      <p:sp>
        <p:nvSpPr>
          <p:cNvPr id="3" name="Shape 1"/>
          <p:cNvSpPr/>
          <p:nvPr/>
        </p:nvSpPr>
        <p:spPr>
          <a:xfrm>
            <a:off x="0" y="1054050"/>
            <a:ext cx="12192000" cy="0"/>
          </a:xfrm>
          <a:prstGeom prst="line">
            <a:avLst/>
          </a:prstGeom>
          <a:noFill/>
          <a:ln w="38100">
            <a:solidFill>
              <a:srgbClr val="C8873A"/>
            </a:solidFill>
            <a:prstDash val="solid"/>
          </a:ln>
        </p:spPr>
      </p:sp>
      <p:sp>
        <p:nvSpPr>
          <p:cNvPr id="4" name="Text 2"/>
          <p:cNvSpPr/>
          <p:nvPr/>
        </p:nvSpPr>
        <p:spPr>
          <a:xfrm>
            <a:off x="457200" y="215900"/>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872"/>
                </a:solidFill>
                <a:latin typeface="Source Sans 3" pitchFamily="34" charset="0"/>
                <a:ea typeface="Source Sans 3" pitchFamily="34" charset="-122"/>
                <a:cs typeface="Source Sans 3" pitchFamily="34" charset="-120"/>
              </a:rPr>
              <a:t>REFERENCES</a:t>
            </a:r>
            <a:endParaRPr lang="en-US" sz="1200" dirty="0"/>
          </a:p>
        </p:txBody>
      </p:sp>
      <p:sp>
        <p:nvSpPr>
          <p:cNvPr id="5" name="Text 3"/>
          <p:cNvSpPr/>
          <p:nvPr>
            <p:ph type="title"/>
          </p:nvPr>
        </p:nvSpPr>
        <p:spPr>
          <a:xfrm>
            <a:off x="457200" y="467320"/>
            <a:ext cx="11615928" cy="402580"/>
          </a:xfrm>
          <a:prstGeom prst="rect">
            <a:avLst/>
          </a:prstGeom>
          <a:noFill/>
          <a:ln/>
        </p:spPr>
        <p:txBody>
          <a:bodyPr wrap="square" lIns="0" tIns="0" rIns="0" bIns="0" rtlCol="0" anchor="t">
            <a:normAutofit/>
          </a:bodyPr>
          <a:lstStyle/>
          <a:p>
            <a:pPr algn="l" indent="0" marL="0">
              <a:lnSpc>
                <a:spcPts val="2970"/>
              </a:lnSpc>
              <a:buNone/>
            </a:pPr>
            <a:r>
              <a:rPr lang="en-US" sz="2700" b="1" i="0" dirty="0">
                <a:solidFill>
                  <a:srgbClr val="FFFFFF"/>
                </a:solidFill>
                <a:latin typeface="Source Serif 4" pitchFamily="18" charset="0"/>
                <a:ea typeface="Source Serif 4" pitchFamily="18" charset="-122"/>
                <a:cs typeface="Source Serif 4" pitchFamily="18" charset="-120"/>
              </a:rPr>
              <a:t>Criegee intermediates, previous work and software</a:t>
            </a:r>
            <a:endParaRPr lang="en-US" sz="2700" dirty="0"/>
          </a:p>
        </p:txBody>
      </p:sp>
      <p:sp>
        <p:nvSpPr>
          <p:cNvPr id="6" name="Text 4"/>
          <p:cNvSpPr/>
          <p:nvPr/>
        </p:nvSpPr>
        <p:spPr>
          <a:xfrm>
            <a:off x="457200" y="1327100"/>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O. Welz et al., </a:t>
            </a:r>
            <a:r>
              <a:rPr lang="en-US" sz="1200" i="1" dirty="0">
                <a:solidFill>
                  <a:srgbClr val="2E2A36"/>
                </a:solidFill>
                <a:latin typeface="Source Sans 3" pitchFamily="34" charset="0"/>
                <a:ea typeface="Source Sans 3" pitchFamily="34" charset="-122"/>
                <a:cs typeface="Source Sans 3" pitchFamily="34" charset="-120"/>
              </a:rPr>
              <a:t>Science</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335</a:t>
            </a:r>
            <a:r>
              <a:rPr lang="en-US" sz="1200" dirty="0">
                <a:solidFill>
                  <a:srgbClr val="2E2A36"/>
                </a:solidFill>
                <a:latin typeface="Source Sans 3" pitchFamily="34" charset="0"/>
                <a:ea typeface="Source Sans 3" pitchFamily="34" charset="-122"/>
                <a:cs typeface="Source Sans 3" pitchFamily="34" charset="-120"/>
              </a:rPr>
              <a:t>, 204 (2012). Direct detection of CH₂OO.</a:t>
            </a:r>
            <a:endParaRPr lang="en-US" sz="1200" dirty="0"/>
          </a:p>
        </p:txBody>
      </p:sp>
      <p:sp>
        <p:nvSpPr>
          <p:cNvPr id="7" name="Text 5"/>
          <p:cNvSpPr/>
          <p:nvPr/>
        </p:nvSpPr>
        <p:spPr>
          <a:xfrm>
            <a:off x="457200" y="1613595"/>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J. M. Beames, F. Liu, L. Lu, M. I. Lester, </a:t>
            </a:r>
            <a:r>
              <a:rPr lang="en-US" sz="1200" i="1" dirty="0">
                <a:solidFill>
                  <a:srgbClr val="2E2A36"/>
                </a:solidFill>
                <a:latin typeface="Source Sans 3" pitchFamily="34" charset="0"/>
                <a:ea typeface="Source Sans 3" pitchFamily="34" charset="-122"/>
                <a:cs typeface="Source Sans 3" pitchFamily="34" charset="-120"/>
              </a:rPr>
              <a:t>J. Am. Chem. Soc.</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134</a:t>
            </a:r>
            <a:r>
              <a:rPr lang="en-US" sz="1200" dirty="0">
                <a:solidFill>
                  <a:srgbClr val="2E2A36"/>
                </a:solidFill>
                <a:latin typeface="Source Sans 3" pitchFamily="34" charset="0"/>
                <a:ea typeface="Source Sans 3" pitchFamily="34" charset="-122"/>
                <a:cs typeface="Source Sans 3" pitchFamily="34" charset="-120"/>
              </a:rPr>
              <a:t>, 20045 (2012). UV spectrum of CH₂OO.</a:t>
            </a:r>
            <a:endParaRPr lang="en-US" sz="1200" dirty="0"/>
          </a:p>
        </p:txBody>
      </p:sp>
      <p:sp>
        <p:nvSpPr>
          <p:cNvPr id="8" name="Text 6"/>
          <p:cNvSpPr/>
          <p:nvPr/>
        </p:nvSpPr>
        <p:spPr>
          <a:xfrm>
            <a:off x="457200" y="2110383"/>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K. Samanta, J. M. Beames, M. I. Lester, J. E. Subotnik, </a:t>
            </a:r>
            <a:r>
              <a:rPr lang="en-US" sz="1200" i="1" dirty="0">
                <a:solidFill>
                  <a:srgbClr val="2E2A36"/>
                </a:solidFill>
                <a:latin typeface="Source Sans 3" pitchFamily="34" charset="0"/>
                <a:ea typeface="Source Sans 3" pitchFamily="34" charset="-122"/>
                <a:cs typeface="Source Sans 3" pitchFamily="34" charset="-120"/>
              </a:rPr>
              <a:t>J. Chem.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141</a:t>
            </a:r>
            <a:r>
              <a:rPr lang="en-US" sz="1200" dirty="0">
                <a:solidFill>
                  <a:srgbClr val="2E2A36"/>
                </a:solidFill>
                <a:latin typeface="Source Sans 3" pitchFamily="34" charset="0"/>
                <a:ea typeface="Source Sans 3" pitchFamily="34" charset="-122"/>
                <a:cs typeface="Source Sans 3" pitchFamily="34" charset="-120"/>
              </a:rPr>
              <a:t>, 134303 (2014). Charge-separation diabatisation.</a:t>
            </a:r>
            <a:endParaRPr lang="en-US" sz="1200" dirty="0"/>
          </a:p>
        </p:txBody>
      </p:sp>
      <p:sp>
        <p:nvSpPr>
          <p:cNvPr id="9" name="Text 7"/>
          <p:cNvSpPr/>
          <p:nvPr/>
        </p:nvSpPr>
        <p:spPr>
          <a:xfrm>
            <a:off x="457200" y="2607171"/>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M. I. Lester, S. J. Klippenstein, </a:t>
            </a:r>
            <a:r>
              <a:rPr lang="en-US" sz="1200" i="1" dirty="0">
                <a:solidFill>
                  <a:srgbClr val="2E2A36"/>
                </a:solidFill>
                <a:latin typeface="Source Sans 3" pitchFamily="34" charset="0"/>
                <a:ea typeface="Source Sans 3" pitchFamily="34" charset="-122"/>
                <a:cs typeface="Source Sans 3" pitchFamily="34" charset="-120"/>
              </a:rPr>
              <a:t>Acc. Chem. Res.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51</a:t>
            </a:r>
            <a:r>
              <a:rPr lang="en-US" sz="1200" dirty="0">
                <a:solidFill>
                  <a:srgbClr val="2E2A36"/>
                </a:solidFill>
                <a:latin typeface="Source Sans 3" pitchFamily="34" charset="0"/>
                <a:ea typeface="Source Sans 3" pitchFamily="34" charset="-122"/>
                <a:cs typeface="Source Sans 3" pitchFamily="34" charset="-120"/>
              </a:rPr>
              <a:t>, 978 (2018). Unimolecular decay of Criegee intermediates.</a:t>
            </a:r>
            <a:endParaRPr lang="en-US" sz="1200" dirty="0"/>
          </a:p>
        </p:txBody>
      </p:sp>
      <p:sp>
        <p:nvSpPr>
          <p:cNvPr id="10" name="Text 8"/>
          <p:cNvSpPr/>
          <p:nvPr/>
        </p:nvSpPr>
        <p:spPr>
          <a:xfrm>
            <a:off x="6261100" y="1327100"/>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T. A. Stephenson, M. I. Lester, </a:t>
            </a:r>
            <a:r>
              <a:rPr lang="en-US" sz="1200" i="1" dirty="0">
                <a:solidFill>
                  <a:srgbClr val="2E2A36"/>
                </a:solidFill>
                <a:latin typeface="Source Sans 3" pitchFamily="34" charset="0"/>
                <a:ea typeface="Source Sans 3" pitchFamily="34" charset="-122"/>
                <a:cs typeface="Source Sans 3" pitchFamily="34" charset="-120"/>
              </a:rPr>
              <a:t>Int. Rev. Phys. Chem.</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39</a:t>
            </a:r>
            <a:r>
              <a:rPr lang="en-US" sz="1200" dirty="0">
                <a:solidFill>
                  <a:srgbClr val="2E2A36"/>
                </a:solidFill>
                <a:latin typeface="Source Sans 3" pitchFamily="34" charset="0"/>
                <a:ea typeface="Source Sans 3" pitchFamily="34" charset="-122"/>
                <a:cs typeface="Source Sans 3" pitchFamily="34" charset="-120"/>
              </a:rPr>
              <a:t>, 1 (2020). Criegee intermediate spectroscopy and dynamics.</a:t>
            </a:r>
            <a:endParaRPr lang="en-US" sz="1200" dirty="0"/>
          </a:p>
        </p:txBody>
      </p:sp>
      <p:sp>
        <p:nvSpPr>
          <p:cNvPr id="11" name="Text 9"/>
          <p:cNvSpPr/>
          <p:nvPr/>
        </p:nvSpPr>
        <p:spPr>
          <a:xfrm>
            <a:off x="6261100" y="1823889"/>
            <a:ext cx="5637911"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C.-A. Chung, Y.-P. Lee, </a:t>
            </a:r>
            <a:r>
              <a:rPr lang="en-US" sz="1200" i="1" dirty="0">
                <a:solidFill>
                  <a:srgbClr val="2E2A36"/>
                </a:solidFill>
                <a:latin typeface="Source Sans 3" pitchFamily="34" charset="0"/>
                <a:ea typeface="Source Sans 3" pitchFamily="34" charset="-122"/>
                <a:cs typeface="Source Sans 3" pitchFamily="34" charset="-120"/>
              </a:rPr>
              <a:t>Commun. Chem.</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4</a:t>
            </a:r>
            <a:r>
              <a:rPr lang="en-US" sz="1200" dirty="0">
                <a:solidFill>
                  <a:srgbClr val="2E2A36"/>
                </a:solidFill>
                <a:latin typeface="Source Sans 3" pitchFamily="34" charset="0"/>
                <a:ea typeface="Source Sans 3" pitchFamily="34" charset="-122"/>
                <a:cs typeface="Source Sans 3" pitchFamily="34" charset="-120"/>
              </a:rPr>
              <a:t>, 8 (2021). Step-scan FTIR of MVKO.</a:t>
            </a:r>
            <a:endParaRPr lang="en-US" sz="1200" dirty="0"/>
          </a:p>
        </p:txBody>
      </p:sp>
      <p:sp>
        <p:nvSpPr>
          <p:cNvPr id="12" name="Text 10"/>
          <p:cNvSpPr/>
          <p:nvPr/>
        </p:nvSpPr>
        <p:spPr>
          <a:xfrm>
            <a:off x="6261100" y="2110383"/>
            <a:ext cx="5637911" cy="445988"/>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B. Simiyu, J. M. Smith, ACS Fall Meeting 2025 (poster). Machine-learned potential energy surfaces for hot Criegee intermediates. </a:t>
            </a:r>
            <a:r>
              <a:rPr lang="en-US" sz="1200" u="sng" dirty="0">
                <a:solidFill>
                  <a:srgbClr val="2E2A36"/>
                </a:solidFill>
                <a:latin typeface="Source Sans 3" pitchFamily="34" charset="0"/>
                <a:ea typeface="Source Sans 3" pitchFamily="34" charset="-122"/>
                <a:cs typeface="Source Sans 3" pitchFamily="34" charset="-120"/>
                <a:hlinkClick r:id="rId1" invalidUrl="" action="" tgtFrame="" tooltip="" history="1" highlightClick="0" endSnd="0">
                  <a:extLst>
                    <a:ext uri="{A12FA001-AC4F-418D-AE19-62706E023703}">
                      <ahyp:hlinkClr xmlns:ahyp="http://schemas.microsoft.com/office/drawing/2018/hyperlinkcolor" val="tx"/>
                    </a:ext>
                  </a:extLst>
                </a:hlinkClick>
              </a:rPr>
              <a:t>laserchemist.github.io/MD_MLPES/talk</a:t>
            </a:r>
            <a:endParaRPr lang="en-US" sz="1200" dirty="0"/>
          </a:p>
        </p:txBody>
      </p:sp>
      <p:sp>
        <p:nvSpPr>
          <p:cNvPr id="13" name="Text 11"/>
          <p:cNvSpPr/>
          <p:nvPr/>
        </p:nvSpPr>
        <p:spPr>
          <a:xfrm>
            <a:off x="6261100" y="2607171"/>
            <a:ext cx="5930900" cy="235694"/>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2E2A36"/>
                </a:solidFill>
                <a:latin typeface="Source Sans 3" pitchFamily="34" charset="0"/>
                <a:ea typeface="Source Sans 3" pitchFamily="34" charset="-122"/>
                <a:cs typeface="Source Sans 3" pitchFamily="34" charset="-120"/>
              </a:rPr>
              <a:t>Q. Sun et al., </a:t>
            </a:r>
            <a:r>
              <a:rPr lang="en-US" sz="1200" i="1" dirty="0">
                <a:solidFill>
                  <a:srgbClr val="2E2A36"/>
                </a:solidFill>
                <a:latin typeface="Source Sans 3" pitchFamily="34" charset="0"/>
                <a:ea typeface="Source Sans 3" pitchFamily="34" charset="-122"/>
                <a:cs typeface="Source Sans 3" pitchFamily="34" charset="-120"/>
              </a:rPr>
              <a:t>J. Chem. Phys.</a:t>
            </a:r>
            <a:r>
              <a:rPr lang="en-US" sz="1200" dirty="0">
                <a:solidFill>
                  <a:srgbClr val="2E2A36"/>
                </a:solidFill>
                <a:latin typeface="Source Sans 3" pitchFamily="34" charset="0"/>
                <a:ea typeface="Source Sans 3" pitchFamily="34" charset="-122"/>
                <a:cs typeface="Source Sans 3" pitchFamily="34" charset="-120"/>
              </a:rPr>
              <a:t> </a:t>
            </a:r>
            <a:r>
              <a:rPr lang="en-US" sz="1200" b="1" dirty="0">
                <a:solidFill>
                  <a:srgbClr val="2E2A36"/>
                </a:solidFill>
                <a:latin typeface="Source Sans 3" pitchFamily="34" charset="0"/>
                <a:ea typeface="Source Sans 3" pitchFamily="34" charset="-122"/>
                <a:cs typeface="Source Sans 3" pitchFamily="34" charset="-120"/>
              </a:rPr>
              <a:t>153</a:t>
            </a:r>
            <a:r>
              <a:rPr lang="en-US" sz="1200" dirty="0">
                <a:solidFill>
                  <a:srgbClr val="2E2A36"/>
                </a:solidFill>
                <a:latin typeface="Source Sans 3" pitchFamily="34" charset="0"/>
                <a:ea typeface="Source Sans 3" pitchFamily="34" charset="-122"/>
                <a:cs typeface="Source Sans 3" pitchFamily="34" charset="-120"/>
              </a:rPr>
              <a:t>, 024109 (2020). PySCF, used for all reference data here.</a:t>
            </a:r>
            <a:endParaRPr lang="en-US" sz="1200" dirty="0"/>
          </a:p>
        </p:txBody>
      </p:sp>
      <p:sp>
        <p:nvSpPr>
          <p:cNvPr id="14" name="Text 12"/>
          <p:cNvSpPr/>
          <p:nvPr/>
        </p:nvSpPr>
        <p:spPr>
          <a:xfrm>
            <a:off x="11049000" y="63906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480"/>
                </a:solidFill>
                <a:latin typeface="Source Sans 3" pitchFamily="34" charset="0"/>
                <a:ea typeface="Source Sans 3" pitchFamily="34" charset="-122"/>
                <a:cs typeface="Source Sans 3" pitchFamily="34" charset="-120"/>
              </a:rPr>
              <a:t>29</a:t>
            </a:r>
            <a:endParaRPr lang="en-US" sz="1200" dirty="0"/>
          </a:p>
        </p:txBody>
      </p:sp>
    </p:spTree>
  </p:cSld>
  <p:clrMapOvr>
    <a:masterClrMapping/>
  </p:clrMapOvr>
</p:sld>
</file>

<file path=ppt/theme/theme1.xml><?xml version="1.0" encoding="utf-8"?>
<a:theme xmlns:a="http://schemas.openxmlformats.org/drawingml/2006/main" name="Bridging the Middle Zone">
  <a:themeElements>
    <a:clrScheme name="Bridging the Middle Zone">
      <a:dk1>
        <a:srgbClr val="2E2A36"/>
      </a:dk1>
      <a:lt1>
        <a:srgbClr val="F6F4F0"/>
      </a:lt1>
      <a:dk2>
        <a:srgbClr val="605D65"/>
      </a:dk2>
      <a:lt2>
        <a:srgbClr val="E2E0DD"/>
      </a:lt2>
      <a:accent1>
        <a:srgbClr val="E9B872"/>
      </a:accent1>
      <a:accent2>
        <a:srgbClr val="3D2C58"/>
      </a:accent2>
      <a:accent3>
        <a:srgbClr val="4E3A6E"/>
      </a:accent3>
      <a:accent4>
        <a:srgbClr val="4A3868"/>
      </a:accent4>
      <a:accent5>
        <a:srgbClr val="9A5F1F"/>
      </a:accent5>
      <a:accent6>
        <a:srgbClr val="1A7F5A"/>
      </a:accent6>
      <a:hlink>
        <a:srgbClr val="0563C1"/>
      </a:hlink>
      <a:folHlink>
        <a:srgbClr val="954F72"/>
      </a:folHlink>
    </a:clrScheme>
    <a:fontScheme name="Bridging the Middle Zone">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Bridging the Middle Zone</dc:title>
  <dc:subject/>
  <dc:creator/>
  <cp:lastModifiedBy/>
  <cp:revision>1</cp:revision>
  <dcterms:created xsi:type="dcterms:W3CDTF">2026-10-19T13:55:12Z</dcterms:created>
  <dcterms:modified xsi:type="dcterms:W3CDTF">2026-10-19T13:55:12Z</dcterms:modified>
</cp:coreProperties>
</file>